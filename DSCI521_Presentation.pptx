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97C103-723E-77E4-0697-13E95EABEEF2}" v="15" dt="2026-03-16T02:58:07.1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4658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Good </a:t>
            </a:r>
            <a:r>
              <a:rPr lang="en-US" err="1"/>
              <a:t>morning</a:t>
            </a:r>
            <a:r>
              <a:rPr lang="en-US"/>
              <a:t> everyone, my name is Ahmed and these are my teammates Sohan and Aadesh and today we will be presenting our project on Credit Card customer churn </a:t>
            </a:r>
            <a:r>
              <a:rPr lang="en-US" err="1"/>
              <a:t>prediciton</a:t>
            </a:r>
            <a:r>
              <a:rPr lang="en-US"/>
              <a:t>. We will be using Exploratory data analysis, statistical analysis, and machine learning to detect at risk customers early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quick overview of the team, I mainly handled the project scoping, data cleaning pipeline, and helped develop some of the EDA visualizations</a:t>
            </a:r>
          </a:p>
          <a:p>
            <a:r>
              <a:rPr lang="en-US"/>
              <a:t>Sohan led the EDA analysis as well as the statistical analysis, and feature importance  and Aadesh handled the predictive modeling, model evaluation, and results interpretation part  of the project.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business problem is </a:t>
            </a:r>
            <a:r>
              <a:rPr lang="en-US" err="1"/>
              <a:t>straightword</a:t>
            </a:r>
            <a:r>
              <a:rPr lang="en-US"/>
              <a:t> but significant. We have 10,000 records or 10,000 customers and we find that 16.1% of them have churned. 16.1 may seem like a small number but in a portfolio with millions of customers that can lead to massive revenue loss. </a:t>
            </a:r>
            <a:r>
              <a:rPr lang="en-US" err="1"/>
              <a:t>So</a:t>
            </a:r>
            <a:r>
              <a:rPr lang="en-US"/>
              <a:t> when a customer decides to close their credit card account, banks don't just lose an account they had with a </a:t>
            </a:r>
            <a:r>
              <a:rPr lang="en-US" err="1"/>
              <a:t>customer</a:t>
            </a:r>
            <a:r>
              <a:rPr lang="en-US"/>
              <a:t> but they lose out on future revenue from that customer. We also know that churners don’t just leave suddenly, they gradually disengage over weeks. </a:t>
            </a:r>
            <a:r>
              <a:rPr lang="en-US" err="1"/>
              <a:t>So</a:t>
            </a:r>
            <a:r>
              <a:rPr lang="en-US"/>
              <a:t> signals like declined transactions, not paying off their full balance, and reduced engagement are all measurable warning signs that appear before a customer closes their account. This project will use machine learning to identify those behavioral red flags early enough so stakeholders can act on it. </a:t>
            </a:r>
          </a:p>
          <a:p>
            <a:r>
              <a:rPr lang="en-US"/>
              <a:t>We have listed three stakeholder groups who could benefit from our project,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now I will go over the dataset that we used. Our dataset comes from </a:t>
            </a:r>
            <a:r>
              <a:rPr lang="en-US" err="1"/>
              <a:t>Kaggle</a:t>
            </a:r>
            <a:r>
              <a:rPr lang="en-US"/>
              <a:t> but it was </a:t>
            </a:r>
            <a:r>
              <a:rPr lang="en-US" err="1"/>
              <a:t>orginally</a:t>
            </a:r>
            <a:r>
              <a:rPr lang="en-US"/>
              <a:t> sourced from anlyttica.com. It contains 10,127 customer records and 20 features. We can break these features into four groups. Behavioral features which include </a:t>
            </a:r>
            <a:r>
              <a:rPr lang="en-US" err="1"/>
              <a:t>transcation</a:t>
            </a:r>
            <a:r>
              <a:rPr lang="en-US"/>
              <a:t> count, </a:t>
            </a:r>
            <a:r>
              <a:rPr lang="en-US" err="1"/>
              <a:t>trasnscation</a:t>
            </a:r>
            <a:r>
              <a:rPr lang="en-US"/>
              <a:t> activity change, revolving balance, credit </a:t>
            </a:r>
            <a:r>
              <a:rPr lang="en-US" err="1"/>
              <a:t>utiliztion</a:t>
            </a:r>
            <a:r>
              <a:rPr lang="en-US"/>
              <a:t>, , these turned out to be the strongest predictors. </a:t>
            </a:r>
          </a:p>
          <a:p>
            <a:r>
              <a:rPr lang="en-US"/>
              <a:t>we also have engagement features such as customer contracts, months inactive, and number of products which shares how the customer interacted with the bank. We have financial features with just credit limit. </a:t>
            </a:r>
            <a:r>
              <a:rPr lang="en-US" err="1"/>
              <a:t>Orginally</a:t>
            </a:r>
            <a:r>
              <a:rPr lang="en-US"/>
              <a:t> we also had available credit as a </a:t>
            </a:r>
            <a:r>
              <a:rPr lang="en-US" err="1"/>
              <a:t>feature</a:t>
            </a:r>
            <a:r>
              <a:rPr lang="en-US"/>
              <a:t> but it was nearly perfectly correlated so we excluded it from the analysis, otherwise it would have </a:t>
            </a:r>
            <a:r>
              <a:rPr lang="en-US" err="1"/>
              <a:t>introduc</a:t>
            </a:r>
            <a:r>
              <a:rPr lang="en-US"/>
              <a:t>ed </a:t>
            </a:r>
            <a:r>
              <a:rPr lang="en-US" err="1"/>
              <a:t>reduned</a:t>
            </a:r>
            <a:r>
              <a:rPr lang="en-US"/>
              <a:t> redundancy into the model. </a:t>
            </a:r>
          </a:p>
          <a:p>
            <a:r>
              <a:rPr lang="en-US"/>
              <a:t>And </a:t>
            </a:r>
            <a:r>
              <a:rPr lang="en-US" err="1"/>
              <a:t>lastly</a:t>
            </a:r>
            <a:r>
              <a:rPr lang="en-US"/>
              <a:t> we have demographic features such as age, tenure, and dependent count. These turned out to be largely </a:t>
            </a:r>
            <a:r>
              <a:rPr lang="en-US" err="1"/>
              <a:t>irrelavant</a:t>
            </a:r>
            <a:r>
              <a:rPr lang="en-US"/>
              <a:t> or </a:t>
            </a:r>
            <a:r>
              <a:rPr lang="en-US" err="1"/>
              <a:t>statisically</a:t>
            </a:r>
            <a:r>
              <a:rPr lang="en-US"/>
              <a:t> </a:t>
            </a:r>
            <a:r>
              <a:rPr lang="en-US" err="1"/>
              <a:t>insignifcant</a:t>
            </a:r>
            <a:r>
              <a:rPr lang="en-US"/>
              <a:t>. And now Sohan will go into more detail about these features as well as the EDA approach that we used.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D"/>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472C4"/>
          </a:solidFill>
          <a:ln w="12700">
            <a:solidFill>
              <a:srgbClr val="4472C4"/>
            </a:solidFill>
            <a:prstDash val="solid"/>
          </a:ln>
        </p:spPr>
        <p:txBody>
          <a:bodyPr/>
          <a:lstStyle/>
          <a:p>
            <a:endParaRPr lang="en-US"/>
          </a:p>
        </p:txBody>
      </p:sp>
      <p:sp>
        <p:nvSpPr>
          <p:cNvPr id="3" name="Shape 1"/>
          <p:cNvSpPr/>
          <p:nvPr/>
        </p:nvSpPr>
        <p:spPr>
          <a:xfrm>
            <a:off x="6858000" y="-731520"/>
            <a:ext cx="3474720" cy="3474720"/>
          </a:xfrm>
          <a:prstGeom prst="ellipse">
            <a:avLst/>
          </a:prstGeom>
          <a:solidFill>
            <a:srgbClr val="1A3356"/>
          </a:solidFill>
          <a:ln w="12700">
            <a:solidFill>
              <a:srgbClr val="1A3356"/>
            </a:solidFill>
            <a:prstDash val="solid"/>
          </a:ln>
        </p:spPr>
        <p:txBody>
          <a:bodyPr/>
          <a:lstStyle/>
          <a:p>
            <a:endParaRPr lang="en-US"/>
          </a:p>
        </p:txBody>
      </p:sp>
      <p:sp>
        <p:nvSpPr>
          <p:cNvPr id="4" name="Shape 2"/>
          <p:cNvSpPr/>
          <p:nvPr/>
        </p:nvSpPr>
        <p:spPr>
          <a:xfrm>
            <a:off x="7315200" y="-274320"/>
            <a:ext cx="2377440" cy="2377440"/>
          </a:xfrm>
          <a:prstGeom prst="ellipse">
            <a:avLst/>
          </a:prstGeom>
          <a:solidFill>
            <a:srgbClr val="4472C4">
              <a:alpha val="22000"/>
            </a:srgbClr>
          </a:solidFill>
          <a:ln w="12700">
            <a:solidFill>
              <a:srgbClr val="4472C4">
                <a:alpha val="22000"/>
              </a:srgbClr>
            </a:solidFill>
            <a:prstDash val="solid"/>
          </a:ln>
        </p:spPr>
        <p:txBody>
          <a:bodyPr/>
          <a:lstStyle/>
          <a:p>
            <a:endParaRPr lang="en-US"/>
          </a:p>
        </p:txBody>
      </p:sp>
      <p:sp>
        <p:nvSpPr>
          <p:cNvPr id="5" name="Text 3"/>
          <p:cNvSpPr/>
          <p:nvPr/>
        </p:nvSpPr>
        <p:spPr>
          <a:xfrm>
            <a:off x="411480" y="256032"/>
            <a:ext cx="8229600" cy="347472"/>
          </a:xfrm>
          <a:prstGeom prst="rect">
            <a:avLst/>
          </a:prstGeom>
          <a:noFill/>
          <a:ln/>
        </p:spPr>
        <p:txBody>
          <a:bodyPr wrap="square" lIns="0" tIns="0" rIns="0" bIns="0" rtlCol="0" anchor="ctr"/>
          <a:lstStyle/>
          <a:p>
            <a:pPr marL="0" indent="0">
              <a:buNone/>
            </a:pPr>
            <a:r>
              <a:rPr lang="en-US" sz="1100">
                <a:solidFill>
                  <a:srgbClr val="7BA7D4"/>
                </a:solidFill>
                <a:latin typeface="Calibri" pitchFamily="34" charset="0"/>
                <a:ea typeface="Calibri" pitchFamily="34" charset="-122"/>
                <a:cs typeface="Calibri" pitchFamily="34" charset="-120"/>
              </a:rPr>
              <a:t>DSCI 521 — Data Analysis and Interpretation</a:t>
            </a:r>
            <a:endParaRPr lang="en-US" sz="1100"/>
          </a:p>
        </p:txBody>
      </p:sp>
      <p:sp>
        <p:nvSpPr>
          <p:cNvPr id="6" name="Text 4"/>
          <p:cNvSpPr/>
          <p:nvPr/>
        </p:nvSpPr>
        <p:spPr>
          <a:xfrm>
            <a:off x="411480" y="713232"/>
            <a:ext cx="8321040" cy="2011680"/>
          </a:xfrm>
          <a:prstGeom prst="rect">
            <a:avLst/>
          </a:prstGeom>
          <a:noFill/>
          <a:ln/>
        </p:spPr>
        <p:txBody>
          <a:bodyPr wrap="square" lIns="0" tIns="0" rIns="0" bIns="0" rtlCol="0" anchor="ctr"/>
          <a:lstStyle/>
          <a:p>
            <a:pPr marL="0" indent="0">
              <a:buNone/>
            </a:pPr>
            <a:r>
              <a:rPr lang="en-US" sz="3800" b="1">
                <a:solidFill>
                  <a:srgbClr val="FFFFFF"/>
                </a:solidFill>
                <a:latin typeface="Calibri" pitchFamily="34" charset="0"/>
                <a:ea typeface="Calibri" pitchFamily="34" charset="-122"/>
                <a:cs typeface="Calibri" pitchFamily="34" charset="-120"/>
              </a:rPr>
              <a:t>Credit Card Customer</a:t>
            </a:r>
            <a:endParaRPr lang="en-US" sz="3800"/>
          </a:p>
          <a:p>
            <a:pPr marL="0" indent="0">
              <a:buNone/>
            </a:pPr>
            <a:r>
              <a:rPr lang="en-US" sz="3800" b="1">
                <a:solidFill>
                  <a:srgbClr val="FFFFFF"/>
                </a:solidFill>
                <a:latin typeface="Calibri" pitchFamily="34" charset="0"/>
                <a:ea typeface="Calibri" pitchFamily="34" charset="-122"/>
                <a:cs typeface="Calibri" pitchFamily="34" charset="-120"/>
              </a:rPr>
              <a:t>Churn Prediction</a:t>
            </a:r>
            <a:endParaRPr lang="en-US" sz="3800"/>
          </a:p>
        </p:txBody>
      </p:sp>
      <p:sp>
        <p:nvSpPr>
          <p:cNvPr id="7" name="Text 5"/>
          <p:cNvSpPr/>
          <p:nvPr/>
        </p:nvSpPr>
        <p:spPr>
          <a:xfrm>
            <a:off x="411480" y="2834640"/>
            <a:ext cx="7772400" cy="502920"/>
          </a:xfrm>
          <a:prstGeom prst="rect">
            <a:avLst/>
          </a:prstGeom>
          <a:noFill/>
          <a:ln/>
        </p:spPr>
        <p:txBody>
          <a:bodyPr wrap="square" lIns="0" tIns="0" rIns="0" bIns="0" rtlCol="0" anchor="ctr"/>
          <a:lstStyle/>
          <a:p>
            <a:pPr marL="0" indent="0">
              <a:buNone/>
            </a:pPr>
            <a:r>
              <a:rPr lang="en-US" sz="1300" i="1">
                <a:solidFill>
                  <a:srgbClr val="E2E8F0"/>
                </a:solidFill>
                <a:latin typeface="Calibri" pitchFamily="34" charset="0"/>
                <a:ea typeface="Calibri" pitchFamily="34" charset="-122"/>
                <a:cs typeface="Calibri" pitchFamily="34" charset="-120"/>
              </a:rPr>
              <a:t>Using EDA, Statistical Analysis &amp; Machine Learning to Detect At-Risk Customers Early</a:t>
            </a:r>
            <a:endParaRPr lang="en-US" sz="1300"/>
          </a:p>
        </p:txBody>
      </p:sp>
      <p:sp>
        <p:nvSpPr>
          <p:cNvPr id="8" name="Shape 6"/>
          <p:cNvSpPr/>
          <p:nvPr/>
        </p:nvSpPr>
        <p:spPr>
          <a:xfrm>
            <a:off x="0" y="4480560"/>
            <a:ext cx="9144000" cy="662940"/>
          </a:xfrm>
          <a:prstGeom prst="rect">
            <a:avLst/>
          </a:prstGeom>
          <a:solidFill>
            <a:srgbClr val="1A3356"/>
          </a:solidFill>
          <a:ln w="12700">
            <a:solidFill>
              <a:srgbClr val="1A3356"/>
            </a:solidFill>
            <a:prstDash val="solid"/>
          </a:ln>
        </p:spPr>
        <p:txBody>
          <a:bodyPr/>
          <a:lstStyle/>
          <a:p>
            <a:endParaRPr lang="en-US"/>
          </a:p>
        </p:txBody>
      </p:sp>
      <p:sp>
        <p:nvSpPr>
          <p:cNvPr id="9" name="Text 7"/>
          <p:cNvSpPr/>
          <p:nvPr/>
        </p:nvSpPr>
        <p:spPr>
          <a:xfrm>
            <a:off x="411480" y="4526280"/>
            <a:ext cx="8321040" cy="457200"/>
          </a:xfrm>
          <a:prstGeom prst="rect">
            <a:avLst/>
          </a:prstGeom>
          <a:noFill/>
          <a:ln/>
        </p:spPr>
        <p:txBody>
          <a:bodyPr wrap="square" lIns="0" tIns="0" rIns="0" bIns="0" rtlCol="0" anchor="ctr"/>
          <a:lstStyle/>
          <a:p>
            <a:pPr marL="0" indent="0">
              <a:buNone/>
            </a:pPr>
            <a:r>
              <a:rPr lang="en-US" sz="1100">
                <a:solidFill>
                  <a:srgbClr val="94A3B8"/>
                </a:solidFill>
                <a:latin typeface="Calibri" pitchFamily="34" charset="0"/>
                <a:ea typeface="Calibri" pitchFamily="34" charset="-122"/>
                <a:cs typeface="Calibri" pitchFamily="34" charset="-120"/>
              </a:rPr>
              <a:t>Ahmed Syed  |  Aadesh Kalbhor  |  Sohan Miryalkar  |  Drexel University  |  Winter 2026</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F1F3D"/>
          </a:solidFill>
          <a:ln w="12700">
            <a:solidFill>
              <a:srgbClr val="0F1F3D"/>
            </a:solidFill>
            <a:prstDash val="solid"/>
          </a:ln>
        </p:spPr>
        <p:txBody>
          <a:bodyPr/>
          <a:lstStyle/>
          <a:p>
            <a:endParaRPr lang="en-US"/>
          </a:p>
        </p:txBody>
      </p:sp>
      <p:sp>
        <p:nvSpPr>
          <p:cNvPr id="3" name="Text 1"/>
          <p:cNvSpPr/>
          <p:nvPr/>
        </p:nvSpPr>
        <p:spPr>
          <a:xfrm>
            <a:off x="411480" y="91440"/>
            <a:ext cx="8229600" cy="54864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Team Members &amp; Contributions</a:t>
            </a:r>
            <a:endParaRPr lang="en-US" sz="2200"/>
          </a:p>
        </p:txBody>
      </p:sp>
      <p:sp>
        <p:nvSpPr>
          <p:cNvPr id="4" name="Shape 2"/>
          <p:cNvSpPr/>
          <p:nvPr/>
        </p:nvSpPr>
        <p:spPr>
          <a:xfrm>
            <a:off x="320040" y="914400"/>
            <a:ext cx="8503920" cy="12344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320040" y="914400"/>
            <a:ext cx="109728" cy="1234440"/>
          </a:xfrm>
          <a:prstGeom prst="rect">
            <a:avLst/>
          </a:prstGeom>
          <a:solidFill>
            <a:srgbClr val="4472C4"/>
          </a:solidFill>
          <a:ln w="12700">
            <a:solidFill>
              <a:srgbClr val="4472C4"/>
            </a:solidFill>
            <a:prstDash val="solid"/>
          </a:ln>
        </p:spPr>
        <p:txBody>
          <a:bodyPr/>
          <a:lstStyle/>
          <a:p>
            <a:endParaRPr lang="en-US"/>
          </a:p>
        </p:txBody>
      </p:sp>
      <p:sp>
        <p:nvSpPr>
          <p:cNvPr id="6" name="Shape 4"/>
          <p:cNvSpPr/>
          <p:nvPr/>
        </p:nvSpPr>
        <p:spPr>
          <a:xfrm>
            <a:off x="530352" y="1078992"/>
            <a:ext cx="822960" cy="822960"/>
          </a:xfrm>
          <a:prstGeom prst="ellipse">
            <a:avLst/>
          </a:prstGeom>
          <a:solidFill>
            <a:srgbClr val="0F1F3D"/>
          </a:solidFill>
          <a:ln w="12700">
            <a:solidFill>
              <a:srgbClr val="0F1F3D"/>
            </a:solidFill>
            <a:prstDash val="solid"/>
          </a:ln>
        </p:spPr>
        <p:txBody>
          <a:bodyPr/>
          <a:lstStyle/>
          <a:p>
            <a:endParaRPr lang="en-US"/>
          </a:p>
        </p:txBody>
      </p:sp>
      <p:sp>
        <p:nvSpPr>
          <p:cNvPr id="7" name="Text 5"/>
          <p:cNvSpPr/>
          <p:nvPr/>
        </p:nvSpPr>
        <p:spPr>
          <a:xfrm>
            <a:off x="530352" y="1078992"/>
            <a:ext cx="822960" cy="822960"/>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AS</a:t>
            </a:r>
            <a:endParaRPr lang="en-US" sz="1800"/>
          </a:p>
        </p:txBody>
      </p:sp>
      <p:sp>
        <p:nvSpPr>
          <p:cNvPr id="8" name="Text 6"/>
          <p:cNvSpPr/>
          <p:nvPr/>
        </p:nvSpPr>
        <p:spPr>
          <a:xfrm>
            <a:off x="1481328" y="1005840"/>
            <a:ext cx="7132320" cy="320040"/>
          </a:xfrm>
          <a:prstGeom prst="rect">
            <a:avLst/>
          </a:prstGeom>
          <a:noFill/>
          <a:ln/>
        </p:spPr>
        <p:txBody>
          <a:bodyPr wrap="square" lIns="0" tIns="0" rIns="0" bIns="0" rtlCol="0" anchor="ctr"/>
          <a:lstStyle/>
          <a:p>
            <a:pPr marL="0" indent="0">
              <a:buNone/>
            </a:pPr>
            <a:r>
              <a:rPr lang="en-US" sz="1400" b="1">
                <a:solidFill>
                  <a:srgbClr val="1E293B"/>
                </a:solidFill>
                <a:latin typeface="Calibri" pitchFamily="34" charset="0"/>
                <a:ea typeface="Calibri" pitchFamily="34" charset="-122"/>
                <a:cs typeface="Calibri" pitchFamily="34" charset="-120"/>
              </a:rPr>
              <a:t>Ahmed Syed</a:t>
            </a:r>
            <a:endParaRPr lang="en-US" sz="1400"/>
          </a:p>
        </p:txBody>
      </p:sp>
      <p:sp>
        <p:nvSpPr>
          <p:cNvPr id="9" name="Text 7"/>
          <p:cNvSpPr/>
          <p:nvPr/>
        </p:nvSpPr>
        <p:spPr>
          <a:xfrm>
            <a:off x="1481328" y="1325880"/>
            <a:ext cx="7132320" cy="256032"/>
          </a:xfrm>
          <a:prstGeom prst="rect">
            <a:avLst/>
          </a:prstGeom>
          <a:noFill/>
          <a:ln/>
        </p:spPr>
        <p:txBody>
          <a:bodyPr wrap="square" lIns="0" tIns="0" rIns="0" bIns="0" rtlCol="0" anchor="ctr"/>
          <a:lstStyle/>
          <a:p>
            <a:pPr marL="0" indent="0">
              <a:buNone/>
            </a:pPr>
            <a:r>
              <a:rPr lang="en-US" sz="1000" i="1">
                <a:solidFill>
                  <a:srgbClr val="4472C4"/>
                </a:solidFill>
                <a:latin typeface="Calibri" pitchFamily="34" charset="0"/>
                <a:ea typeface="Calibri" pitchFamily="34" charset="-122"/>
                <a:cs typeface="Calibri" pitchFamily="34" charset="-120"/>
              </a:rPr>
              <a:t>as6387@drexel.edu  |  Data Analysis · Data Visualization · EDA</a:t>
            </a:r>
            <a:endParaRPr lang="en-US" sz="1000"/>
          </a:p>
        </p:txBody>
      </p:sp>
      <p:sp>
        <p:nvSpPr>
          <p:cNvPr id="10" name="Text 8"/>
          <p:cNvSpPr/>
          <p:nvPr/>
        </p:nvSpPr>
        <p:spPr>
          <a:xfrm>
            <a:off x="1481328" y="1600200"/>
            <a:ext cx="7132320" cy="411480"/>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Contributions: Data cleaning pipeline, EDA visualizations, segment analysis</a:t>
            </a:r>
            <a:endParaRPr lang="en-US" sz="1050"/>
          </a:p>
        </p:txBody>
      </p:sp>
      <p:sp>
        <p:nvSpPr>
          <p:cNvPr id="11" name="Shape 9"/>
          <p:cNvSpPr/>
          <p:nvPr/>
        </p:nvSpPr>
        <p:spPr>
          <a:xfrm>
            <a:off x="320040" y="2286000"/>
            <a:ext cx="8503920" cy="12344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10"/>
          <p:cNvSpPr/>
          <p:nvPr/>
        </p:nvSpPr>
        <p:spPr>
          <a:xfrm>
            <a:off x="320040" y="2286000"/>
            <a:ext cx="109728" cy="1234440"/>
          </a:xfrm>
          <a:prstGeom prst="rect">
            <a:avLst/>
          </a:prstGeom>
          <a:solidFill>
            <a:srgbClr val="4472C4"/>
          </a:solidFill>
          <a:ln w="12700">
            <a:solidFill>
              <a:srgbClr val="4472C4"/>
            </a:solidFill>
            <a:prstDash val="solid"/>
          </a:ln>
        </p:spPr>
        <p:txBody>
          <a:bodyPr/>
          <a:lstStyle/>
          <a:p>
            <a:endParaRPr lang="en-US"/>
          </a:p>
        </p:txBody>
      </p:sp>
      <p:sp>
        <p:nvSpPr>
          <p:cNvPr id="13" name="Shape 11"/>
          <p:cNvSpPr/>
          <p:nvPr/>
        </p:nvSpPr>
        <p:spPr>
          <a:xfrm>
            <a:off x="530352" y="2450592"/>
            <a:ext cx="822960" cy="822960"/>
          </a:xfrm>
          <a:prstGeom prst="ellipse">
            <a:avLst/>
          </a:prstGeom>
          <a:solidFill>
            <a:srgbClr val="0F1F3D"/>
          </a:solidFill>
          <a:ln w="12700">
            <a:solidFill>
              <a:srgbClr val="0F1F3D"/>
            </a:solidFill>
            <a:prstDash val="solid"/>
          </a:ln>
        </p:spPr>
        <p:txBody>
          <a:bodyPr/>
          <a:lstStyle/>
          <a:p>
            <a:endParaRPr lang="en-US"/>
          </a:p>
        </p:txBody>
      </p:sp>
      <p:sp>
        <p:nvSpPr>
          <p:cNvPr id="14" name="Text 12"/>
          <p:cNvSpPr/>
          <p:nvPr/>
        </p:nvSpPr>
        <p:spPr>
          <a:xfrm>
            <a:off x="530352" y="2450592"/>
            <a:ext cx="822960" cy="822960"/>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AK</a:t>
            </a:r>
            <a:endParaRPr lang="en-US" sz="1800"/>
          </a:p>
        </p:txBody>
      </p:sp>
      <p:sp>
        <p:nvSpPr>
          <p:cNvPr id="15" name="Text 13"/>
          <p:cNvSpPr/>
          <p:nvPr/>
        </p:nvSpPr>
        <p:spPr>
          <a:xfrm>
            <a:off x="1481328" y="2377440"/>
            <a:ext cx="7132320" cy="320040"/>
          </a:xfrm>
          <a:prstGeom prst="rect">
            <a:avLst/>
          </a:prstGeom>
          <a:noFill/>
          <a:ln/>
        </p:spPr>
        <p:txBody>
          <a:bodyPr wrap="square" lIns="0" tIns="0" rIns="0" bIns="0" rtlCol="0" anchor="ctr"/>
          <a:lstStyle/>
          <a:p>
            <a:pPr marL="0" indent="0">
              <a:buNone/>
            </a:pPr>
            <a:r>
              <a:rPr lang="en-US" sz="1400" b="1">
                <a:solidFill>
                  <a:srgbClr val="1E293B"/>
                </a:solidFill>
                <a:latin typeface="Calibri" pitchFamily="34" charset="0"/>
                <a:ea typeface="Calibri" pitchFamily="34" charset="-122"/>
                <a:cs typeface="Calibri" pitchFamily="34" charset="-120"/>
              </a:rPr>
              <a:t>Sohan </a:t>
            </a:r>
            <a:r>
              <a:rPr lang="en-US" sz="1400" b="1" err="1">
                <a:solidFill>
                  <a:srgbClr val="1E293B"/>
                </a:solidFill>
                <a:latin typeface="Calibri" pitchFamily="34" charset="0"/>
                <a:ea typeface="Calibri" pitchFamily="34" charset="-122"/>
                <a:cs typeface="Calibri" pitchFamily="34" charset="-120"/>
              </a:rPr>
              <a:t>Miryalkar</a:t>
            </a:r>
            <a:endParaRPr lang="en-US" sz="1400"/>
          </a:p>
        </p:txBody>
      </p:sp>
      <p:sp>
        <p:nvSpPr>
          <p:cNvPr id="16" name="Text 14"/>
          <p:cNvSpPr/>
          <p:nvPr/>
        </p:nvSpPr>
        <p:spPr>
          <a:xfrm>
            <a:off x="1481328" y="2697480"/>
            <a:ext cx="7132320" cy="256032"/>
          </a:xfrm>
          <a:prstGeom prst="rect">
            <a:avLst/>
          </a:prstGeom>
          <a:noFill/>
          <a:ln/>
        </p:spPr>
        <p:txBody>
          <a:bodyPr wrap="square" lIns="0" tIns="0" rIns="0" bIns="0" rtlCol="0" anchor="ctr"/>
          <a:lstStyle/>
          <a:p>
            <a:r>
              <a:rPr lang="en-US" sz="1000" i="1">
                <a:solidFill>
                  <a:srgbClr val="4472C4"/>
                </a:solidFill>
                <a:latin typeface="Calibri" pitchFamily="34" charset="0"/>
                <a:ea typeface="Calibri" pitchFamily="34" charset="-122"/>
                <a:cs typeface="Calibri" pitchFamily="34" charset="-120"/>
              </a:rPr>
              <a:t>sm5243@drexel.edu |  Data Analysis · Programming · Statistical Analysis</a:t>
            </a:r>
            <a:endParaRPr lang="en-US" sz="1000"/>
          </a:p>
        </p:txBody>
      </p:sp>
      <p:sp>
        <p:nvSpPr>
          <p:cNvPr id="17" name="Text 15"/>
          <p:cNvSpPr/>
          <p:nvPr/>
        </p:nvSpPr>
        <p:spPr>
          <a:xfrm>
            <a:off x="1481328" y="2971800"/>
            <a:ext cx="7132320" cy="411480"/>
          </a:xfrm>
          <a:prstGeom prst="rect">
            <a:avLst/>
          </a:prstGeom>
          <a:noFill/>
          <a:ln/>
        </p:spPr>
        <p:txBody>
          <a:bodyPr wrap="square" lIns="0" tIns="0" rIns="0" bIns="0" rtlCol="0" anchor="ctr"/>
          <a:lstStyle/>
          <a:p>
            <a:r>
              <a:rPr lang="en-US" sz="1050">
                <a:solidFill>
                  <a:srgbClr val="334155"/>
                </a:solidFill>
                <a:latin typeface="Calibri"/>
                <a:ea typeface="Calibri"/>
                <a:cs typeface="Calibri"/>
              </a:rPr>
              <a:t>Contributions: Statistical analysis, EDA, feature importance</a:t>
            </a:r>
            <a:endParaRPr lang="en-US" sz="1050"/>
          </a:p>
        </p:txBody>
      </p:sp>
      <p:sp>
        <p:nvSpPr>
          <p:cNvPr id="18" name="Shape 16"/>
          <p:cNvSpPr/>
          <p:nvPr/>
        </p:nvSpPr>
        <p:spPr>
          <a:xfrm>
            <a:off x="320040" y="3657600"/>
            <a:ext cx="8503920" cy="12344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17"/>
          <p:cNvSpPr/>
          <p:nvPr/>
        </p:nvSpPr>
        <p:spPr>
          <a:xfrm>
            <a:off x="320040" y="3657600"/>
            <a:ext cx="109728" cy="1234440"/>
          </a:xfrm>
          <a:prstGeom prst="rect">
            <a:avLst/>
          </a:prstGeom>
          <a:solidFill>
            <a:srgbClr val="4472C4"/>
          </a:solidFill>
          <a:ln w="12700">
            <a:solidFill>
              <a:srgbClr val="4472C4"/>
            </a:solidFill>
            <a:prstDash val="solid"/>
          </a:ln>
        </p:spPr>
        <p:txBody>
          <a:bodyPr/>
          <a:lstStyle/>
          <a:p>
            <a:endParaRPr lang="en-US"/>
          </a:p>
        </p:txBody>
      </p:sp>
      <p:sp>
        <p:nvSpPr>
          <p:cNvPr id="20" name="Shape 18"/>
          <p:cNvSpPr/>
          <p:nvPr/>
        </p:nvSpPr>
        <p:spPr>
          <a:xfrm>
            <a:off x="530352" y="3822192"/>
            <a:ext cx="822960" cy="822960"/>
          </a:xfrm>
          <a:prstGeom prst="ellipse">
            <a:avLst/>
          </a:prstGeom>
          <a:solidFill>
            <a:srgbClr val="0F1F3D"/>
          </a:solidFill>
          <a:ln w="12700">
            <a:solidFill>
              <a:srgbClr val="0F1F3D"/>
            </a:solidFill>
            <a:prstDash val="solid"/>
          </a:ln>
        </p:spPr>
        <p:txBody>
          <a:bodyPr/>
          <a:lstStyle/>
          <a:p>
            <a:endParaRPr lang="en-US"/>
          </a:p>
        </p:txBody>
      </p:sp>
      <p:sp>
        <p:nvSpPr>
          <p:cNvPr id="21" name="Text 19"/>
          <p:cNvSpPr/>
          <p:nvPr/>
        </p:nvSpPr>
        <p:spPr>
          <a:xfrm>
            <a:off x="530352" y="3822192"/>
            <a:ext cx="822960" cy="822960"/>
          </a:xfrm>
          <a:prstGeom prst="rect">
            <a:avLst/>
          </a:prstGeom>
          <a:noFill/>
          <a:ln/>
        </p:spPr>
        <p:txBody>
          <a:bodyPr wrap="square" lIns="0" tIns="0" rIns="0" bIns="0"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SM</a:t>
            </a:r>
            <a:endParaRPr lang="en-US" sz="1800"/>
          </a:p>
        </p:txBody>
      </p:sp>
      <p:sp>
        <p:nvSpPr>
          <p:cNvPr id="22" name="Text 20"/>
          <p:cNvSpPr/>
          <p:nvPr/>
        </p:nvSpPr>
        <p:spPr>
          <a:xfrm>
            <a:off x="1481328" y="3749040"/>
            <a:ext cx="7132320" cy="320040"/>
          </a:xfrm>
          <a:prstGeom prst="rect">
            <a:avLst/>
          </a:prstGeom>
          <a:noFill/>
          <a:ln/>
        </p:spPr>
        <p:txBody>
          <a:bodyPr wrap="square" lIns="0" tIns="0" rIns="0" bIns="0" rtlCol="0" anchor="ctr"/>
          <a:lstStyle/>
          <a:p>
            <a:r>
              <a:rPr lang="en-US" sz="1400" b="1">
                <a:solidFill>
                  <a:srgbClr val="1E293B"/>
                </a:solidFill>
                <a:latin typeface="Calibri" pitchFamily="34" charset="0"/>
                <a:ea typeface="Calibri" pitchFamily="34" charset="-122"/>
                <a:cs typeface="Calibri" pitchFamily="34" charset="-120"/>
              </a:rPr>
              <a:t>Aadesh Kalbhor</a:t>
            </a:r>
            <a:endParaRPr lang="en-US" sz="1400"/>
          </a:p>
        </p:txBody>
      </p:sp>
      <p:sp>
        <p:nvSpPr>
          <p:cNvPr id="23" name="Text 21"/>
          <p:cNvSpPr/>
          <p:nvPr/>
        </p:nvSpPr>
        <p:spPr>
          <a:xfrm>
            <a:off x="1481328" y="4069080"/>
            <a:ext cx="7132320" cy="256032"/>
          </a:xfrm>
          <a:prstGeom prst="rect">
            <a:avLst/>
          </a:prstGeom>
          <a:noFill/>
          <a:ln/>
        </p:spPr>
        <p:txBody>
          <a:bodyPr wrap="square" lIns="0" tIns="0" rIns="0" bIns="0" rtlCol="0" anchor="ctr"/>
          <a:lstStyle/>
          <a:p>
            <a:r>
              <a:rPr lang="en-US" sz="1000" i="1">
                <a:solidFill>
                  <a:srgbClr val="4472C4"/>
                </a:solidFill>
                <a:latin typeface="Calibri" pitchFamily="34" charset="0"/>
                <a:ea typeface="Calibri" pitchFamily="34" charset="-122"/>
                <a:cs typeface="Calibri" pitchFamily="34" charset="-120"/>
              </a:rPr>
              <a:t>ak4567@drexel.edu  |  Data Visualization · Programming · Data Interpretation</a:t>
            </a:r>
            <a:endParaRPr lang="en-US" sz="1000"/>
          </a:p>
        </p:txBody>
      </p:sp>
      <p:sp>
        <p:nvSpPr>
          <p:cNvPr id="24" name="Text 22"/>
          <p:cNvSpPr/>
          <p:nvPr/>
        </p:nvSpPr>
        <p:spPr>
          <a:xfrm>
            <a:off x="1481328" y="4343400"/>
            <a:ext cx="7132320" cy="411480"/>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Contributions: Predictive modeling, model evaluation, results interpretation</a:t>
            </a:r>
            <a:endParaRPr lang="en-US" sz="10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F1F3D"/>
          </a:solidFill>
          <a:ln w="12700">
            <a:solidFill>
              <a:srgbClr val="0F1F3D"/>
            </a:solidFill>
            <a:prstDash val="solid"/>
          </a:ln>
        </p:spPr>
        <p:txBody>
          <a:bodyPr/>
          <a:lstStyle/>
          <a:p>
            <a:endParaRPr lang="en-US"/>
          </a:p>
        </p:txBody>
      </p:sp>
      <p:sp>
        <p:nvSpPr>
          <p:cNvPr id="3" name="Text 1"/>
          <p:cNvSpPr/>
          <p:nvPr/>
        </p:nvSpPr>
        <p:spPr>
          <a:xfrm>
            <a:off x="411480" y="91440"/>
            <a:ext cx="8229600" cy="54864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Business Problem &amp; Stakeholders</a:t>
            </a:r>
            <a:endParaRPr lang="en-US" sz="2200"/>
          </a:p>
        </p:txBody>
      </p:sp>
      <p:sp>
        <p:nvSpPr>
          <p:cNvPr id="4" name="Shape 2"/>
          <p:cNvSpPr/>
          <p:nvPr/>
        </p:nvSpPr>
        <p:spPr>
          <a:xfrm>
            <a:off x="3119329" y="862788"/>
            <a:ext cx="2697480" cy="1371600"/>
          </a:xfrm>
          <a:prstGeom prst="rect">
            <a:avLst/>
          </a:prstGeom>
          <a:solidFill>
            <a:srgbClr val="0F1F3D"/>
          </a:solidFill>
          <a:ln w="12700">
            <a:solidFill>
              <a:srgbClr val="0F1F3D"/>
            </a:solidFill>
            <a:prstDash val="solid"/>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3119329" y="908508"/>
            <a:ext cx="2697480" cy="777240"/>
          </a:xfrm>
          <a:prstGeom prst="rect">
            <a:avLst/>
          </a:prstGeom>
          <a:noFill/>
          <a:ln/>
        </p:spPr>
        <p:txBody>
          <a:bodyPr wrap="square" lIns="0" tIns="0" rIns="0" bIns="0" rtlCol="0" anchor="ctr"/>
          <a:lstStyle/>
          <a:p>
            <a:pPr marL="0" indent="0" algn="ctr">
              <a:buNone/>
            </a:pPr>
            <a:r>
              <a:rPr lang="en-US" sz="2600" b="1">
                <a:solidFill>
                  <a:srgbClr val="7BA7D4"/>
                </a:solidFill>
                <a:latin typeface="Calibri" pitchFamily="34" charset="0"/>
                <a:ea typeface="Calibri" pitchFamily="34" charset="-122"/>
                <a:cs typeface="Calibri" pitchFamily="34" charset="-120"/>
              </a:rPr>
              <a:t>10,127</a:t>
            </a:r>
            <a:endParaRPr lang="en-US" sz="2600"/>
          </a:p>
        </p:txBody>
      </p:sp>
      <p:sp>
        <p:nvSpPr>
          <p:cNvPr id="6" name="Text 4"/>
          <p:cNvSpPr/>
          <p:nvPr/>
        </p:nvSpPr>
        <p:spPr>
          <a:xfrm>
            <a:off x="3119329" y="1621740"/>
            <a:ext cx="2697480" cy="502920"/>
          </a:xfrm>
          <a:prstGeom prst="rect">
            <a:avLst/>
          </a:prstGeom>
          <a:noFill/>
          <a:ln/>
        </p:spPr>
        <p:txBody>
          <a:bodyPr wrap="square" lIns="63500" tIns="63500" rIns="63500" bIns="63500" rtlCol="0" anchor="ctr"/>
          <a:lstStyle/>
          <a:p>
            <a:pPr marL="0" indent="0" algn="ctr">
              <a:buNone/>
            </a:pPr>
            <a:r>
              <a:rPr lang="en-US" sz="1000">
                <a:solidFill>
                  <a:srgbClr val="E2E8F0"/>
                </a:solidFill>
                <a:latin typeface="Calibri" pitchFamily="34" charset="0"/>
                <a:ea typeface="Calibri" pitchFamily="34" charset="-122"/>
                <a:cs typeface="Calibri" pitchFamily="34" charset="-120"/>
              </a:rPr>
              <a:t>Customer records analyzed</a:t>
            </a:r>
            <a:endParaRPr lang="en-US" sz="1000"/>
          </a:p>
        </p:txBody>
      </p:sp>
      <p:sp>
        <p:nvSpPr>
          <p:cNvPr id="7" name="Shape 5"/>
          <p:cNvSpPr/>
          <p:nvPr/>
        </p:nvSpPr>
        <p:spPr>
          <a:xfrm>
            <a:off x="6037490" y="862788"/>
            <a:ext cx="2697480" cy="1371600"/>
          </a:xfrm>
          <a:prstGeom prst="rect">
            <a:avLst/>
          </a:prstGeom>
          <a:solidFill>
            <a:srgbClr val="0F1F3D"/>
          </a:solidFill>
          <a:ln w="12700">
            <a:solidFill>
              <a:srgbClr val="0F1F3D"/>
            </a:solidFill>
            <a:prstDash val="solid"/>
          </a:ln>
          <a:effectLst>
            <a:outerShdw blurRad="101600" dist="38100" dir="8100000" algn="bl" rotWithShape="0">
              <a:srgbClr val="000000">
                <a:alpha val="12000"/>
              </a:srgbClr>
            </a:outerShdw>
          </a:effectLst>
        </p:spPr>
        <p:txBody>
          <a:bodyPr/>
          <a:lstStyle/>
          <a:p>
            <a:endParaRPr lang="en-US"/>
          </a:p>
        </p:txBody>
      </p:sp>
      <p:sp>
        <p:nvSpPr>
          <p:cNvPr id="8" name="Text 6"/>
          <p:cNvSpPr/>
          <p:nvPr/>
        </p:nvSpPr>
        <p:spPr>
          <a:xfrm>
            <a:off x="6037490" y="908508"/>
            <a:ext cx="2697480" cy="777240"/>
          </a:xfrm>
          <a:prstGeom prst="rect">
            <a:avLst/>
          </a:prstGeom>
          <a:noFill/>
          <a:ln/>
        </p:spPr>
        <p:txBody>
          <a:bodyPr wrap="square" lIns="0" tIns="0" rIns="0" bIns="0" rtlCol="0" anchor="ctr"/>
          <a:lstStyle/>
          <a:p>
            <a:pPr marL="0" indent="0" algn="ctr">
              <a:buNone/>
            </a:pPr>
            <a:r>
              <a:rPr lang="en-US" sz="2600" b="1">
                <a:solidFill>
                  <a:srgbClr val="7BA7D4"/>
                </a:solidFill>
                <a:latin typeface="Calibri" pitchFamily="34" charset="0"/>
                <a:ea typeface="Calibri" pitchFamily="34" charset="-122"/>
                <a:cs typeface="Calibri" pitchFamily="34" charset="-120"/>
              </a:rPr>
              <a:t>16.1%</a:t>
            </a:r>
            <a:endParaRPr lang="en-US" sz="2600"/>
          </a:p>
        </p:txBody>
      </p:sp>
      <p:sp>
        <p:nvSpPr>
          <p:cNvPr id="9" name="Text 7"/>
          <p:cNvSpPr/>
          <p:nvPr/>
        </p:nvSpPr>
        <p:spPr>
          <a:xfrm>
            <a:off x="6037490" y="1621740"/>
            <a:ext cx="2697480" cy="502920"/>
          </a:xfrm>
          <a:prstGeom prst="rect">
            <a:avLst/>
          </a:prstGeom>
          <a:noFill/>
          <a:ln/>
        </p:spPr>
        <p:txBody>
          <a:bodyPr wrap="square" lIns="63500" tIns="63500" rIns="63500" bIns="63500" rtlCol="0" anchor="ctr"/>
          <a:lstStyle/>
          <a:p>
            <a:pPr marL="0" indent="0" algn="ctr">
              <a:buNone/>
            </a:pPr>
            <a:r>
              <a:rPr lang="en-US" sz="1000">
                <a:solidFill>
                  <a:srgbClr val="E2E8F0"/>
                </a:solidFill>
                <a:latin typeface="Calibri" pitchFamily="34" charset="0"/>
                <a:ea typeface="Calibri" pitchFamily="34" charset="-122"/>
                <a:cs typeface="Calibri" pitchFamily="34" charset="-120"/>
              </a:rPr>
              <a:t>Attrition rate in portfolio</a:t>
            </a:r>
            <a:endParaRPr lang="en-US" sz="1000"/>
          </a:p>
        </p:txBody>
      </p:sp>
      <p:sp>
        <p:nvSpPr>
          <p:cNvPr id="10" name="Shape 8"/>
          <p:cNvSpPr/>
          <p:nvPr/>
        </p:nvSpPr>
        <p:spPr>
          <a:xfrm>
            <a:off x="201168" y="873629"/>
            <a:ext cx="2697480" cy="1371600"/>
          </a:xfrm>
          <a:prstGeom prst="rect">
            <a:avLst/>
          </a:prstGeom>
          <a:solidFill>
            <a:srgbClr val="0F1F3D"/>
          </a:solidFill>
          <a:ln w="12700">
            <a:solidFill>
              <a:srgbClr val="0F1F3D"/>
            </a:solidFill>
            <a:prstDash val="solid"/>
          </a:ln>
          <a:effectLst>
            <a:outerShdw blurRad="101600" dist="38100" dir="8100000" algn="bl" rotWithShape="0">
              <a:srgbClr val="000000">
                <a:alpha val="12000"/>
              </a:srgbClr>
            </a:outerShdw>
          </a:effectLst>
        </p:spPr>
        <p:txBody>
          <a:bodyPr/>
          <a:lstStyle/>
          <a:p>
            <a:endParaRPr lang="en-US"/>
          </a:p>
        </p:txBody>
      </p:sp>
      <p:sp>
        <p:nvSpPr>
          <p:cNvPr id="11" name="Text 9"/>
          <p:cNvSpPr/>
          <p:nvPr/>
        </p:nvSpPr>
        <p:spPr>
          <a:xfrm>
            <a:off x="201168" y="919349"/>
            <a:ext cx="2697480" cy="777240"/>
          </a:xfrm>
          <a:prstGeom prst="rect">
            <a:avLst/>
          </a:prstGeom>
          <a:noFill/>
          <a:ln/>
        </p:spPr>
        <p:txBody>
          <a:bodyPr wrap="square" lIns="0" tIns="0" rIns="0" bIns="0" rtlCol="0" anchor="ctr"/>
          <a:lstStyle/>
          <a:p>
            <a:pPr marL="0" indent="0" algn="ctr">
              <a:buNone/>
            </a:pPr>
            <a:r>
              <a:rPr lang="en-US" sz="2600" b="1">
                <a:solidFill>
                  <a:srgbClr val="7BA7D4"/>
                </a:solidFill>
                <a:latin typeface="Calibri" pitchFamily="34" charset="0"/>
                <a:ea typeface="Calibri" pitchFamily="34" charset="-122"/>
                <a:cs typeface="Calibri" pitchFamily="34" charset="-120"/>
              </a:rPr>
              <a:t>Early signals</a:t>
            </a:r>
            <a:endParaRPr lang="en-US" sz="2600"/>
          </a:p>
        </p:txBody>
      </p:sp>
      <p:sp>
        <p:nvSpPr>
          <p:cNvPr id="12" name="Text 10"/>
          <p:cNvSpPr/>
          <p:nvPr/>
        </p:nvSpPr>
        <p:spPr>
          <a:xfrm>
            <a:off x="201168" y="1632581"/>
            <a:ext cx="2697480" cy="502920"/>
          </a:xfrm>
          <a:prstGeom prst="rect">
            <a:avLst/>
          </a:prstGeom>
          <a:noFill/>
          <a:ln/>
        </p:spPr>
        <p:txBody>
          <a:bodyPr wrap="square" lIns="63500" tIns="63500" rIns="63500" bIns="63500" rtlCol="0" anchor="ctr"/>
          <a:lstStyle/>
          <a:p>
            <a:pPr marL="0" indent="0" algn="ctr">
              <a:buNone/>
            </a:pPr>
            <a:r>
              <a:rPr lang="en-US" sz="1000">
                <a:solidFill>
                  <a:srgbClr val="E2E8F0"/>
                </a:solidFill>
                <a:latin typeface="Calibri" pitchFamily="34" charset="0"/>
                <a:ea typeface="Calibri" pitchFamily="34" charset="-122"/>
                <a:cs typeface="Calibri" pitchFamily="34" charset="-120"/>
              </a:rPr>
              <a:t>Weeks before customers leave</a:t>
            </a:r>
            <a:endParaRPr lang="en-US" sz="1000"/>
          </a:p>
        </p:txBody>
      </p:sp>
      <p:sp>
        <p:nvSpPr>
          <p:cNvPr id="13" name="Text 11"/>
          <p:cNvSpPr/>
          <p:nvPr/>
        </p:nvSpPr>
        <p:spPr>
          <a:xfrm>
            <a:off x="411480" y="2377440"/>
            <a:ext cx="8229600" cy="292608"/>
          </a:xfrm>
          <a:prstGeom prst="rect">
            <a:avLst/>
          </a:prstGeom>
          <a:noFill/>
          <a:ln/>
        </p:spPr>
        <p:txBody>
          <a:bodyPr wrap="square" lIns="0" tIns="0" rIns="0" bIns="0" rtlCol="0" anchor="ctr"/>
          <a:lstStyle/>
          <a:p>
            <a:pPr marL="0" indent="0">
              <a:buNone/>
            </a:pPr>
            <a:r>
              <a:rPr lang="en-US" sz="1300" b="1">
                <a:solidFill>
                  <a:srgbClr val="4472C4"/>
                </a:solidFill>
                <a:latin typeface="Calibri" pitchFamily="34" charset="0"/>
                <a:ea typeface="Calibri" pitchFamily="34" charset="-122"/>
                <a:cs typeface="Calibri" pitchFamily="34" charset="-120"/>
              </a:rPr>
              <a:t>The Problem</a:t>
            </a:r>
            <a:endParaRPr lang="en-US" sz="1300"/>
          </a:p>
        </p:txBody>
      </p:sp>
      <p:sp>
        <p:nvSpPr>
          <p:cNvPr id="14" name="Text 12"/>
          <p:cNvSpPr/>
          <p:nvPr/>
        </p:nvSpPr>
        <p:spPr>
          <a:xfrm>
            <a:off x="411480" y="2697480"/>
            <a:ext cx="8321040" cy="731520"/>
          </a:xfrm>
          <a:prstGeom prst="rect">
            <a:avLst/>
          </a:prstGeom>
          <a:noFill/>
          <a:ln/>
        </p:spPr>
        <p:txBody>
          <a:bodyPr wrap="square" lIns="0" tIns="0" rIns="0" bIns="0" rtlCol="0" anchor="ctr"/>
          <a:lstStyle/>
          <a:p>
            <a:pPr marL="0" indent="0">
              <a:buNone/>
            </a:pPr>
            <a:r>
              <a:rPr lang="en-US" sz="1150">
                <a:solidFill>
                  <a:srgbClr val="334155"/>
                </a:solidFill>
                <a:latin typeface="Calibri" pitchFamily="34" charset="0"/>
                <a:ea typeface="Calibri" pitchFamily="34" charset="-122"/>
                <a:cs typeface="Calibri" pitchFamily="34" charset="-120"/>
              </a:rPr>
              <a:t>Credit card companies lose significant revenue when customers close accounts. Churn is gradual — declining transactions, falling balances, and reduced engagement signal attrition weeks before it happens. Standard approaches react too late. This project aims to detect those early behavioral signals proactively.</a:t>
            </a:r>
            <a:endParaRPr lang="en-US" sz="1150"/>
          </a:p>
        </p:txBody>
      </p:sp>
      <p:sp>
        <p:nvSpPr>
          <p:cNvPr id="15" name="Shape 13"/>
          <p:cNvSpPr/>
          <p:nvPr/>
        </p:nvSpPr>
        <p:spPr>
          <a:xfrm>
            <a:off x="320040" y="3566160"/>
            <a:ext cx="2697480" cy="12344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320040" y="3566160"/>
            <a:ext cx="2697480" cy="91440"/>
          </a:xfrm>
          <a:prstGeom prst="rect">
            <a:avLst/>
          </a:prstGeom>
          <a:solidFill>
            <a:srgbClr val="4472C4"/>
          </a:solidFill>
          <a:ln w="12700">
            <a:solidFill>
              <a:srgbClr val="4472C4"/>
            </a:solidFill>
            <a:prstDash val="solid"/>
          </a:ln>
        </p:spPr>
        <p:txBody>
          <a:bodyPr/>
          <a:lstStyle/>
          <a:p>
            <a:endParaRPr lang="en-US"/>
          </a:p>
        </p:txBody>
      </p:sp>
      <p:sp>
        <p:nvSpPr>
          <p:cNvPr id="17" name="Text 15"/>
          <p:cNvSpPr/>
          <p:nvPr/>
        </p:nvSpPr>
        <p:spPr>
          <a:xfrm>
            <a:off x="429768" y="3703320"/>
            <a:ext cx="2468880" cy="32004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Bank Management</a:t>
            </a:r>
            <a:endParaRPr lang="en-US" sz="1200"/>
          </a:p>
        </p:txBody>
      </p:sp>
      <p:sp>
        <p:nvSpPr>
          <p:cNvPr id="18" name="Text 16"/>
          <p:cNvSpPr/>
          <p:nvPr/>
        </p:nvSpPr>
        <p:spPr>
          <a:xfrm>
            <a:off x="429768" y="4041648"/>
            <a:ext cx="2468880" cy="658368"/>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Monitor portfolio health and reduce attrition rates</a:t>
            </a:r>
            <a:endParaRPr lang="en-US" sz="1050"/>
          </a:p>
        </p:txBody>
      </p:sp>
      <p:sp>
        <p:nvSpPr>
          <p:cNvPr id="19" name="Shape 17"/>
          <p:cNvSpPr/>
          <p:nvPr/>
        </p:nvSpPr>
        <p:spPr>
          <a:xfrm>
            <a:off x="3200400" y="3566160"/>
            <a:ext cx="2697480" cy="12344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0" name="Shape 18"/>
          <p:cNvSpPr/>
          <p:nvPr/>
        </p:nvSpPr>
        <p:spPr>
          <a:xfrm>
            <a:off x="3200400" y="3566160"/>
            <a:ext cx="2697480" cy="91440"/>
          </a:xfrm>
          <a:prstGeom prst="rect">
            <a:avLst/>
          </a:prstGeom>
          <a:solidFill>
            <a:srgbClr val="4472C4"/>
          </a:solidFill>
          <a:ln w="12700">
            <a:solidFill>
              <a:srgbClr val="4472C4"/>
            </a:solidFill>
            <a:prstDash val="solid"/>
          </a:ln>
        </p:spPr>
        <p:txBody>
          <a:bodyPr/>
          <a:lstStyle/>
          <a:p>
            <a:endParaRPr lang="en-US"/>
          </a:p>
        </p:txBody>
      </p:sp>
      <p:sp>
        <p:nvSpPr>
          <p:cNvPr id="21" name="Text 19"/>
          <p:cNvSpPr/>
          <p:nvPr/>
        </p:nvSpPr>
        <p:spPr>
          <a:xfrm>
            <a:off x="3310128" y="3703320"/>
            <a:ext cx="2468880" cy="32004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Marketing &amp; Retention</a:t>
            </a:r>
            <a:endParaRPr lang="en-US" sz="1200"/>
          </a:p>
        </p:txBody>
      </p:sp>
      <p:sp>
        <p:nvSpPr>
          <p:cNvPr id="22" name="Text 20"/>
          <p:cNvSpPr/>
          <p:nvPr/>
        </p:nvSpPr>
        <p:spPr>
          <a:xfrm>
            <a:off x="3310128" y="4041648"/>
            <a:ext cx="2468880" cy="658368"/>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Launch targeted offers before a customer churns</a:t>
            </a:r>
            <a:endParaRPr lang="en-US" sz="1050"/>
          </a:p>
        </p:txBody>
      </p:sp>
      <p:sp>
        <p:nvSpPr>
          <p:cNvPr id="23" name="Shape 21"/>
          <p:cNvSpPr/>
          <p:nvPr/>
        </p:nvSpPr>
        <p:spPr>
          <a:xfrm>
            <a:off x="6080760" y="3566160"/>
            <a:ext cx="2697480" cy="12344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4" name="Shape 22"/>
          <p:cNvSpPr/>
          <p:nvPr/>
        </p:nvSpPr>
        <p:spPr>
          <a:xfrm>
            <a:off x="6080760" y="3566160"/>
            <a:ext cx="2697480" cy="91440"/>
          </a:xfrm>
          <a:prstGeom prst="rect">
            <a:avLst/>
          </a:prstGeom>
          <a:solidFill>
            <a:srgbClr val="4472C4"/>
          </a:solidFill>
          <a:ln w="12700">
            <a:solidFill>
              <a:srgbClr val="4472C4"/>
            </a:solidFill>
            <a:prstDash val="solid"/>
          </a:ln>
        </p:spPr>
        <p:txBody>
          <a:bodyPr/>
          <a:lstStyle/>
          <a:p>
            <a:endParaRPr lang="en-US"/>
          </a:p>
        </p:txBody>
      </p:sp>
      <p:sp>
        <p:nvSpPr>
          <p:cNvPr id="25" name="Text 23"/>
          <p:cNvSpPr/>
          <p:nvPr/>
        </p:nvSpPr>
        <p:spPr>
          <a:xfrm>
            <a:off x="6190488" y="3703320"/>
            <a:ext cx="2468880" cy="32004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Risk &amp; Analytics</a:t>
            </a:r>
            <a:endParaRPr lang="en-US" sz="1200"/>
          </a:p>
        </p:txBody>
      </p:sp>
      <p:sp>
        <p:nvSpPr>
          <p:cNvPr id="26" name="Text 24"/>
          <p:cNvSpPr/>
          <p:nvPr/>
        </p:nvSpPr>
        <p:spPr>
          <a:xfrm>
            <a:off x="6190488" y="4041648"/>
            <a:ext cx="2468880" cy="658368"/>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Build early warning systems into existing pipelines</a:t>
            </a:r>
            <a:endParaRPr lang="en-US" sz="10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F1F3D"/>
          </a:solidFill>
          <a:ln w="12700">
            <a:solidFill>
              <a:srgbClr val="0F1F3D"/>
            </a:solidFill>
            <a:prstDash val="solid"/>
          </a:ln>
        </p:spPr>
        <p:txBody>
          <a:bodyPr/>
          <a:lstStyle/>
          <a:p>
            <a:endParaRPr lang="en-US"/>
          </a:p>
        </p:txBody>
      </p:sp>
      <p:sp>
        <p:nvSpPr>
          <p:cNvPr id="3" name="Text 1"/>
          <p:cNvSpPr/>
          <p:nvPr/>
        </p:nvSpPr>
        <p:spPr>
          <a:xfrm>
            <a:off x="411480" y="91440"/>
            <a:ext cx="8229600" cy="54864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Dataset Overview</a:t>
            </a:r>
            <a:endParaRPr lang="en-US" sz="2200"/>
          </a:p>
        </p:txBody>
      </p:sp>
      <p:sp>
        <p:nvSpPr>
          <p:cNvPr id="4" name="Shape 2"/>
          <p:cNvSpPr/>
          <p:nvPr/>
        </p:nvSpPr>
        <p:spPr>
          <a:xfrm>
            <a:off x="320040" y="822960"/>
            <a:ext cx="4023360" cy="4023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502920" y="914400"/>
            <a:ext cx="3657600" cy="347472"/>
          </a:xfrm>
          <a:prstGeom prst="rect">
            <a:avLst/>
          </a:prstGeom>
          <a:noFill/>
          <a:ln/>
        </p:spPr>
        <p:txBody>
          <a:bodyPr wrap="square" lIns="0" tIns="0" rIns="0" bIns="0" rtlCol="0" anchor="ctr"/>
          <a:lstStyle/>
          <a:p>
            <a:pPr marL="0" indent="0">
              <a:buNone/>
            </a:pPr>
            <a:r>
              <a:rPr lang="en-US" sz="1300" b="1">
                <a:solidFill>
                  <a:srgbClr val="4472C4"/>
                </a:solidFill>
                <a:latin typeface="Calibri" pitchFamily="34" charset="0"/>
                <a:ea typeface="Calibri" pitchFamily="34" charset="-122"/>
                <a:cs typeface="Calibri" pitchFamily="34" charset="-120"/>
              </a:rPr>
              <a:t>Dataset Facts</a:t>
            </a:r>
            <a:endParaRPr lang="en-US" sz="1300"/>
          </a:p>
        </p:txBody>
      </p:sp>
      <p:sp>
        <p:nvSpPr>
          <p:cNvPr id="6" name="Shape 4"/>
          <p:cNvSpPr/>
          <p:nvPr/>
        </p:nvSpPr>
        <p:spPr>
          <a:xfrm>
            <a:off x="411480" y="1353312"/>
            <a:ext cx="3749040" cy="320040"/>
          </a:xfrm>
          <a:prstGeom prst="rect">
            <a:avLst/>
          </a:prstGeom>
          <a:solidFill>
            <a:srgbClr val="FFFFFF"/>
          </a:solidFill>
          <a:ln w="12700">
            <a:solidFill>
              <a:srgbClr val="E2E8F0"/>
            </a:solidFill>
            <a:prstDash val="solid"/>
          </a:ln>
        </p:spPr>
        <p:txBody>
          <a:bodyPr/>
          <a:lstStyle/>
          <a:p>
            <a:endParaRPr lang="en-US"/>
          </a:p>
        </p:txBody>
      </p:sp>
      <p:sp>
        <p:nvSpPr>
          <p:cNvPr id="7" name="Text 5"/>
          <p:cNvSpPr/>
          <p:nvPr/>
        </p:nvSpPr>
        <p:spPr>
          <a:xfrm>
            <a:off x="502920" y="1371600"/>
            <a:ext cx="1188720" cy="274320"/>
          </a:xfrm>
          <a:prstGeom prst="rect">
            <a:avLst/>
          </a:prstGeom>
          <a:noFill/>
          <a:ln/>
        </p:spPr>
        <p:txBody>
          <a:bodyPr wrap="square" lIns="0" tIns="0" rIns="0" bIns="0" rtlCol="0" anchor="ctr"/>
          <a:lstStyle/>
          <a:p>
            <a:pPr marL="0" indent="0">
              <a:buNone/>
            </a:pPr>
            <a:r>
              <a:rPr lang="en-US" sz="1050" b="1">
                <a:solidFill>
                  <a:srgbClr val="4472C4"/>
                </a:solidFill>
                <a:latin typeface="Calibri" pitchFamily="34" charset="0"/>
                <a:ea typeface="Calibri" pitchFamily="34" charset="-122"/>
                <a:cs typeface="Calibri" pitchFamily="34" charset="-120"/>
              </a:rPr>
              <a:t>Source:</a:t>
            </a:r>
            <a:endParaRPr lang="en-US" sz="1050"/>
          </a:p>
        </p:txBody>
      </p:sp>
      <p:sp>
        <p:nvSpPr>
          <p:cNvPr id="8" name="Text 6"/>
          <p:cNvSpPr/>
          <p:nvPr/>
        </p:nvSpPr>
        <p:spPr>
          <a:xfrm>
            <a:off x="1755648" y="1371600"/>
            <a:ext cx="2286000" cy="274320"/>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Kaggle — Credit Card Customers</a:t>
            </a:r>
            <a:endParaRPr lang="en-US" sz="1050"/>
          </a:p>
        </p:txBody>
      </p:sp>
      <p:sp>
        <p:nvSpPr>
          <p:cNvPr id="9" name="Shape 7"/>
          <p:cNvSpPr/>
          <p:nvPr/>
        </p:nvSpPr>
        <p:spPr>
          <a:xfrm>
            <a:off x="411480" y="1687068"/>
            <a:ext cx="3749040" cy="320040"/>
          </a:xfrm>
          <a:prstGeom prst="rect">
            <a:avLst/>
          </a:prstGeom>
          <a:solidFill>
            <a:srgbClr val="F0F4F8"/>
          </a:solidFill>
          <a:ln w="12700">
            <a:solidFill>
              <a:srgbClr val="E2E8F0"/>
            </a:solidFill>
            <a:prstDash val="solid"/>
          </a:ln>
        </p:spPr>
        <p:txBody>
          <a:bodyPr/>
          <a:lstStyle/>
          <a:p>
            <a:endParaRPr lang="en-US"/>
          </a:p>
        </p:txBody>
      </p:sp>
      <p:sp>
        <p:nvSpPr>
          <p:cNvPr id="10" name="Text 8"/>
          <p:cNvSpPr/>
          <p:nvPr/>
        </p:nvSpPr>
        <p:spPr>
          <a:xfrm>
            <a:off x="502920" y="1705356"/>
            <a:ext cx="1188720" cy="274320"/>
          </a:xfrm>
          <a:prstGeom prst="rect">
            <a:avLst/>
          </a:prstGeom>
          <a:noFill/>
          <a:ln/>
        </p:spPr>
        <p:txBody>
          <a:bodyPr wrap="square" lIns="0" tIns="0" rIns="0" bIns="0" rtlCol="0" anchor="ctr"/>
          <a:lstStyle/>
          <a:p>
            <a:pPr marL="0" indent="0">
              <a:buNone/>
            </a:pPr>
            <a:r>
              <a:rPr lang="en-US" sz="1050" b="1">
                <a:solidFill>
                  <a:srgbClr val="4472C4"/>
                </a:solidFill>
                <a:latin typeface="Calibri" pitchFamily="34" charset="0"/>
                <a:ea typeface="Calibri" pitchFamily="34" charset="-122"/>
                <a:cs typeface="Calibri" pitchFamily="34" charset="-120"/>
              </a:rPr>
              <a:t>Origin:</a:t>
            </a:r>
            <a:endParaRPr lang="en-US" sz="1050"/>
          </a:p>
        </p:txBody>
      </p:sp>
      <p:sp>
        <p:nvSpPr>
          <p:cNvPr id="11" name="Text 9"/>
          <p:cNvSpPr/>
          <p:nvPr/>
        </p:nvSpPr>
        <p:spPr>
          <a:xfrm>
            <a:off x="1755648" y="1705356"/>
            <a:ext cx="2286000" cy="274320"/>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analyttica.com (CC0 License)</a:t>
            </a:r>
            <a:endParaRPr lang="en-US" sz="1050"/>
          </a:p>
        </p:txBody>
      </p:sp>
      <p:sp>
        <p:nvSpPr>
          <p:cNvPr id="12" name="Shape 10"/>
          <p:cNvSpPr/>
          <p:nvPr/>
        </p:nvSpPr>
        <p:spPr>
          <a:xfrm>
            <a:off x="411480" y="2020824"/>
            <a:ext cx="3749040" cy="320040"/>
          </a:xfrm>
          <a:prstGeom prst="rect">
            <a:avLst/>
          </a:prstGeom>
          <a:solidFill>
            <a:srgbClr val="FFFFFF"/>
          </a:solidFill>
          <a:ln w="12700">
            <a:solidFill>
              <a:srgbClr val="E2E8F0"/>
            </a:solidFill>
            <a:prstDash val="solid"/>
          </a:ln>
        </p:spPr>
        <p:txBody>
          <a:bodyPr/>
          <a:lstStyle/>
          <a:p>
            <a:endParaRPr lang="en-US"/>
          </a:p>
        </p:txBody>
      </p:sp>
      <p:sp>
        <p:nvSpPr>
          <p:cNvPr id="13" name="Text 11"/>
          <p:cNvSpPr/>
          <p:nvPr/>
        </p:nvSpPr>
        <p:spPr>
          <a:xfrm>
            <a:off x="502920" y="2039112"/>
            <a:ext cx="1188720" cy="274320"/>
          </a:xfrm>
          <a:prstGeom prst="rect">
            <a:avLst/>
          </a:prstGeom>
          <a:noFill/>
          <a:ln/>
        </p:spPr>
        <p:txBody>
          <a:bodyPr wrap="square" lIns="0" tIns="0" rIns="0" bIns="0" rtlCol="0" anchor="ctr"/>
          <a:lstStyle/>
          <a:p>
            <a:pPr marL="0" indent="0">
              <a:buNone/>
            </a:pPr>
            <a:r>
              <a:rPr lang="en-US" sz="1050" b="1">
                <a:solidFill>
                  <a:srgbClr val="4472C4"/>
                </a:solidFill>
                <a:latin typeface="Calibri" pitchFamily="34" charset="0"/>
                <a:ea typeface="Calibri" pitchFamily="34" charset="-122"/>
                <a:cs typeface="Calibri" pitchFamily="34" charset="-120"/>
              </a:rPr>
              <a:t>Records:</a:t>
            </a:r>
            <a:endParaRPr lang="en-US" sz="1050"/>
          </a:p>
        </p:txBody>
      </p:sp>
      <p:sp>
        <p:nvSpPr>
          <p:cNvPr id="14" name="Text 12"/>
          <p:cNvSpPr/>
          <p:nvPr/>
        </p:nvSpPr>
        <p:spPr>
          <a:xfrm>
            <a:off x="1755648" y="2039112"/>
            <a:ext cx="2286000" cy="274320"/>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10,127 customers</a:t>
            </a:r>
            <a:endParaRPr lang="en-US" sz="1050"/>
          </a:p>
        </p:txBody>
      </p:sp>
      <p:sp>
        <p:nvSpPr>
          <p:cNvPr id="15" name="Shape 13"/>
          <p:cNvSpPr/>
          <p:nvPr/>
        </p:nvSpPr>
        <p:spPr>
          <a:xfrm>
            <a:off x="411480" y="2354580"/>
            <a:ext cx="3749040" cy="320040"/>
          </a:xfrm>
          <a:prstGeom prst="rect">
            <a:avLst/>
          </a:prstGeom>
          <a:solidFill>
            <a:srgbClr val="F0F4F8"/>
          </a:solidFill>
          <a:ln w="12700">
            <a:solidFill>
              <a:srgbClr val="E2E8F0"/>
            </a:solidFill>
            <a:prstDash val="solid"/>
          </a:ln>
        </p:spPr>
        <p:txBody>
          <a:bodyPr/>
          <a:lstStyle/>
          <a:p>
            <a:endParaRPr lang="en-US"/>
          </a:p>
        </p:txBody>
      </p:sp>
      <p:sp>
        <p:nvSpPr>
          <p:cNvPr id="16" name="Text 14"/>
          <p:cNvSpPr/>
          <p:nvPr/>
        </p:nvSpPr>
        <p:spPr>
          <a:xfrm>
            <a:off x="502920" y="2372868"/>
            <a:ext cx="1188720" cy="274320"/>
          </a:xfrm>
          <a:prstGeom prst="rect">
            <a:avLst/>
          </a:prstGeom>
          <a:noFill/>
          <a:ln/>
        </p:spPr>
        <p:txBody>
          <a:bodyPr wrap="square" lIns="0" tIns="0" rIns="0" bIns="0" rtlCol="0" anchor="ctr"/>
          <a:lstStyle/>
          <a:p>
            <a:pPr marL="0" indent="0">
              <a:buNone/>
            </a:pPr>
            <a:r>
              <a:rPr lang="en-US" sz="1050" b="1">
                <a:solidFill>
                  <a:srgbClr val="4472C4"/>
                </a:solidFill>
                <a:latin typeface="Calibri" pitchFamily="34" charset="0"/>
                <a:ea typeface="Calibri" pitchFamily="34" charset="-122"/>
                <a:cs typeface="Calibri" pitchFamily="34" charset="-120"/>
              </a:rPr>
              <a:t>Features:</a:t>
            </a:r>
            <a:endParaRPr lang="en-US" sz="1050"/>
          </a:p>
        </p:txBody>
      </p:sp>
      <p:sp>
        <p:nvSpPr>
          <p:cNvPr id="17" name="Text 15"/>
          <p:cNvSpPr/>
          <p:nvPr/>
        </p:nvSpPr>
        <p:spPr>
          <a:xfrm>
            <a:off x="1755648" y="2372868"/>
            <a:ext cx="2286000" cy="274320"/>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20</a:t>
            </a:r>
            <a:endParaRPr lang="en-US" sz="1050"/>
          </a:p>
        </p:txBody>
      </p:sp>
      <p:sp>
        <p:nvSpPr>
          <p:cNvPr id="18" name="Shape 16"/>
          <p:cNvSpPr/>
          <p:nvPr/>
        </p:nvSpPr>
        <p:spPr>
          <a:xfrm>
            <a:off x="411480" y="2688336"/>
            <a:ext cx="3749040" cy="320040"/>
          </a:xfrm>
          <a:prstGeom prst="rect">
            <a:avLst/>
          </a:prstGeom>
          <a:solidFill>
            <a:srgbClr val="FFFFFF"/>
          </a:solidFill>
          <a:ln w="12700">
            <a:solidFill>
              <a:srgbClr val="E2E8F0"/>
            </a:solidFill>
            <a:prstDash val="solid"/>
          </a:ln>
        </p:spPr>
        <p:txBody>
          <a:bodyPr/>
          <a:lstStyle/>
          <a:p>
            <a:endParaRPr lang="en-US"/>
          </a:p>
        </p:txBody>
      </p:sp>
      <p:sp>
        <p:nvSpPr>
          <p:cNvPr id="19" name="Text 17"/>
          <p:cNvSpPr/>
          <p:nvPr/>
        </p:nvSpPr>
        <p:spPr>
          <a:xfrm>
            <a:off x="502920" y="2706624"/>
            <a:ext cx="1188720" cy="274320"/>
          </a:xfrm>
          <a:prstGeom prst="rect">
            <a:avLst/>
          </a:prstGeom>
          <a:noFill/>
          <a:ln/>
        </p:spPr>
        <p:txBody>
          <a:bodyPr wrap="square" lIns="0" tIns="0" rIns="0" bIns="0" rtlCol="0" anchor="ctr"/>
          <a:lstStyle/>
          <a:p>
            <a:pPr marL="0" indent="0">
              <a:buNone/>
            </a:pPr>
            <a:r>
              <a:rPr lang="en-US" sz="1050" b="1">
                <a:solidFill>
                  <a:srgbClr val="4472C4"/>
                </a:solidFill>
                <a:latin typeface="Calibri" pitchFamily="34" charset="0"/>
                <a:ea typeface="Calibri" pitchFamily="34" charset="-122"/>
                <a:cs typeface="Calibri" pitchFamily="34" charset="-120"/>
              </a:rPr>
              <a:t>Numeric:</a:t>
            </a:r>
            <a:endParaRPr lang="en-US" sz="1050"/>
          </a:p>
        </p:txBody>
      </p:sp>
      <p:sp>
        <p:nvSpPr>
          <p:cNvPr id="20" name="Text 18"/>
          <p:cNvSpPr/>
          <p:nvPr/>
        </p:nvSpPr>
        <p:spPr>
          <a:xfrm>
            <a:off x="1755648" y="2706624"/>
            <a:ext cx="2286000" cy="274320"/>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14 features</a:t>
            </a:r>
            <a:endParaRPr lang="en-US" sz="1050"/>
          </a:p>
        </p:txBody>
      </p:sp>
      <p:sp>
        <p:nvSpPr>
          <p:cNvPr id="21" name="Shape 19"/>
          <p:cNvSpPr/>
          <p:nvPr/>
        </p:nvSpPr>
        <p:spPr>
          <a:xfrm>
            <a:off x="411480" y="3022092"/>
            <a:ext cx="3749040" cy="320040"/>
          </a:xfrm>
          <a:prstGeom prst="rect">
            <a:avLst/>
          </a:prstGeom>
          <a:solidFill>
            <a:srgbClr val="F0F4F8"/>
          </a:solidFill>
          <a:ln w="12700">
            <a:solidFill>
              <a:srgbClr val="E2E8F0"/>
            </a:solidFill>
            <a:prstDash val="solid"/>
          </a:ln>
        </p:spPr>
        <p:txBody>
          <a:bodyPr/>
          <a:lstStyle/>
          <a:p>
            <a:endParaRPr lang="en-US"/>
          </a:p>
        </p:txBody>
      </p:sp>
      <p:sp>
        <p:nvSpPr>
          <p:cNvPr id="22" name="Text 20"/>
          <p:cNvSpPr/>
          <p:nvPr/>
        </p:nvSpPr>
        <p:spPr>
          <a:xfrm>
            <a:off x="502920" y="3040380"/>
            <a:ext cx="1188720" cy="274320"/>
          </a:xfrm>
          <a:prstGeom prst="rect">
            <a:avLst/>
          </a:prstGeom>
          <a:noFill/>
          <a:ln/>
        </p:spPr>
        <p:txBody>
          <a:bodyPr wrap="square" lIns="0" tIns="0" rIns="0" bIns="0" rtlCol="0" anchor="ctr"/>
          <a:lstStyle/>
          <a:p>
            <a:pPr marL="0" indent="0">
              <a:buNone/>
            </a:pPr>
            <a:r>
              <a:rPr lang="en-US" sz="1050" b="1">
                <a:solidFill>
                  <a:srgbClr val="4472C4"/>
                </a:solidFill>
                <a:latin typeface="Calibri" pitchFamily="34" charset="0"/>
                <a:ea typeface="Calibri" pitchFamily="34" charset="-122"/>
                <a:cs typeface="Calibri" pitchFamily="34" charset="-120"/>
              </a:rPr>
              <a:t>Categorical:</a:t>
            </a:r>
            <a:endParaRPr lang="en-US" sz="1050"/>
          </a:p>
        </p:txBody>
      </p:sp>
      <p:sp>
        <p:nvSpPr>
          <p:cNvPr id="23" name="Text 21"/>
          <p:cNvSpPr/>
          <p:nvPr/>
        </p:nvSpPr>
        <p:spPr>
          <a:xfrm>
            <a:off x="1755648" y="3040380"/>
            <a:ext cx="2286000" cy="274320"/>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6 features</a:t>
            </a:r>
            <a:endParaRPr lang="en-US" sz="1050"/>
          </a:p>
        </p:txBody>
      </p:sp>
      <p:sp>
        <p:nvSpPr>
          <p:cNvPr id="24" name="Shape 22"/>
          <p:cNvSpPr/>
          <p:nvPr/>
        </p:nvSpPr>
        <p:spPr>
          <a:xfrm>
            <a:off x="411480" y="3355848"/>
            <a:ext cx="3749040" cy="320040"/>
          </a:xfrm>
          <a:prstGeom prst="rect">
            <a:avLst/>
          </a:prstGeom>
          <a:solidFill>
            <a:srgbClr val="FFFFFF"/>
          </a:solidFill>
          <a:ln w="12700">
            <a:solidFill>
              <a:srgbClr val="E2E8F0"/>
            </a:solidFill>
            <a:prstDash val="solid"/>
          </a:ln>
        </p:spPr>
        <p:txBody>
          <a:bodyPr/>
          <a:lstStyle/>
          <a:p>
            <a:endParaRPr lang="en-US"/>
          </a:p>
        </p:txBody>
      </p:sp>
      <p:sp>
        <p:nvSpPr>
          <p:cNvPr id="25" name="Text 23"/>
          <p:cNvSpPr/>
          <p:nvPr/>
        </p:nvSpPr>
        <p:spPr>
          <a:xfrm>
            <a:off x="502920" y="3374136"/>
            <a:ext cx="1188720" cy="274320"/>
          </a:xfrm>
          <a:prstGeom prst="rect">
            <a:avLst/>
          </a:prstGeom>
          <a:noFill/>
          <a:ln/>
        </p:spPr>
        <p:txBody>
          <a:bodyPr wrap="square" lIns="0" tIns="0" rIns="0" bIns="0" rtlCol="0" anchor="ctr"/>
          <a:lstStyle/>
          <a:p>
            <a:pPr marL="0" indent="0">
              <a:buNone/>
            </a:pPr>
            <a:r>
              <a:rPr lang="en-US" sz="1050" b="1">
                <a:solidFill>
                  <a:srgbClr val="4472C4"/>
                </a:solidFill>
                <a:latin typeface="Calibri" pitchFamily="34" charset="0"/>
                <a:ea typeface="Calibri" pitchFamily="34" charset="-122"/>
                <a:cs typeface="Calibri" pitchFamily="34" charset="-120"/>
              </a:rPr>
              <a:t>Target:</a:t>
            </a:r>
            <a:endParaRPr lang="en-US" sz="1050"/>
          </a:p>
        </p:txBody>
      </p:sp>
      <p:sp>
        <p:nvSpPr>
          <p:cNvPr id="26" name="Text 24"/>
          <p:cNvSpPr/>
          <p:nvPr/>
        </p:nvSpPr>
        <p:spPr>
          <a:xfrm>
            <a:off x="1755648" y="3374136"/>
            <a:ext cx="2286000" cy="274320"/>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Attrition_Flag (binary)</a:t>
            </a:r>
            <a:endParaRPr lang="en-US" sz="1050"/>
          </a:p>
        </p:txBody>
      </p:sp>
      <p:sp>
        <p:nvSpPr>
          <p:cNvPr id="27" name="Shape 25"/>
          <p:cNvSpPr/>
          <p:nvPr/>
        </p:nvSpPr>
        <p:spPr>
          <a:xfrm>
            <a:off x="411480" y="3689604"/>
            <a:ext cx="3749040" cy="320040"/>
          </a:xfrm>
          <a:prstGeom prst="rect">
            <a:avLst/>
          </a:prstGeom>
          <a:solidFill>
            <a:srgbClr val="F0F4F8"/>
          </a:solidFill>
          <a:ln w="12700">
            <a:solidFill>
              <a:srgbClr val="E2E8F0"/>
            </a:solidFill>
            <a:prstDash val="solid"/>
          </a:ln>
        </p:spPr>
        <p:txBody>
          <a:bodyPr/>
          <a:lstStyle/>
          <a:p>
            <a:endParaRPr lang="en-US"/>
          </a:p>
        </p:txBody>
      </p:sp>
      <p:sp>
        <p:nvSpPr>
          <p:cNvPr id="28" name="Text 26"/>
          <p:cNvSpPr/>
          <p:nvPr/>
        </p:nvSpPr>
        <p:spPr>
          <a:xfrm>
            <a:off x="502920" y="3707892"/>
            <a:ext cx="1188720" cy="274320"/>
          </a:xfrm>
          <a:prstGeom prst="rect">
            <a:avLst/>
          </a:prstGeom>
          <a:noFill/>
          <a:ln/>
        </p:spPr>
        <p:txBody>
          <a:bodyPr wrap="square" lIns="0" tIns="0" rIns="0" bIns="0" rtlCol="0" anchor="ctr"/>
          <a:lstStyle/>
          <a:p>
            <a:pPr marL="0" indent="0">
              <a:buNone/>
            </a:pPr>
            <a:r>
              <a:rPr lang="en-US" sz="1050" b="1">
                <a:solidFill>
                  <a:srgbClr val="4472C4"/>
                </a:solidFill>
                <a:latin typeface="Calibri" pitchFamily="34" charset="0"/>
                <a:ea typeface="Calibri" pitchFamily="34" charset="-122"/>
                <a:cs typeface="Calibri" pitchFamily="34" charset="-120"/>
              </a:rPr>
              <a:t>Imbalance:</a:t>
            </a:r>
            <a:endParaRPr lang="en-US" sz="1050"/>
          </a:p>
        </p:txBody>
      </p:sp>
      <p:sp>
        <p:nvSpPr>
          <p:cNvPr id="29" name="Text 27"/>
          <p:cNvSpPr/>
          <p:nvPr/>
        </p:nvSpPr>
        <p:spPr>
          <a:xfrm>
            <a:off x="1755648" y="3707892"/>
            <a:ext cx="2286000" cy="274320"/>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83.9% Existing / 16.1% Attrited</a:t>
            </a:r>
            <a:endParaRPr lang="en-US" sz="1050"/>
          </a:p>
        </p:txBody>
      </p:sp>
      <p:sp>
        <p:nvSpPr>
          <p:cNvPr id="30" name="Shape 28"/>
          <p:cNvSpPr/>
          <p:nvPr/>
        </p:nvSpPr>
        <p:spPr>
          <a:xfrm>
            <a:off x="4526280" y="822960"/>
            <a:ext cx="4297680" cy="4023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31" name="Text 29"/>
          <p:cNvSpPr/>
          <p:nvPr/>
        </p:nvSpPr>
        <p:spPr>
          <a:xfrm>
            <a:off x="4709160" y="914400"/>
            <a:ext cx="3931920" cy="347472"/>
          </a:xfrm>
          <a:prstGeom prst="rect">
            <a:avLst/>
          </a:prstGeom>
          <a:noFill/>
          <a:ln/>
        </p:spPr>
        <p:txBody>
          <a:bodyPr wrap="square" lIns="0" tIns="0" rIns="0" bIns="0" rtlCol="0" anchor="ctr"/>
          <a:lstStyle/>
          <a:p>
            <a:pPr marL="0" indent="0">
              <a:buNone/>
            </a:pPr>
            <a:r>
              <a:rPr lang="en-US" sz="1300" b="1">
                <a:solidFill>
                  <a:srgbClr val="4472C4"/>
                </a:solidFill>
                <a:latin typeface="Calibri" pitchFamily="34" charset="0"/>
                <a:ea typeface="Calibri" pitchFamily="34" charset="-122"/>
                <a:cs typeface="Calibri" pitchFamily="34" charset="-120"/>
              </a:rPr>
              <a:t>Key Feature Groups</a:t>
            </a:r>
            <a:endParaRPr lang="en-US" sz="1300"/>
          </a:p>
        </p:txBody>
      </p:sp>
      <p:sp>
        <p:nvSpPr>
          <p:cNvPr id="32" name="Text 30"/>
          <p:cNvSpPr/>
          <p:nvPr/>
        </p:nvSpPr>
        <p:spPr>
          <a:xfrm>
            <a:off x="4709160" y="1353312"/>
            <a:ext cx="3931920" cy="256032"/>
          </a:xfrm>
          <a:prstGeom prst="rect">
            <a:avLst/>
          </a:prstGeom>
          <a:noFill/>
          <a:ln/>
        </p:spPr>
        <p:txBody>
          <a:bodyPr wrap="square" lIns="0" tIns="0" rIns="0" bIns="0" rtlCol="0" anchor="ctr"/>
          <a:lstStyle/>
          <a:p>
            <a:pPr marL="0" indent="0">
              <a:buNone/>
            </a:pPr>
            <a:r>
              <a:rPr lang="en-US" sz="1100" b="1">
                <a:solidFill>
                  <a:srgbClr val="4472C4"/>
                </a:solidFill>
                <a:latin typeface="Calibri" pitchFamily="34" charset="0"/>
                <a:ea typeface="Calibri" pitchFamily="34" charset="-122"/>
                <a:cs typeface="Calibri" pitchFamily="34" charset="-120"/>
              </a:rPr>
              <a:t>Behavioral Features:</a:t>
            </a:r>
            <a:endParaRPr lang="en-US" sz="1100"/>
          </a:p>
        </p:txBody>
      </p:sp>
      <p:sp>
        <p:nvSpPr>
          <p:cNvPr id="33" name="Shape 31"/>
          <p:cNvSpPr/>
          <p:nvPr/>
        </p:nvSpPr>
        <p:spPr>
          <a:xfrm>
            <a:off x="4754880" y="1691640"/>
            <a:ext cx="91440" cy="91440"/>
          </a:xfrm>
          <a:prstGeom prst="ellipse">
            <a:avLst/>
          </a:prstGeom>
          <a:solidFill>
            <a:srgbClr val="4472C4"/>
          </a:solidFill>
          <a:ln w="12700">
            <a:solidFill>
              <a:srgbClr val="4472C4"/>
            </a:solidFill>
            <a:prstDash val="solid"/>
          </a:ln>
        </p:spPr>
        <p:txBody>
          <a:bodyPr/>
          <a:lstStyle/>
          <a:p>
            <a:endParaRPr lang="en-US"/>
          </a:p>
        </p:txBody>
      </p:sp>
      <p:sp>
        <p:nvSpPr>
          <p:cNvPr id="34" name="Text 32"/>
          <p:cNvSpPr/>
          <p:nvPr/>
        </p:nvSpPr>
        <p:spPr>
          <a:xfrm>
            <a:off x="4919472" y="1627632"/>
            <a:ext cx="3749040" cy="256032"/>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Total Transaction Count</a:t>
            </a:r>
            <a:endParaRPr lang="en-US" sz="1000"/>
          </a:p>
        </p:txBody>
      </p:sp>
      <p:sp>
        <p:nvSpPr>
          <p:cNvPr id="35" name="Shape 33"/>
          <p:cNvSpPr/>
          <p:nvPr/>
        </p:nvSpPr>
        <p:spPr>
          <a:xfrm>
            <a:off x="4754880" y="1947672"/>
            <a:ext cx="91440" cy="91440"/>
          </a:xfrm>
          <a:prstGeom prst="ellipse">
            <a:avLst/>
          </a:prstGeom>
          <a:solidFill>
            <a:srgbClr val="4472C4"/>
          </a:solidFill>
          <a:ln w="12700">
            <a:solidFill>
              <a:srgbClr val="4472C4"/>
            </a:solidFill>
            <a:prstDash val="solid"/>
          </a:ln>
        </p:spPr>
        <p:txBody>
          <a:bodyPr/>
          <a:lstStyle/>
          <a:p>
            <a:endParaRPr lang="en-US"/>
          </a:p>
        </p:txBody>
      </p:sp>
      <p:sp>
        <p:nvSpPr>
          <p:cNvPr id="36" name="Text 34"/>
          <p:cNvSpPr/>
          <p:nvPr/>
        </p:nvSpPr>
        <p:spPr>
          <a:xfrm>
            <a:off x="4919472" y="1883664"/>
            <a:ext cx="3749040" cy="256032"/>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Total Transaction Amount</a:t>
            </a:r>
            <a:endParaRPr lang="en-US" sz="1000"/>
          </a:p>
        </p:txBody>
      </p:sp>
      <p:sp>
        <p:nvSpPr>
          <p:cNvPr id="37" name="Shape 35"/>
          <p:cNvSpPr/>
          <p:nvPr/>
        </p:nvSpPr>
        <p:spPr>
          <a:xfrm>
            <a:off x="4754880" y="2203704"/>
            <a:ext cx="91440" cy="91440"/>
          </a:xfrm>
          <a:prstGeom prst="ellipse">
            <a:avLst/>
          </a:prstGeom>
          <a:solidFill>
            <a:srgbClr val="4472C4"/>
          </a:solidFill>
          <a:ln w="12700">
            <a:solidFill>
              <a:srgbClr val="4472C4"/>
            </a:solidFill>
            <a:prstDash val="solid"/>
          </a:ln>
        </p:spPr>
        <p:txBody>
          <a:bodyPr/>
          <a:lstStyle/>
          <a:p>
            <a:endParaRPr lang="en-US"/>
          </a:p>
        </p:txBody>
      </p:sp>
      <p:sp>
        <p:nvSpPr>
          <p:cNvPr id="38" name="Text 36"/>
          <p:cNvSpPr/>
          <p:nvPr/>
        </p:nvSpPr>
        <p:spPr>
          <a:xfrm>
            <a:off x="4919472" y="2139696"/>
            <a:ext cx="3749040" cy="256032"/>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Transaction Activity Change</a:t>
            </a:r>
            <a:endParaRPr lang="en-US" sz="1000"/>
          </a:p>
        </p:txBody>
      </p:sp>
      <p:sp>
        <p:nvSpPr>
          <p:cNvPr id="39" name="Shape 37"/>
          <p:cNvSpPr/>
          <p:nvPr/>
        </p:nvSpPr>
        <p:spPr>
          <a:xfrm>
            <a:off x="4754880" y="2459736"/>
            <a:ext cx="91440" cy="91440"/>
          </a:xfrm>
          <a:prstGeom prst="ellipse">
            <a:avLst/>
          </a:prstGeom>
          <a:solidFill>
            <a:srgbClr val="4472C4"/>
          </a:solidFill>
          <a:ln w="12700">
            <a:solidFill>
              <a:srgbClr val="4472C4"/>
            </a:solidFill>
            <a:prstDash val="solid"/>
          </a:ln>
        </p:spPr>
        <p:txBody>
          <a:bodyPr/>
          <a:lstStyle/>
          <a:p>
            <a:endParaRPr lang="en-US"/>
          </a:p>
        </p:txBody>
      </p:sp>
      <p:sp>
        <p:nvSpPr>
          <p:cNvPr id="40" name="Text 38"/>
          <p:cNvSpPr/>
          <p:nvPr/>
        </p:nvSpPr>
        <p:spPr>
          <a:xfrm>
            <a:off x="4919472" y="2395728"/>
            <a:ext cx="3749040" cy="256032"/>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Revolving Balance</a:t>
            </a:r>
            <a:endParaRPr lang="en-US" sz="1000"/>
          </a:p>
        </p:txBody>
      </p:sp>
      <p:sp>
        <p:nvSpPr>
          <p:cNvPr id="41" name="Shape 39"/>
          <p:cNvSpPr/>
          <p:nvPr/>
        </p:nvSpPr>
        <p:spPr>
          <a:xfrm>
            <a:off x="4754880" y="2715768"/>
            <a:ext cx="91440" cy="91440"/>
          </a:xfrm>
          <a:prstGeom prst="ellipse">
            <a:avLst/>
          </a:prstGeom>
          <a:solidFill>
            <a:srgbClr val="4472C4"/>
          </a:solidFill>
          <a:ln w="12700">
            <a:solidFill>
              <a:srgbClr val="4472C4"/>
            </a:solidFill>
            <a:prstDash val="solid"/>
          </a:ln>
        </p:spPr>
        <p:txBody>
          <a:bodyPr/>
          <a:lstStyle/>
          <a:p>
            <a:endParaRPr lang="en-US"/>
          </a:p>
        </p:txBody>
      </p:sp>
      <p:sp>
        <p:nvSpPr>
          <p:cNvPr id="42" name="Text 40"/>
          <p:cNvSpPr/>
          <p:nvPr/>
        </p:nvSpPr>
        <p:spPr>
          <a:xfrm>
            <a:off x="4919472" y="2651760"/>
            <a:ext cx="3749040" cy="256032"/>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Credit Utilization</a:t>
            </a:r>
            <a:endParaRPr lang="en-US" sz="1000"/>
          </a:p>
        </p:txBody>
      </p:sp>
      <p:sp>
        <p:nvSpPr>
          <p:cNvPr id="43" name="Text 41"/>
          <p:cNvSpPr/>
          <p:nvPr/>
        </p:nvSpPr>
        <p:spPr>
          <a:xfrm>
            <a:off x="4709160" y="2953512"/>
            <a:ext cx="3931920" cy="256032"/>
          </a:xfrm>
          <a:prstGeom prst="rect">
            <a:avLst/>
          </a:prstGeom>
          <a:noFill/>
          <a:ln/>
        </p:spPr>
        <p:txBody>
          <a:bodyPr wrap="square" lIns="0" tIns="0" rIns="0" bIns="0" rtlCol="0" anchor="ctr"/>
          <a:lstStyle/>
          <a:p>
            <a:pPr marL="0" indent="0">
              <a:buNone/>
            </a:pPr>
            <a:r>
              <a:rPr lang="en-US" sz="1100" b="1">
                <a:solidFill>
                  <a:srgbClr val="4472C4"/>
                </a:solidFill>
                <a:latin typeface="Calibri" pitchFamily="34" charset="0"/>
                <a:ea typeface="Calibri" pitchFamily="34" charset="-122"/>
                <a:cs typeface="Calibri" pitchFamily="34" charset="-120"/>
              </a:rPr>
              <a:t>Engagement Features:</a:t>
            </a:r>
            <a:endParaRPr lang="en-US" sz="1100"/>
          </a:p>
        </p:txBody>
      </p:sp>
      <p:sp>
        <p:nvSpPr>
          <p:cNvPr id="44" name="Shape 42"/>
          <p:cNvSpPr/>
          <p:nvPr/>
        </p:nvSpPr>
        <p:spPr>
          <a:xfrm>
            <a:off x="4754880" y="3291840"/>
            <a:ext cx="91440" cy="91440"/>
          </a:xfrm>
          <a:prstGeom prst="ellipse">
            <a:avLst/>
          </a:prstGeom>
          <a:solidFill>
            <a:srgbClr val="4472C4"/>
          </a:solidFill>
          <a:ln w="12700">
            <a:solidFill>
              <a:srgbClr val="4472C4"/>
            </a:solidFill>
            <a:prstDash val="solid"/>
          </a:ln>
        </p:spPr>
        <p:txBody>
          <a:bodyPr/>
          <a:lstStyle/>
          <a:p>
            <a:endParaRPr lang="en-US"/>
          </a:p>
        </p:txBody>
      </p:sp>
      <p:sp>
        <p:nvSpPr>
          <p:cNvPr id="45" name="Text 43"/>
          <p:cNvSpPr/>
          <p:nvPr/>
        </p:nvSpPr>
        <p:spPr>
          <a:xfrm>
            <a:off x="4919472" y="3227832"/>
            <a:ext cx="3749040" cy="256032"/>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Customer Contacts (12 mo)</a:t>
            </a:r>
            <a:endParaRPr lang="en-US" sz="1000"/>
          </a:p>
        </p:txBody>
      </p:sp>
      <p:sp>
        <p:nvSpPr>
          <p:cNvPr id="46" name="Shape 44"/>
          <p:cNvSpPr/>
          <p:nvPr/>
        </p:nvSpPr>
        <p:spPr>
          <a:xfrm>
            <a:off x="4754880" y="3547872"/>
            <a:ext cx="91440" cy="91440"/>
          </a:xfrm>
          <a:prstGeom prst="ellipse">
            <a:avLst/>
          </a:prstGeom>
          <a:solidFill>
            <a:srgbClr val="4472C4"/>
          </a:solidFill>
          <a:ln w="12700">
            <a:solidFill>
              <a:srgbClr val="4472C4"/>
            </a:solidFill>
            <a:prstDash val="solid"/>
          </a:ln>
        </p:spPr>
        <p:txBody>
          <a:bodyPr/>
          <a:lstStyle/>
          <a:p>
            <a:endParaRPr lang="en-US"/>
          </a:p>
        </p:txBody>
      </p:sp>
      <p:sp>
        <p:nvSpPr>
          <p:cNvPr id="47" name="Text 45"/>
          <p:cNvSpPr/>
          <p:nvPr/>
        </p:nvSpPr>
        <p:spPr>
          <a:xfrm>
            <a:off x="4919472" y="3483864"/>
            <a:ext cx="3749040" cy="256032"/>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Months Inactive (12 mo)</a:t>
            </a:r>
            <a:endParaRPr lang="en-US" sz="1000"/>
          </a:p>
        </p:txBody>
      </p:sp>
      <p:sp>
        <p:nvSpPr>
          <p:cNvPr id="48" name="Shape 46"/>
          <p:cNvSpPr/>
          <p:nvPr/>
        </p:nvSpPr>
        <p:spPr>
          <a:xfrm>
            <a:off x="4754880" y="3803904"/>
            <a:ext cx="91440" cy="91440"/>
          </a:xfrm>
          <a:prstGeom prst="ellipse">
            <a:avLst/>
          </a:prstGeom>
          <a:solidFill>
            <a:srgbClr val="4472C4"/>
          </a:solidFill>
          <a:ln w="12700">
            <a:solidFill>
              <a:srgbClr val="4472C4"/>
            </a:solidFill>
            <a:prstDash val="solid"/>
          </a:ln>
        </p:spPr>
        <p:txBody>
          <a:bodyPr/>
          <a:lstStyle/>
          <a:p>
            <a:endParaRPr lang="en-US"/>
          </a:p>
        </p:txBody>
      </p:sp>
      <p:sp>
        <p:nvSpPr>
          <p:cNvPr id="49" name="Text 47"/>
          <p:cNvSpPr/>
          <p:nvPr/>
        </p:nvSpPr>
        <p:spPr>
          <a:xfrm>
            <a:off x="4919472" y="3739896"/>
            <a:ext cx="3749040" cy="256032"/>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Number of Products Held</a:t>
            </a:r>
            <a:endParaRPr lang="en-US" sz="1000"/>
          </a:p>
        </p:txBody>
      </p:sp>
      <p:sp>
        <p:nvSpPr>
          <p:cNvPr id="50" name="Text 48"/>
          <p:cNvSpPr/>
          <p:nvPr/>
        </p:nvSpPr>
        <p:spPr>
          <a:xfrm>
            <a:off x="7178040" y="1384076"/>
            <a:ext cx="3931920" cy="256032"/>
          </a:xfrm>
          <a:prstGeom prst="rect">
            <a:avLst/>
          </a:prstGeom>
          <a:noFill/>
          <a:ln/>
        </p:spPr>
        <p:txBody>
          <a:bodyPr wrap="square" lIns="0" tIns="0" rIns="0" bIns="0" rtlCol="0" anchor="ctr"/>
          <a:lstStyle/>
          <a:p>
            <a:pPr marL="0" indent="0">
              <a:buNone/>
            </a:pPr>
            <a:r>
              <a:rPr lang="en-US" sz="1100" b="1">
                <a:solidFill>
                  <a:srgbClr val="C0392B"/>
                </a:solidFill>
                <a:latin typeface="Calibri" pitchFamily="34" charset="0"/>
                <a:ea typeface="Calibri" pitchFamily="34" charset="-122"/>
                <a:cs typeface="Calibri" pitchFamily="34" charset="-120"/>
              </a:rPr>
              <a:t>Demographic Features:</a:t>
            </a:r>
            <a:endParaRPr lang="en-US" sz="1100"/>
          </a:p>
        </p:txBody>
      </p:sp>
      <p:sp>
        <p:nvSpPr>
          <p:cNvPr id="51" name="Shape 49"/>
          <p:cNvSpPr/>
          <p:nvPr/>
        </p:nvSpPr>
        <p:spPr>
          <a:xfrm>
            <a:off x="7176115" y="1947672"/>
            <a:ext cx="91440" cy="91440"/>
          </a:xfrm>
          <a:prstGeom prst="ellipse">
            <a:avLst/>
          </a:prstGeom>
          <a:solidFill>
            <a:srgbClr val="C0392B"/>
          </a:solidFill>
          <a:ln w="12700">
            <a:solidFill>
              <a:srgbClr val="C0392B"/>
            </a:solidFill>
            <a:prstDash val="solid"/>
          </a:ln>
        </p:spPr>
        <p:txBody>
          <a:bodyPr/>
          <a:lstStyle/>
          <a:p>
            <a:endParaRPr lang="en-US"/>
          </a:p>
        </p:txBody>
      </p:sp>
      <p:sp>
        <p:nvSpPr>
          <p:cNvPr id="52" name="Text 50"/>
          <p:cNvSpPr/>
          <p:nvPr/>
        </p:nvSpPr>
        <p:spPr>
          <a:xfrm>
            <a:off x="7342632" y="1609344"/>
            <a:ext cx="3749040" cy="256032"/>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Customer Age</a:t>
            </a:r>
            <a:endParaRPr lang="en-US" sz="1000"/>
          </a:p>
        </p:txBody>
      </p:sp>
      <p:sp>
        <p:nvSpPr>
          <p:cNvPr id="53" name="Shape 51"/>
          <p:cNvSpPr/>
          <p:nvPr/>
        </p:nvSpPr>
        <p:spPr>
          <a:xfrm>
            <a:off x="7178040" y="1690400"/>
            <a:ext cx="91440" cy="91440"/>
          </a:xfrm>
          <a:prstGeom prst="ellipse">
            <a:avLst/>
          </a:prstGeom>
          <a:solidFill>
            <a:srgbClr val="C0392B"/>
          </a:solidFill>
          <a:ln w="12700">
            <a:solidFill>
              <a:srgbClr val="C0392B"/>
            </a:solidFill>
            <a:prstDash val="solid"/>
          </a:ln>
        </p:spPr>
        <p:txBody>
          <a:bodyPr/>
          <a:lstStyle/>
          <a:p>
            <a:endParaRPr lang="en-US"/>
          </a:p>
        </p:txBody>
      </p:sp>
      <p:sp>
        <p:nvSpPr>
          <p:cNvPr id="54" name="Text 52"/>
          <p:cNvSpPr/>
          <p:nvPr/>
        </p:nvSpPr>
        <p:spPr>
          <a:xfrm>
            <a:off x="7342632" y="1868985"/>
            <a:ext cx="3749040" cy="256032"/>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Months on Book</a:t>
            </a:r>
            <a:endParaRPr lang="en-US" sz="1000"/>
          </a:p>
        </p:txBody>
      </p:sp>
      <p:sp>
        <p:nvSpPr>
          <p:cNvPr id="55" name="Shape 53"/>
          <p:cNvSpPr/>
          <p:nvPr/>
        </p:nvSpPr>
        <p:spPr>
          <a:xfrm>
            <a:off x="7176115" y="2220247"/>
            <a:ext cx="91440" cy="91440"/>
          </a:xfrm>
          <a:prstGeom prst="ellipse">
            <a:avLst/>
          </a:prstGeom>
          <a:solidFill>
            <a:srgbClr val="C0392B"/>
          </a:solidFill>
          <a:ln w="12700">
            <a:solidFill>
              <a:srgbClr val="C0392B"/>
            </a:solidFill>
            <a:prstDash val="solid"/>
          </a:ln>
        </p:spPr>
        <p:txBody>
          <a:bodyPr/>
          <a:lstStyle/>
          <a:p>
            <a:endParaRPr lang="en-US"/>
          </a:p>
        </p:txBody>
      </p:sp>
      <p:sp>
        <p:nvSpPr>
          <p:cNvPr id="56" name="Text 54"/>
          <p:cNvSpPr/>
          <p:nvPr/>
        </p:nvSpPr>
        <p:spPr>
          <a:xfrm>
            <a:off x="7342632" y="2136206"/>
            <a:ext cx="3749040" cy="256032"/>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Dependent Count</a:t>
            </a:r>
            <a:endParaRPr lang="en-US" sz="1000"/>
          </a:p>
        </p:txBody>
      </p:sp>
      <p:sp>
        <p:nvSpPr>
          <p:cNvPr id="57" name="Text 55"/>
          <p:cNvSpPr/>
          <p:nvPr/>
        </p:nvSpPr>
        <p:spPr>
          <a:xfrm>
            <a:off x="7178040" y="2971319"/>
            <a:ext cx="3931920" cy="256032"/>
          </a:xfrm>
          <a:prstGeom prst="rect">
            <a:avLst/>
          </a:prstGeom>
          <a:noFill/>
          <a:ln/>
        </p:spPr>
        <p:txBody>
          <a:bodyPr wrap="square" lIns="0" tIns="0" rIns="0" bIns="0" rtlCol="0" anchor="ctr"/>
          <a:lstStyle/>
          <a:p>
            <a:pPr marL="0" indent="0">
              <a:buNone/>
            </a:pPr>
            <a:r>
              <a:rPr lang="en-US" sz="1100" b="1">
                <a:solidFill>
                  <a:srgbClr val="4472C4"/>
                </a:solidFill>
                <a:latin typeface="Calibri" pitchFamily="34" charset="0"/>
                <a:ea typeface="Calibri" pitchFamily="34" charset="-122"/>
                <a:cs typeface="Calibri" pitchFamily="34" charset="-120"/>
              </a:rPr>
              <a:t>Financial Features:</a:t>
            </a:r>
            <a:endParaRPr lang="en-US" sz="1100"/>
          </a:p>
        </p:txBody>
      </p:sp>
      <p:sp>
        <p:nvSpPr>
          <p:cNvPr id="58" name="Shape 56"/>
          <p:cNvSpPr/>
          <p:nvPr/>
        </p:nvSpPr>
        <p:spPr>
          <a:xfrm>
            <a:off x="7176115" y="3314700"/>
            <a:ext cx="91440" cy="91440"/>
          </a:xfrm>
          <a:prstGeom prst="ellipse">
            <a:avLst/>
          </a:prstGeom>
          <a:solidFill>
            <a:srgbClr val="4472C4"/>
          </a:solidFill>
          <a:ln w="12700">
            <a:solidFill>
              <a:srgbClr val="4472C4"/>
            </a:solidFill>
            <a:prstDash val="solid"/>
          </a:ln>
        </p:spPr>
        <p:txBody>
          <a:bodyPr/>
          <a:lstStyle/>
          <a:p>
            <a:endParaRPr lang="en-US"/>
          </a:p>
        </p:txBody>
      </p:sp>
      <p:sp>
        <p:nvSpPr>
          <p:cNvPr id="59" name="Text 57"/>
          <p:cNvSpPr/>
          <p:nvPr/>
        </p:nvSpPr>
        <p:spPr>
          <a:xfrm>
            <a:off x="7342632" y="3227832"/>
            <a:ext cx="3749040" cy="256032"/>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Credit Limit</a:t>
            </a:r>
            <a:endParaRPr lang="en-US" sz="1000"/>
          </a:p>
        </p:txBody>
      </p:sp>
      <p:sp>
        <p:nvSpPr>
          <p:cNvPr id="61" name="Text 59"/>
          <p:cNvSpPr/>
          <p:nvPr/>
        </p:nvSpPr>
        <p:spPr>
          <a:xfrm>
            <a:off x="7342632" y="3418894"/>
            <a:ext cx="3749040" cy="256032"/>
          </a:xfrm>
          <a:prstGeom prst="rect">
            <a:avLst/>
          </a:prstGeom>
          <a:noFill/>
          <a:ln/>
        </p:spPr>
        <p:txBody>
          <a:bodyPr wrap="square" lIns="0" tIns="0" rIns="0" bIns="0" rtlCol="0" anchor="ctr"/>
          <a:lstStyle/>
          <a:p>
            <a:pPr marL="0" indent="0">
              <a:buNone/>
            </a:pPr>
            <a:endParaRPr lang="en-US"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F1F3D"/>
          </a:solidFill>
          <a:ln w="12700">
            <a:solidFill>
              <a:srgbClr val="0F1F3D"/>
            </a:solidFill>
            <a:prstDash val="solid"/>
          </a:ln>
        </p:spPr>
        <p:txBody>
          <a:bodyPr/>
          <a:lstStyle/>
          <a:p>
            <a:endParaRPr lang="en-US"/>
          </a:p>
        </p:txBody>
      </p:sp>
      <p:sp>
        <p:nvSpPr>
          <p:cNvPr id="3" name="Text 1"/>
          <p:cNvSpPr/>
          <p:nvPr/>
        </p:nvSpPr>
        <p:spPr>
          <a:xfrm>
            <a:off x="411480" y="91440"/>
            <a:ext cx="8229600" cy="54864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EDA Approach</a:t>
            </a:r>
            <a:endParaRPr lang="en-US" sz="2200"/>
          </a:p>
        </p:txBody>
      </p:sp>
      <p:sp>
        <p:nvSpPr>
          <p:cNvPr id="4" name="Shape 2"/>
          <p:cNvSpPr/>
          <p:nvPr/>
        </p:nvSpPr>
        <p:spPr>
          <a:xfrm>
            <a:off x="320040" y="868680"/>
            <a:ext cx="4160520" cy="89611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320040" y="868680"/>
            <a:ext cx="384048" cy="896112"/>
          </a:xfrm>
          <a:prstGeom prst="rect">
            <a:avLst/>
          </a:prstGeom>
          <a:solidFill>
            <a:srgbClr val="4472C4"/>
          </a:solidFill>
          <a:ln w="12700">
            <a:solidFill>
              <a:srgbClr val="4472C4"/>
            </a:solidFill>
            <a:prstDash val="solid"/>
          </a:ln>
        </p:spPr>
        <p:txBody>
          <a:bodyPr/>
          <a:lstStyle/>
          <a:p>
            <a:endParaRPr lang="en-US"/>
          </a:p>
        </p:txBody>
      </p:sp>
      <p:sp>
        <p:nvSpPr>
          <p:cNvPr id="6" name="Text 4"/>
          <p:cNvSpPr/>
          <p:nvPr/>
        </p:nvSpPr>
        <p:spPr>
          <a:xfrm>
            <a:off x="320040" y="868680"/>
            <a:ext cx="384048" cy="896112"/>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01</a:t>
            </a:r>
            <a:endParaRPr lang="en-US" sz="1200"/>
          </a:p>
        </p:txBody>
      </p:sp>
      <p:sp>
        <p:nvSpPr>
          <p:cNvPr id="7" name="Text 5"/>
          <p:cNvSpPr/>
          <p:nvPr/>
        </p:nvSpPr>
        <p:spPr>
          <a:xfrm>
            <a:off x="795528" y="941832"/>
            <a:ext cx="3566160" cy="292608"/>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Target Distribution</a:t>
            </a:r>
            <a:endParaRPr lang="en-US" sz="1200"/>
          </a:p>
        </p:txBody>
      </p:sp>
      <p:sp>
        <p:nvSpPr>
          <p:cNvPr id="8" name="Text 6"/>
          <p:cNvSpPr/>
          <p:nvPr/>
        </p:nvSpPr>
        <p:spPr>
          <a:xfrm>
            <a:off x="795528" y="1252728"/>
            <a:ext cx="3566160" cy="438912"/>
          </a:xfrm>
          <a:prstGeom prst="rect">
            <a:avLst/>
          </a:prstGeom>
          <a:noFill/>
          <a:ln/>
        </p:spPr>
        <p:txBody>
          <a:bodyPr wrap="square" lIns="0" tIns="0" rIns="0" bIns="0" rtlCol="0" anchor="ctr"/>
          <a:lstStyle/>
          <a:p>
            <a:pPr marL="0" indent="0">
              <a:buNone/>
            </a:pPr>
            <a:r>
              <a:rPr lang="en-US" sz="950">
                <a:solidFill>
                  <a:srgbClr val="334155"/>
                </a:solidFill>
                <a:latin typeface="Calibri" pitchFamily="34" charset="0"/>
                <a:ea typeface="Calibri" pitchFamily="34" charset="-122"/>
                <a:cs typeface="Calibri" pitchFamily="34" charset="-120"/>
              </a:rPr>
              <a:t>Examined 83.9/16.1% class imbalance — confirmed need for balanced modeling and recall-focused evaluation</a:t>
            </a:r>
            <a:endParaRPr lang="en-US" sz="950"/>
          </a:p>
        </p:txBody>
      </p:sp>
      <p:sp>
        <p:nvSpPr>
          <p:cNvPr id="9" name="Shape 7"/>
          <p:cNvSpPr/>
          <p:nvPr/>
        </p:nvSpPr>
        <p:spPr>
          <a:xfrm>
            <a:off x="4754880" y="868680"/>
            <a:ext cx="4160520" cy="89611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4754880" y="868680"/>
            <a:ext cx="384048" cy="896112"/>
          </a:xfrm>
          <a:prstGeom prst="rect">
            <a:avLst/>
          </a:prstGeom>
          <a:solidFill>
            <a:srgbClr val="4472C4"/>
          </a:solidFill>
          <a:ln w="12700">
            <a:solidFill>
              <a:srgbClr val="4472C4"/>
            </a:solidFill>
            <a:prstDash val="solid"/>
          </a:ln>
        </p:spPr>
        <p:txBody>
          <a:bodyPr/>
          <a:lstStyle/>
          <a:p>
            <a:endParaRPr lang="en-US"/>
          </a:p>
        </p:txBody>
      </p:sp>
      <p:sp>
        <p:nvSpPr>
          <p:cNvPr id="11" name="Text 9"/>
          <p:cNvSpPr/>
          <p:nvPr/>
        </p:nvSpPr>
        <p:spPr>
          <a:xfrm>
            <a:off x="4754880" y="868680"/>
            <a:ext cx="384048" cy="896112"/>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02</a:t>
            </a:r>
            <a:endParaRPr lang="en-US" sz="1200"/>
          </a:p>
        </p:txBody>
      </p:sp>
      <p:sp>
        <p:nvSpPr>
          <p:cNvPr id="12" name="Text 10"/>
          <p:cNvSpPr/>
          <p:nvPr/>
        </p:nvSpPr>
        <p:spPr>
          <a:xfrm>
            <a:off x="5230368" y="941832"/>
            <a:ext cx="3566160" cy="292608"/>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All 14 Numeric Features</a:t>
            </a:r>
            <a:endParaRPr lang="en-US" sz="1200"/>
          </a:p>
        </p:txBody>
      </p:sp>
      <p:sp>
        <p:nvSpPr>
          <p:cNvPr id="13" name="Text 11"/>
          <p:cNvSpPr/>
          <p:nvPr/>
        </p:nvSpPr>
        <p:spPr>
          <a:xfrm>
            <a:off x="5230368" y="1252728"/>
            <a:ext cx="3566160" cy="438912"/>
          </a:xfrm>
          <a:prstGeom prst="rect">
            <a:avLst/>
          </a:prstGeom>
          <a:noFill/>
          <a:ln/>
        </p:spPr>
        <p:txBody>
          <a:bodyPr wrap="square" lIns="0" tIns="0" rIns="0" bIns="0" rtlCol="0" anchor="ctr"/>
          <a:lstStyle/>
          <a:p>
            <a:pPr marL="0" indent="0">
              <a:buNone/>
            </a:pPr>
            <a:r>
              <a:rPr lang="en-US" sz="950">
                <a:solidFill>
                  <a:srgbClr val="334155"/>
                </a:solidFill>
                <a:latin typeface="Calibri" pitchFamily="34" charset="0"/>
                <a:ea typeface="Calibri" pitchFamily="34" charset="-122"/>
                <a:cs typeface="Calibri" pitchFamily="34" charset="-120"/>
              </a:rPr>
              <a:t>Histograms for every numeric feature split by churn status — revealing which features separate the classes</a:t>
            </a:r>
            <a:endParaRPr lang="en-US" sz="950"/>
          </a:p>
        </p:txBody>
      </p:sp>
      <p:sp>
        <p:nvSpPr>
          <p:cNvPr id="14" name="Shape 12"/>
          <p:cNvSpPr/>
          <p:nvPr/>
        </p:nvSpPr>
        <p:spPr>
          <a:xfrm>
            <a:off x="320040" y="1892808"/>
            <a:ext cx="4160520" cy="89611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5" name="Shape 13"/>
          <p:cNvSpPr/>
          <p:nvPr/>
        </p:nvSpPr>
        <p:spPr>
          <a:xfrm>
            <a:off x="320040" y="1892808"/>
            <a:ext cx="384048" cy="896112"/>
          </a:xfrm>
          <a:prstGeom prst="rect">
            <a:avLst/>
          </a:prstGeom>
          <a:solidFill>
            <a:srgbClr val="4472C4"/>
          </a:solidFill>
          <a:ln w="12700">
            <a:solidFill>
              <a:srgbClr val="4472C4"/>
            </a:solidFill>
            <a:prstDash val="solid"/>
          </a:ln>
        </p:spPr>
        <p:txBody>
          <a:bodyPr/>
          <a:lstStyle/>
          <a:p>
            <a:endParaRPr lang="en-US"/>
          </a:p>
        </p:txBody>
      </p:sp>
      <p:sp>
        <p:nvSpPr>
          <p:cNvPr id="16" name="Text 14"/>
          <p:cNvSpPr/>
          <p:nvPr/>
        </p:nvSpPr>
        <p:spPr>
          <a:xfrm>
            <a:off x="320040" y="1892808"/>
            <a:ext cx="384048" cy="896112"/>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03</a:t>
            </a:r>
            <a:endParaRPr lang="en-US" sz="1200"/>
          </a:p>
        </p:txBody>
      </p:sp>
      <p:sp>
        <p:nvSpPr>
          <p:cNvPr id="17" name="Text 15"/>
          <p:cNvSpPr/>
          <p:nvPr/>
        </p:nvSpPr>
        <p:spPr>
          <a:xfrm>
            <a:off x="795528" y="1965960"/>
            <a:ext cx="3566160" cy="292608"/>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Bimodal Investigation</a:t>
            </a:r>
            <a:endParaRPr lang="en-US" sz="1200"/>
          </a:p>
        </p:txBody>
      </p:sp>
      <p:sp>
        <p:nvSpPr>
          <p:cNvPr id="18" name="Text 16"/>
          <p:cNvSpPr/>
          <p:nvPr/>
        </p:nvSpPr>
        <p:spPr>
          <a:xfrm>
            <a:off x="795528" y="2276856"/>
            <a:ext cx="3566160" cy="438912"/>
          </a:xfrm>
          <a:prstGeom prst="rect">
            <a:avLst/>
          </a:prstGeom>
          <a:noFill/>
          <a:ln/>
        </p:spPr>
        <p:txBody>
          <a:bodyPr wrap="square" lIns="0" tIns="0" rIns="0" bIns="0" rtlCol="0" anchor="ctr"/>
          <a:lstStyle/>
          <a:p>
            <a:pPr marL="0" indent="0">
              <a:buNone/>
            </a:pPr>
            <a:r>
              <a:rPr lang="en-US" sz="950">
                <a:solidFill>
                  <a:srgbClr val="334155"/>
                </a:solidFill>
                <a:latin typeface="Calibri" pitchFamily="34" charset="0"/>
                <a:ea typeface="Calibri" pitchFamily="34" charset="-122"/>
                <a:cs typeface="Calibri" pitchFamily="34" charset="-120"/>
              </a:rPr>
              <a:t>Identified two distinct behavioral segments in existing customers based on transaction count distribution</a:t>
            </a:r>
            <a:endParaRPr lang="en-US" sz="950"/>
          </a:p>
        </p:txBody>
      </p:sp>
      <p:sp>
        <p:nvSpPr>
          <p:cNvPr id="19" name="Shape 17"/>
          <p:cNvSpPr/>
          <p:nvPr/>
        </p:nvSpPr>
        <p:spPr>
          <a:xfrm>
            <a:off x="4754880" y="1892808"/>
            <a:ext cx="4160520" cy="89611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0" name="Shape 18"/>
          <p:cNvSpPr/>
          <p:nvPr/>
        </p:nvSpPr>
        <p:spPr>
          <a:xfrm>
            <a:off x="4754880" y="1892808"/>
            <a:ext cx="384048" cy="896112"/>
          </a:xfrm>
          <a:prstGeom prst="rect">
            <a:avLst/>
          </a:prstGeom>
          <a:solidFill>
            <a:srgbClr val="4472C4"/>
          </a:solidFill>
          <a:ln w="12700">
            <a:solidFill>
              <a:srgbClr val="4472C4"/>
            </a:solidFill>
            <a:prstDash val="solid"/>
          </a:ln>
        </p:spPr>
        <p:txBody>
          <a:bodyPr/>
          <a:lstStyle/>
          <a:p>
            <a:endParaRPr lang="en-US"/>
          </a:p>
        </p:txBody>
      </p:sp>
      <p:sp>
        <p:nvSpPr>
          <p:cNvPr id="21" name="Text 19"/>
          <p:cNvSpPr/>
          <p:nvPr/>
        </p:nvSpPr>
        <p:spPr>
          <a:xfrm>
            <a:off x="4754880" y="1892808"/>
            <a:ext cx="384048" cy="896112"/>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04</a:t>
            </a:r>
            <a:endParaRPr lang="en-US" sz="1200"/>
          </a:p>
        </p:txBody>
      </p:sp>
      <p:sp>
        <p:nvSpPr>
          <p:cNvPr id="22" name="Text 20"/>
          <p:cNvSpPr/>
          <p:nvPr/>
        </p:nvSpPr>
        <p:spPr>
          <a:xfrm>
            <a:off x="5230368" y="1965960"/>
            <a:ext cx="3566160" cy="292608"/>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Segment Profiling</a:t>
            </a:r>
            <a:endParaRPr lang="en-US" sz="1200"/>
          </a:p>
        </p:txBody>
      </p:sp>
      <p:sp>
        <p:nvSpPr>
          <p:cNvPr id="23" name="Text 21"/>
          <p:cNvSpPr/>
          <p:nvPr/>
        </p:nvSpPr>
        <p:spPr>
          <a:xfrm>
            <a:off x="5230368" y="2276856"/>
            <a:ext cx="3566160" cy="438912"/>
          </a:xfrm>
          <a:prstGeom prst="rect">
            <a:avLst/>
          </a:prstGeom>
          <a:noFill/>
          <a:ln/>
        </p:spPr>
        <p:txBody>
          <a:bodyPr wrap="square" lIns="0" tIns="0" rIns="0" bIns="0" rtlCol="0" anchor="ctr"/>
          <a:lstStyle/>
          <a:p>
            <a:pPr marL="0" indent="0">
              <a:buNone/>
            </a:pPr>
            <a:r>
              <a:rPr lang="en-US" sz="950">
                <a:solidFill>
                  <a:srgbClr val="334155"/>
                </a:solidFill>
                <a:latin typeface="Calibri" pitchFamily="34" charset="0"/>
                <a:ea typeface="Calibri" pitchFamily="34" charset="-122"/>
                <a:cs typeface="Calibri" pitchFamily="34" charset="-120"/>
              </a:rPr>
              <a:t>Split existing customers into High-Volume (60+) and Low-Volume (&lt;60) — compared 11 features across segments</a:t>
            </a:r>
            <a:endParaRPr lang="en-US" sz="950"/>
          </a:p>
        </p:txBody>
      </p:sp>
      <p:sp>
        <p:nvSpPr>
          <p:cNvPr id="24" name="Shape 22"/>
          <p:cNvSpPr/>
          <p:nvPr/>
        </p:nvSpPr>
        <p:spPr>
          <a:xfrm>
            <a:off x="320040" y="2916936"/>
            <a:ext cx="4160520" cy="89611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5" name="Shape 23"/>
          <p:cNvSpPr/>
          <p:nvPr/>
        </p:nvSpPr>
        <p:spPr>
          <a:xfrm>
            <a:off x="320040" y="2916936"/>
            <a:ext cx="384048" cy="896112"/>
          </a:xfrm>
          <a:prstGeom prst="rect">
            <a:avLst/>
          </a:prstGeom>
          <a:solidFill>
            <a:srgbClr val="4472C4"/>
          </a:solidFill>
          <a:ln w="12700">
            <a:solidFill>
              <a:srgbClr val="4472C4"/>
            </a:solidFill>
            <a:prstDash val="solid"/>
          </a:ln>
        </p:spPr>
        <p:txBody>
          <a:bodyPr/>
          <a:lstStyle/>
          <a:p>
            <a:endParaRPr lang="en-US"/>
          </a:p>
        </p:txBody>
      </p:sp>
      <p:sp>
        <p:nvSpPr>
          <p:cNvPr id="26" name="Text 24"/>
          <p:cNvSpPr/>
          <p:nvPr/>
        </p:nvSpPr>
        <p:spPr>
          <a:xfrm>
            <a:off x="320040" y="2916936"/>
            <a:ext cx="384048" cy="896112"/>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05</a:t>
            </a:r>
            <a:endParaRPr lang="en-US" sz="1200"/>
          </a:p>
        </p:txBody>
      </p:sp>
      <p:sp>
        <p:nvSpPr>
          <p:cNvPr id="27" name="Text 25"/>
          <p:cNvSpPr/>
          <p:nvPr/>
        </p:nvSpPr>
        <p:spPr>
          <a:xfrm>
            <a:off x="795528" y="2990088"/>
            <a:ext cx="3566160" cy="292608"/>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Categorical Analysis</a:t>
            </a:r>
            <a:endParaRPr lang="en-US" sz="1200"/>
          </a:p>
        </p:txBody>
      </p:sp>
      <p:sp>
        <p:nvSpPr>
          <p:cNvPr id="28" name="Text 26"/>
          <p:cNvSpPr/>
          <p:nvPr/>
        </p:nvSpPr>
        <p:spPr>
          <a:xfrm>
            <a:off x="795528" y="3300984"/>
            <a:ext cx="3566160" cy="438912"/>
          </a:xfrm>
          <a:prstGeom prst="rect">
            <a:avLst/>
          </a:prstGeom>
          <a:noFill/>
          <a:ln/>
        </p:spPr>
        <p:txBody>
          <a:bodyPr wrap="square" lIns="0" tIns="0" rIns="0" bIns="0" rtlCol="0" anchor="ctr"/>
          <a:lstStyle/>
          <a:p>
            <a:pPr marL="0" indent="0">
              <a:buNone/>
            </a:pPr>
            <a:r>
              <a:rPr lang="en-US" sz="950">
                <a:solidFill>
                  <a:srgbClr val="334155"/>
                </a:solidFill>
                <a:latin typeface="Calibri" pitchFamily="34" charset="0"/>
                <a:ea typeface="Calibri" pitchFamily="34" charset="-122"/>
                <a:cs typeface="Calibri" pitchFamily="34" charset="-120"/>
              </a:rPr>
              <a:t>Churn rates across all 6 categorical features with customer counts — identifying highest-risk groups</a:t>
            </a:r>
            <a:endParaRPr lang="en-US" sz="950"/>
          </a:p>
        </p:txBody>
      </p:sp>
      <p:sp>
        <p:nvSpPr>
          <p:cNvPr id="29" name="Shape 27"/>
          <p:cNvSpPr/>
          <p:nvPr/>
        </p:nvSpPr>
        <p:spPr>
          <a:xfrm>
            <a:off x="4787874" y="2898648"/>
            <a:ext cx="4160520" cy="89611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30" name="Shape 28"/>
          <p:cNvSpPr/>
          <p:nvPr/>
        </p:nvSpPr>
        <p:spPr>
          <a:xfrm>
            <a:off x="4754880" y="2916936"/>
            <a:ext cx="384048" cy="896112"/>
          </a:xfrm>
          <a:prstGeom prst="rect">
            <a:avLst/>
          </a:prstGeom>
          <a:solidFill>
            <a:srgbClr val="4472C4"/>
          </a:solidFill>
          <a:ln w="12700">
            <a:solidFill>
              <a:srgbClr val="4472C4"/>
            </a:solidFill>
            <a:prstDash val="solid"/>
          </a:ln>
        </p:spPr>
        <p:txBody>
          <a:bodyPr/>
          <a:lstStyle/>
          <a:p>
            <a:endParaRPr lang="en-US"/>
          </a:p>
        </p:txBody>
      </p:sp>
      <p:sp>
        <p:nvSpPr>
          <p:cNvPr id="31" name="Text 29"/>
          <p:cNvSpPr/>
          <p:nvPr/>
        </p:nvSpPr>
        <p:spPr>
          <a:xfrm>
            <a:off x="4754880" y="2916936"/>
            <a:ext cx="384048" cy="896112"/>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06</a:t>
            </a:r>
            <a:endParaRPr lang="en-US" sz="1200"/>
          </a:p>
        </p:txBody>
      </p:sp>
      <p:sp>
        <p:nvSpPr>
          <p:cNvPr id="32" name="Text 30"/>
          <p:cNvSpPr/>
          <p:nvPr/>
        </p:nvSpPr>
        <p:spPr>
          <a:xfrm>
            <a:off x="5230368" y="2990088"/>
            <a:ext cx="3566160" cy="292608"/>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Correlation Heatmap</a:t>
            </a:r>
            <a:endParaRPr lang="en-US" sz="1200"/>
          </a:p>
        </p:txBody>
      </p:sp>
      <p:sp>
        <p:nvSpPr>
          <p:cNvPr id="33" name="Text 31"/>
          <p:cNvSpPr/>
          <p:nvPr/>
        </p:nvSpPr>
        <p:spPr>
          <a:xfrm>
            <a:off x="5230368" y="3300984"/>
            <a:ext cx="3566160" cy="438912"/>
          </a:xfrm>
          <a:prstGeom prst="rect">
            <a:avLst/>
          </a:prstGeom>
          <a:noFill/>
          <a:ln/>
        </p:spPr>
        <p:txBody>
          <a:bodyPr wrap="square" lIns="0" tIns="0" rIns="0" bIns="0" rtlCol="0" anchor="ctr"/>
          <a:lstStyle/>
          <a:p>
            <a:pPr marL="0" indent="0">
              <a:buNone/>
            </a:pPr>
            <a:r>
              <a:rPr lang="en-US" sz="950">
                <a:solidFill>
                  <a:srgbClr val="334155"/>
                </a:solidFill>
                <a:latin typeface="Calibri" pitchFamily="34" charset="0"/>
                <a:ea typeface="Calibri" pitchFamily="34" charset="-122"/>
                <a:cs typeface="Calibri" pitchFamily="34" charset="-120"/>
              </a:rPr>
              <a:t>Detected feature redundancy (Credit Limit / Available Credit r=0.99) and strongest churn correlations</a:t>
            </a:r>
            <a:endParaRPr lang="en-US" sz="950"/>
          </a:p>
        </p:txBody>
      </p:sp>
      <p:sp>
        <p:nvSpPr>
          <p:cNvPr id="34" name="Shape 32"/>
          <p:cNvSpPr/>
          <p:nvPr/>
        </p:nvSpPr>
        <p:spPr>
          <a:xfrm>
            <a:off x="320040" y="3941064"/>
            <a:ext cx="4160520" cy="89611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35" name="Shape 33"/>
          <p:cNvSpPr/>
          <p:nvPr/>
        </p:nvSpPr>
        <p:spPr>
          <a:xfrm>
            <a:off x="320040" y="3941064"/>
            <a:ext cx="384048" cy="896112"/>
          </a:xfrm>
          <a:prstGeom prst="rect">
            <a:avLst/>
          </a:prstGeom>
          <a:solidFill>
            <a:srgbClr val="4472C4"/>
          </a:solidFill>
          <a:ln w="12700">
            <a:solidFill>
              <a:srgbClr val="4472C4"/>
            </a:solidFill>
            <a:prstDash val="solid"/>
          </a:ln>
        </p:spPr>
        <p:txBody>
          <a:bodyPr/>
          <a:lstStyle/>
          <a:p>
            <a:endParaRPr lang="en-US"/>
          </a:p>
        </p:txBody>
      </p:sp>
      <p:sp>
        <p:nvSpPr>
          <p:cNvPr id="36" name="Text 34"/>
          <p:cNvSpPr/>
          <p:nvPr/>
        </p:nvSpPr>
        <p:spPr>
          <a:xfrm>
            <a:off x="320040" y="3941064"/>
            <a:ext cx="384048" cy="896112"/>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07</a:t>
            </a:r>
            <a:endParaRPr lang="en-US" sz="1200"/>
          </a:p>
        </p:txBody>
      </p:sp>
      <p:sp>
        <p:nvSpPr>
          <p:cNvPr id="37" name="Text 35"/>
          <p:cNvSpPr/>
          <p:nvPr/>
        </p:nvSpPr>
        <p:spPr>
          <a:xfrm>
            <a:off x="795528" y="4014216"/>
            <a:ext cx="3566160" cy="292608"/>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Statistical T-Tests</a:t>
            </a:r>
            <a:endParaRPr lang="en-US" sz="1200"/>
          </a:p>
        </p:txBody>
      </p:sp>
      <p:sp>
        <p:nvSpPr>
          <p:cNvPr id="38" name="Text 36"/>
          <p:cNvSpPr/>
          <p:nvPr/>
        </p:nvSpPr>
        <p:spPr>
          <a:xfrm>
            <a:off x="795528" y="4325112"/>
            <a:ext cx="3566160" cy="438912"/>
          </a:xfrm>
          <a:prstGeom prst="rect">
            <a:avLst/>
          </a:prstGeom>
          <a:noFill/>
          <a:ln/>
        </p:spPr>
        <p:txBody>
          <a:bodyPr wrap="square" lIns="0" tIns="0" rIns="0" bIns="0" rtlCol="0" anchor="ctr"/>
          <a:lstStyle/>
          <a:p>
            <a:pPr marL="0" indent="0">
              <a:buNone/>
            </a:pPr>
            <a:r>
              <a:rPr lang="en-US" sz="950">
                <a:solidFill>
                  <a:srgbClr val="334155"/>
                </a:solidFill>
                <a:latin typeface="Calibri" pitchFamily="34" charset="0"/>
                <a:ea typeface="Calibri" pitchFamily="34" charset="-122"/>
                <a:cs typeface="Calibri" pitchFamily="34" charset="-120"/>
              </a:rPr>
              <a:t>Confirmed statistical significance (p&lt;0.0001) for all behavioral features — ruled out demographic predictors</a:t>
            </a:r>
            <a:endParaRPr lang="en-US" sz="950"/>
          </a:p>
        </p:txBody>
      </p:sp>
      <p:sp>
        <p:nvSpPr>
          <p:cNvPr id="39" name="Shape 37"/>
          <p:cNvSpPr/>
          <p:nvPr/>
        </p:nvSpPr>
        <p:spPr>
          <a:xfrm>
            <a:off x="4754880" y="3941064"/>
            <a:ext cx="4160520" cy="89611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40" name="Shape 38"/>
          <p:cNvSpPr/>
          <p:nvPr/>
        </p:nvSpPr>
        <p:spPr>
          <a:xfrm>
            <a:off x="4754880" y="3941064"/>
            <a:ext cx="384048" cy="896112"/>
          </a:xfrm>
          <a:prstGeom prst="rect">
            <a:avLst/>
          </a:prstGeom>
          <a:solidFill>
            <a:srgbClr val="4472C4"/>
          </a:solidFill>
          <a:ln w="12700">
            <a:solidFill>
              <a:srgbClr val="4472C4"/>
            </a:solidFill>
            <a:prstDash val="solid"/>
          </a:ln>
        </p:spPr>
        <p:txBody>
          <a:bodyPr/>
          <a:lstStyle/>
          <a:p>
            <a:endParaRPr lang="en-US"/>
          </a:p>
        </p:txBody>
      </p:sp>
      <p:sp>
        <p:nvSpPr>
          <p:cNvPr id="41" name="Text 39"/>
          <p:cNvSpPr/>
          <p:nvPr/>
        </p:nvSpPr>
        <p:spPr>
          <a:xfrm>
            <a:off x="4754880" y="3941064"/>
            <a:ext cx="384048" cy="896112"/>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08</a:t>
            </a:r>
            <a:endParaRPr lang="en-US" sz="1200"/>
          </a:p>
        </p:txBody>
      </p:sp>
      <p:sp>
        <p:nvSpPr>
          <p:cNvPr id="42" name="Text 40"/>
          <p:cNvSpPr/>
          <p:nvPr/>
        </p:nvSpPr>
        <p:spPr>
          <a:xfrm>
            <a:off x="5230368" y="4014216"/>
            <a:ext cx="3566160" cy="292608"/>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Mutual Information</a:t>
            </a:r>
            <a:endParaRPr lang="en-US" sz="1200"/>
          </a:p>
        </p:txBody>
      </p:sp>
      <p:sp>
        <p:nvSpPr>
          <p:cNvPr id="43" name="Text 41"/>
          <p:cNvSpPr/>
          <p:nvPr/>
        </p:nvSpPr>
        <p:spPr>
          <a:xfrm>
            <a:off x="5230368" y="4325112"/>
            <a:ext cx="3566160" cy="438912"/>
          </a:xfrm>
          <a:prstGeom prst="rect">
            <a:avLst/>
          </a:prstGeom>
          <a:noFill/>
          <a:ln/>
        </p:spPr>
        <p:txBody>
          <a:bodyPr wrap="square" lIns="0" tIns="0" rIns="0" bIns="0" rtlCol="0" anchor="ctr"/>
          <a:lstStyle/>
          <a:p>
            <a:pPr marL="0" indent="0">
              <a:buNone/>
            </a:pPr>
            <a:r>
              <a:rPr lang="en-US" sz="950">
                <a:solidFill>
                  <a:srgbClr val="334155"/>
                </a:solidFill>
                <a:latin typeface="Calibri" pitchFamily="34" charset="0"/>
                <a:ea typeface="Calibri" pitchFamily="34" charset="-122"/>
                <a:cs typeface="Calibri" pitchFamily="34" charset="-120"/>
              </a:rPr>
              <a:t>Ranked all features by information content — confirmed behavioral features dominate categorical ones</a:t>
            </a:r>
            <a:endParaRPr lang="en-US" sz="9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F1F3D"/>
          </a:solidFill>
          <a:ln w="12700">
            <a:solidFill>
              <a:srgbClr val="0F1F3D"/>
            </a:solidFill>
            <a:prstDash val="solid"/>
          </a:ln>
        </p:spPr>
        <p:txBody>
          <a:bodyPr/>
          <a:lstStyle/>
          <a:p>
            <a:endParaRPr lang="en-US"/>
          </a:p>
        </p:txBody>
      </p:sp>
      <p:sp>
        <p:nvSpPr>
          <p:cNvPr id="3" name="Text 1"/>
          <p:cNvSpPr/>
          <p:nvPr/>
        </p:nvSpPr>
        <p:spPr>
          <a:xfrm>
            <a:off x="411480" y="91440"/>
            <a:ext cx="8229600" cy="54864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Key Behavioral Insights</a:t>
            </a:r>
            <a:endParaRPr lang="en-US" sz="2200"/>
          </a:p>
        </p:txBody>
      </p:sp>
      <p:sp>
        <p:nvSpPr>
          <p:cNvPr id="4" name="Shape 2"/>
          <p:cNvSpPr/>
          <p:nvPr/>
        </p:nvSpPr>
        <p:spPr>
          <a:xfrm>
            <a:off x="320040" y="822960"/>
            <a:ext cx="2697480" cy="1234440"/>
          </a:xfrm>
          <a:prstGeom prst="rect">
            <a:avLst/>
          </a:prstGeom>
          <a:solidFill>
            <a:srgbClr val="0F1F3D"/>
          </a:solidFill>
          <a:ln w="12700">
            <a:solidFill>
              <a:srgbClr val="0F1F3D"/>
            </a:solidFill>
            <a:prstDash val="solid"/>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320040" y="868680"/>
            <a:ext cx="2697480" cy="658368"/>
          </a:xfrm>
          <a:prstGeom prst="rect">
            <a:avLst/>
          </a:prstGeom>
          <a:noFill/>
          <a:ln/>
        </p:spPr>
        <p:txBody>
          <a:bodyPr wrap="square" lIns="0" tIns="0" rIns="0" bIns="0" rtlCol="0" anchor="ctr"/>
          <a:lstStyle/>
          <a:p>
            <a:pPr marL="0" indent="0" algn="ctr">
              <a:buNone/>
            </a:pPr>
            <a:r>
              <a:rPr lang="en-US" sz="2000" b="1">
                <a:solidFill>
                  <a:srgbClr val="7BA7D4"/>
                </a:solidFill>
                <a:latin typeface="Calibri" pitchFamily="34" charset="0"/>
                <a:ea typeface="Calibri" pitchFamily="34" charset="-122"/>
                <a:cs typeface="Calibri" pitchFamily="34" charset="-120"/>
              </a:rPr>
              <a:t>45 vs 69</a:t>
            </a:r>
            <a:endParaRPr lang="en-US" sz="2000"/>
          </a:p>
        </p:txBody>
      </p:sp>
      <p:sp>
        <p:nvSpPr>
          <p:cNvPr id="6" name="Text 4"/>
          <p:cNvSpPr/>
          <p:nvPr/>
        </p:nvSpPr>
        <p:spPr>
          <a:xfrm>
            <a:off x="320040" y="1463040"/>
            <a:ext cx="2697480" cy="502920"/>
          </a:xfrm>
          <a:prstGeom prst="rect">
            <a:avLst/>
          </a:prstGeom>
          <a:noFill/>
          <a:ln/>
        </p:spPr>
        <p:txBody>
          <a:bodyPr wrap="square" lIns="38100" tIns="38100" rIns="38100" bIns="38100" rtlCol="0" anchor="ctr"/>
          <a:lstStyle/>
          <a:p>
            <a:pPr marL="0" indent="0" algn="ctr">
              <a:buNone/>
            </a:pPr>
            <a:r>
              <a:rPr lang="en-US" sz="950">
                <a:solidFill>
                  <a:srgbClr val="E2E8F0"/>
                </a:solidFill>
                <a:latin typeface="Calibri" pitchFamily="34" charset="0"/>
                <a:ea typeface="Calibri" pitchFamily="34" charset="-122"/>
                <a:cs typeface="Calibri" pitchFamily="34" charset="-120"/>
              </a:rPr>
              <a:t>Avg transactions</a:t>
            </a:r>
            <a:endParaRPr lang="en-US" sz="950"/>
          </a:p>
          <a:p>
            <a:pPr marL="0" indent="0" algn="ctr">
              <a:buNone/>
            </a:pPr>
            <a:r>
              <a:rPr lang="en-US" sz="950">
                <a:solidFill>
                  <a:srgbClr val="E2E8F0"/>
                </a:solidFill>
                <a:latin typeface="Calibri" pitchFamily="34" charset="0"/>
                <a:ea typeface="Calibri" pitchFamily="34" charset="-122"/>
                <a:cs typeface="Calibri" pitchFamily="34" charset="-120"/>
              </a:rPr>
              <a:t>Attrited vs Existing</a:t>
            </a:r>
            <a:endParaRPr lang="en-US" sz="950"/>
          </a:p>
        </p:txBody>
      </p:sp>
      <p:sp>
        <p:nvSpPr>
          <p:cNvPr id="7" name="Shape 5"/>
          <p:cNvSpPr/>
          <p:nvPr/>
        </p:nvSpPr>
        <p:spPr>
          <a:xfrm>
            <a:off x="3200400" y="822960"/>
            <a:ext cx="2697480" cy="1234440"/>
          </a:xfrm>
          <a:prstGeom prst="rect">
            <a:avLst/>
          </a:prstGeom>
          <a:solidFill>
            <a:srgbClr val="0F1F3D"/>
          </a:solidFill>
          <a:ln w="12700">
            <a:solidFill>
              <a:srgbClr val="0F1F3D"/>
            </a:solidFill>
            <a:prstDash val="solid"/>
          </a:ln>
          <a:effectLst>
            <a:outerShdw blurRad="101600" dist="38100" dir="8100000" algn="bl" rotWithShape="0">
              <a:srgbClr val="000000">
                <a:alpha val="12000"/>
              </a:srgbClr>
            </a:outerShdw>
          </a:effectLst>
        </p:spPr>
        <p:txBody>
          <a:bodyPr/>
          <a:lstStyle/>
          <a:p>
            <a:endParaRPr lang="en-US"/>
          </a:p>
        </p:txBody>
      </p:sp>
      <p:sp>
        <p:nvSpPr>
          <p:cNvPr id="8" name="Text 6"/>
          <p:cNvSpPr/>
          <p:nvPr/>
        </p:nvSpPr>
        <p:spPr>
          <a:xfrm>
            <a:off x="3200400" y="868680"/>
            <a:ext cx="2697480" cy="658368"/>
          </a:xfrm>
          <a:prstGeom prst="rect">
            <a:avLst/>
          </a:prstGeom>
          <a:noFill/>
          <a:ln/>
        </p:spPr>
        <p:txBody>
          <a:bodyPr wrap="square" lIns="0" tIns="0" rIns="0" bIns="0" rtlCol="0" anchor="ctr"/>
          <a:lstStyle/>
          <a:p>
            <a:pPr marL="0" indent="0" algn="ctr">
              <a:buNone/>
            </a:pPr>
            <a:r>
              <a:rPr lang="en-US" sz="2000" b="1">
                <a:solidFill>
                  <a:srgbClr val="7BA7D4"/>
                </a:solidFill>
                <a:latin typeface="Calibri" pitchFamily="34" charset="0"/>
                <a:ea typeface="Calibri" pitchFamily="34" charset="-122"/>
                <a:cs typeface="Calibri" pitchFamily="34" charset="-120"/>
              </a:rPr>
              <a:t>672 vs 1,257</a:t>
            </a:r>
            <a:endParaRPr lang="en-US" sz="2000"/>
          </a:p>
        </p:txBody>
      </p:sp>
      <p:sp>
        <p:nvSpPr>
          <p:cNvPr id="9" name="Text 7"/>
          <p:cNvSpPr/>
          <p:nvPr/>
        </p:nvSpPr>
        <p:spPr>
          <a:xfrm>
            <a:off x="3200400" y="1463040"/>
            <a:ext cx="2697480" cy="502920"/>
          </a:xfrm>
          <a:prstGeom prst="rect">
            <a:avLst/>
          </a:prstGeom>
          <a:noFill/>
          <a:ln/>
        </p:spPr>
        <p:txBody>
          <a:bodyPr wrap="square" lIns="38100" tIns="38100" rIns="38100" bIns="38100" rtlCol="0" anchor="ctr"/>
          <a:lstStyle/>
          <a:p>
            <a:pPr marL="0" indent="0" algn="ctr">
              <a:buNone/>
            </a:pPr>
            <a:r>
              <a:rPr lang="en-US" sz="950">
                <a:solidFill>
                  <a:srgbClr val="E2E8F0"/>
                </a:solidFill>
                <a:latin typeface="Calibri" pitchFamily="34" charset="0"/>
                <a:ea typeface="Calibri" pitchFamily="34" charset="-122"/>
                <a:cs typeface="Calibri" pitchFamily="34" charset="-120"/>
              </a:rPr>
              <a:t>Avg revolving balance</a:t>
            </a:r>
            <a:endParaRPr lang="en-US" sz="950"/>
          </a:p>
          <a:p>
            <a:pPr marL="0" indent="0" algn="ctr">
              <a:buNone/>
            </a:pPr>
            <a:r>
              <a:rPr lang="en-US" sz="950">
                <a:solidFill>
                  <a:srgbClr val="E2E8F0"/>
                </a:solidFill>
                <a:latin typeface="Calibri" pitchFamily="34" charset="0"/>
                <a:ea typeface="Calibri" pitchFamily="34" charset="-122"/>
                <a:cs typeface="Calibri" pitchFamily="34" charset="-120"/>
              </a:rPr>
              <a:t>Attrited vs Existing</a:t>
            </a:r>
            <a:endParaRPr lang="en-US" sz="950"/>
          </a:p>
        </p:txBody>
      </p:sp>
      <p:sp>
        <p:nvSpPr>
          <p:cNvPr id="10" name="Shape 8"/>
          <p:cNvSpPr/>
          <p:nvPr/>
        </p:nvSpPr>
        <p:spPr>
          <a:xfrm>
            <a:off x="6080760" y="822960"/>
            <a:ext cx="2697480" cy="1234440"/>
          </a:xfrm>
          <a:prstGeom prst="rect">
            <a:avLst/>
          </a:prstGeom>
          <a:solidFill>
            <a:srgbClr val="0F1F3D"/>
          </a:solidFill>
          <a:ln w="12700">
            <a:solidFill>
              <a:srgbClr val="0F1F3D"/>
            </a:solidFill>
            <a:prstDash val="solid"/>
          </a:ln>
          <a:effectLst>
            <a:outerShdw blurRad="101600" dist="38100" dir="8100000" algn="bl" rotWithShape="0">
              <a:srgbClr val="000000">
                <a:alpha val="12000"/>
              </a:srgbClr>
            </a:outerShdw>
          </a:effectLst>
        </p:spPr>
        <p:txBody>
          <a:bodyPr/>
          <a:lstStyle/>
          <a:p>
            <a:endParaRPr lang="en-US"/>
          </a:p>
        </p:txBody>
      </p:sp>
      <p:sp>
        <p:nvSpPr>
          <p:cNvPr id="11" name="Text 9"/>
          <p:cNvSpPr/>
          <p:nvPr/>
        </p:nvSpPr>
        <p:spPr>
          <a:xfrm>
            <a:off x="6080760" y="868680"/>
            <a:ext cx="2697480" cy="658368"/>
          </a:xfrm>
          <a:prstGeom prst="rect">
            <a:avLst/>
          </a:prstGeom>
          <a:noFill/>
          <a:ln/>
        </p:spPr>
        <p:txBody>
          <a:bodyPr wrap="square" lIns="0" tIns="0" rIns="0" bIns="0" rtlCol="0" anchor="ctr"/>
          <a:lstStyle/>
          <a:p>
            <a:pPr marL="0" indent="0" algn="ctr">
              <a:buNone/>
            </a:pPr>
            <a:r>
              <a:rPr lang="en-US" sz="2000" b="1">
                <a:solidFill>
                  <a:srgbClr val="7BA7D4"/>
                </a:solidFill>
                <a:latin typeface="Calibri" pitchFamily="34" charset="0"/>
                <a:ea typeface="Calibri" pitchFamily="34" charset="-122"/>
                <a:cs typeface="Calibri" pitchFamily="34" charset="-120"/>
              </a:rPr>
              <a:t>0.20 vs 0.30</a:t>
            </a:r>
            <a:endParaRPr lang="en-US" sz="2000"/>
          </a:p>
        </p:txBody>
      </p:sp>
      <p:sp>
        <p:nvSpPr>
          <p:cNvPr id="12" name="Text 10"/>
          <p:cNvSpPr/>
          <p:nvPr/>
        </p:nvSpPr>
        <p:spPr>
          <a:xfrm>
            <a:off x="6080760" y="1463040"/>
            <a:ext cx="2697480" cy="502920"/>
          </a:xfrm>
          <a:prstGeom prst="rect">
            <a:avLst/>
          </a:prstGeom>
          <a:noFill/>
          <a:ln/>
        </p:spPr>
        <p:txBody>
          <a:bodyPr wrap="square" lIns="38100" tIns="38100" rIns="38100" bIns="38100" rtlCol="0" anchor="ctr"/>
          <a:lstStyle/>
          <a:p>
            <a:pPr marL="0" indent="0" algn="ctr">
              <a:buNone/>
            </a:pPr>
            <a:r>
              <a:rPr lang="en-US" sz="950">
                <a:solidFill>
                  <a:srgbClr val="E2E8F0"/>
                </a:solidFill>
                <a:latin typeface="Calibri" pitchFamily="34" charset="0"/>
                <a:ea typeface="Calibri" pitchFamily="34" charset="-122"/>
                <a:cs typeface="Calibri" pitchFamily="34" charset="-120"/>
              </a:rPr>
              <a:t>Avg credit utilization</a:t>
            </a:r>
            <a:endParaRPr lang="en-US" sz="950"/>
          </a:p>
          <a:p>
            <a:pPr marL="0" indent="0" algn="ctr">
              <a:buNone/>
            </a:pPr>
            <a:r>
              <a:rPr lang="en-US" sz="950">
                <a:solidFill>
                  <a:srgbClr val="E2E8F0"/>
                </a:solidFill>
                <a:latin typeface="Calibri" pitchFamily="34" charset="0"/>
                <a:ea typeface="Calibri" pitchFamily="34" charset="-122"/>
                <a:cs typeface="Calibri" pitchFamily="34" charset="-120"/>
              </a:rPr>
              <a:t>Attrited vs Existing</a:t>
            </a:r>
            <a:endParaRPr lang="en-US" sz="950"/>
          </a:p>
        </p:txBody>
      </p:sp>
      <p:sp>
        <p:nvSpPr>
          <p:cNvPr id="13" name="Shape 11"/>
          <p:cNvSpPr/>
          <p:nvPr/>
        </p:nvSpPr>
        <p:spPr>
          <a:xfrm>
            <a:off x="320040" y="2176272"/>
            <a:ext cx="8503920" cy="49377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4" name="Shape 12"/>
          <p:cNvSpPr/>
          <p:nvPr/>
        </p:nvSpPr>
        <p:spPr>
          <a:xfrm>
            <a:off x="320040" y="2176272"/>
            <a:ext cx="91440" cy="493776"/>
          </a:xfrm>
          <a:prstGeom prst="rect">
            <a:avLst/>
          </a:prstGeom>
          <a:solidFill>
            <a:srgbClr val="4472C4"/>
          </a:solidFill>
          <a:ln w="12700">
            <a:solidFill>
              <a:srgbClr val="4472C4"/>
            </a:solidFill>
            <a:prstDash val="solid"/>
          </a:ln>
        </p:spPr>
        <p:txBody>
          <a:bodyPr/>
          <a:lstStyle/>
          <a:p>
            <a:endParaRPr lang="en-US"/>
          </a:p>
        </p:txBody>
      </p:sp>
      <p:sp>
        <p:nvSpPr>
          <p:cNvPr id="15" name="Text 13"/>
          <p:cNvSpPr/>
          <p:nvPr/>
        </p:nvSpPr>
        <p:spPr>
          <a:xfrm>
            <a:off x="512064" y="2212848"/>
            <a:ext cx="2743200" cy="219456"/>
          </a:xfrm>
          <a:prstGeom prst="rect">
            <a:avLst/>
          </a:prstGeom>
          <a:noFill/>
          <a:ln/>
        </p:spPr>
        <p:txBody>
          <a:bodyPr wrap="square" lIns="0" tIns="0" rIns="0" bIns="0" rtlCol="0" anchor="ctr"/>
          <a:lstStyle/>
          <a:p>
            <a:pPr marL="0" indent="0">
              <a:buNone/>
            </a:pPr>
            <a:r>
              <a:rPr lang="en-US" sz="1100" b="1">
                <a:solidFill>
                  <a:srgbClr val="1E293B"/>
                </a:solidFill>
                <a:latin typeface="Calibri" pitchFamily="34" charset="0"/>
                <a:ea typeface="Calibri" pitchFamily="34" charset="-122"/>
                <a:cs typeface="Calibri" pitchFamily="34" charset="-120"/>
              </a:rPr>
              <a:t>Transaction Count is #1 predictor</a:t>
            </a:r>
            <a:endParaRPr lang="en-US" sz="1100"/>
          </a:p>
        </p:txBody>
      </p:sp>
      <p:sp>
        <p:nvSpPr>
          <p:cNvPr id="16" name="Text 14"/>
          <p:cNvSpPr/>
          <p:nvPr/>
        </p:nvSpPr>
        <p:spPr>
          <a:xfrm>
            <a:off x="3383280" y="2231136"/>
            <a:ext cx="5303520" cy="365760"/>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Churned customers average 45 transactions vs 69 for existing — a 34% gap that is highly statistically significant (p &lt; 0.0001)</a:t>
            </a:r>
            <a:endParaRPr lang="en-US" sz="1000"/>
          </a:p>
        </p:txBody>
      </p:sp>
      <p:sp>
        <p:nvSpPr>
          <p:cNvPr id="17" name="Shape 15"/>
          <p:cNvSpPr/>
          <p:nvPr/>
        </p:nvSpPr>
        <p:spPr>
          <a:xfrm>
            <a:off x="320040" y="2743200"/>
            <a:ext cx="8503920" cy="49377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6"/>
          <p:cNvSpPr/>
          <p:nvPr/>
        </p:nvSpPr>
        <p:spPr>
          <a:xfrm>
            <a:off x="320040" y="2743200"/>
            <a:ext cx="91440" cy="493776"/>
          </a:xfrm>
          <a:prstGeom prst="rect">
            <a:avLst/>
          </a:prstGeom>
          <a:solidFill>
            <a:srgbClr val="4472C4"/>
          </a:solidFill>
          <a:ln w="12700">
            <a:solidFill>
              <a:srgbClr val="4472C4"/>
            </a:solidFill>
            <a:prstDash val="solid"/>
          </a:ln>
        </p:spPr>
        <p:txBody>
          <a:bodyPr/>
          <a:lstStyle/>
          <a:p>
            <a:endParaRPr lang="en-US"/>
          </a:p>
        </p:txBody>
      </p:sp>
      <p:sp>
        <p:nvSpPr>
          <p:cNvPr id="19" name="Text 17"/>
          <p:cNvSpPr/>
          <p:nvPr/>
        </p:nvSpPr>
        <p:spPr>
          <a:xfrm>
            <a:off x="512064" y="2779776"/>
            <a:ext cx="2743200" cy="219456"/>
          </a:xfrm>
          <a:prstGeom prst="rect">
            <a:avLst/>
          </a:prstGeom>
          <a:noFill/>
          <a:ln/>
        </p:spPr>
        <p:txBody>
          <a:bodyPr wrap="square" lIns="0" tIns="0" rIns="0" bIns="0" rtlCol="0" anchor="ctr"/>
          <a:lstStyle/>
          <a:p>
            <a:pPr marL="0" indent="0">
              <a:buNone/>
            </a:pPr>
            <a:r>
              <a:rPr lang="en-US" sz="1100" b="1">
                <a:solidFill>
                  <a:srgbClr val="1E293B"/>
                </a:solidFill>
                <a:latin typeface="Calibri" pitchFamily="34" charset="0"/>
                <a:ea typeface="Calibri" pitchFamily="34" charset="-122"/>
                <a:cs typeface="Calibri" pitchFamily="34" charset="-120"/>
              </a:rPr>
              <a:t>Revolving Balance drops sharply</a:t>
            </a:r>
            <a:endParaRPr lang="en-US" sz="1100"/>
          </a:p>
        </p:txBody>
      </p:sp>
      <p:sp>
        <p:nvSpPr>
          <p:cNvPr id="20" name="Text 18"/>
          <p:cNvSpPr/>
          <p:nvPr/>
        </p:nvSpPr>
        <p:spPr>
          <a:xfrm>
            <a:off x="3383280" y="2798064"/>
            <a:ext cx="5303520" cy="365760"/>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Attrited customers carry almost half the revolving balance — suggesting they are winding down their card usage before leaving</a:t>
            </a:r>
            <a:endParaRPr lang="en-US" sz="1000"/>
          </a:p>
        </p:txBody>
      </p:sp>
      <p:sp>
        <p:nvSpPr>
          <p:cNvPr id="21" name="Shape 19"/>
          <p:cNvSpPr/>
          <p:nvPr/>
        </p:nvSpPr>
        <p:spPr>
          <a:xfrm>
            <a:off x="320040" y="3310128"/>
            <a:ext cx="8503920" cy="49377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2" name="Shape 20"/>
          <p:cNvSpPr/>
          <p:nvPr/>
        </p:nvSpPr>
        <p:spPr>
          <a:xfrm>
            <a:off x="320040" y="3310128"/>
            <a:ext cx="91440" cy="493776"/>
          </a:xfrm>
          <a:prstGeom prst="rect">
            <a:avLst/>
          </a:prstGeom>
          <a:solidFill>
            <a:srgbClr val="4472C4"/>
          </a:solidFill>
          <a:ln w="12700">
            <a:solidFill>
              <a:srgbClr val="4472C4"/>
            </a:solidFill>
            <a:prstDash val="solid"/>
          </a:ln>
        </p:spPr>
        <p:txBody>
          <a:bodyPr/>
          <a:lstStyle/>
          <a:p>
            <a:endParaRPr lang="en-US"/>
          </a:p>
        </p:txBody>
      </p:sp>
      <p:sp>
        <p:nvSpPr>
          <p:cNvPr id="23" name="Text 21"/>
          <p:cNvSpPr/>
          <p:nvPr/>
        </p:nvSpPr>
        <p:spPr>
          <a:xfrm>
            <a:off x="512064" y="3346704"/>
            <a:ext cx="2743200" cy="219456"/>
          </a:xfrm>
          <a:prstGeom prst="rect">
            <a:avLst/>
          </a:prstGeom>
          <a:noFill/>
          <a:ln/>
        </p:spPr>
        <p:txBody>
          <a:bodyPr wrap="square" lIns="0" tIns="0" rIns="0" bIns="0" rtlCol="0" anchor="ctr"/>
          <a:lstStyle/>
          <a:p>
            <a:pPr marL="0" indent="0">
              <a:buNone/>
            </a:pPr>
            <a:r>
              <a:rPr lang="en-US" sz="1100" b="1">
                <a:solidFill>
                  <a:srgbClr val="1E293B"/>
                </a:solidFill>
                <a:latin typeface="Calibri" pitchFamily="34" charset="0"/>
                <a:ea typeface="Calibri" pitchFamily="34" charset="-122"/>
                <a:cs typeface="Calibri" pitchFamily="34" charset="-120"/>
              </a:rPr>
              <a:t>Behavioral &gt; Demographic</a:t>
            </a:r>
            <a:endParaRPr lang="en-US" sz="1100"/>
          </a:p>
        </p:txBody>
      </p:sp>
      <p:sp>
        <p:nvSpPr>
          <p:cNvPr id="24" name="Text 22"/>
          <p:cNvSpPr/>
          <p:nvPr/>
        </p:nvSpPr>
        <p:spPr>
          <a:xfrm>
            <a:off x="3383280" y="3364992"/>
            <a:ext cx="5303520" cy="365760"/>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All 6 behavioral features are statistically significant. Age, tenure, and dependents show NO significant difference between groups</a:t>
            </a:r>
            <a:endParaRPr lang="en-US" sz="1000"/>
          </a:p>
        </p:txBody>
      </p:sp>
      <p:sp>
        <p:nvSpPr>
          <p:cNvPr id="25" name="Shape 23"/>
          <p:cNvSpPr/>
          <p:nvPr/>
        </p:nvSpPr>
        <p:spPr>
          <a:xfrm>
            <a:off x="320040" y="3877056"/>
            <a:ext cx="8503920" cy="49377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6" name="Shape 24"/>
          <p:cNvSpPr/>
          <p:nvPr/>
        </p:nvSpPr>
        <p:spPr>
          <a:xfrm>
            <a:off x="320040" y="3877056"/>
            <a:ext cx="91440" cy="493776"/>
          </a:xfrm>
          <a:prstGeom prst="rect">
            <a:avLst/>
          </a:prstGeom>
          <a:solidFill>
            <a:srgbClr val="4472C4"/>
          </a:solidFill>
          <a:ln w="12700">
            <a:solidFill>
              <a:srgbClr val="4472C4"/>
            </a:solidFill>
            <a:prstDash val="solid"/>
          </a:ln>
        </p:spPr>
        <p:txBody>
          <a:bodyPr/>
          <a:lstStyle/>
          <a:p>
            <a:endParaRPr lang="en-US"/>
          </a:p>
        </p:txBody>
      </p:sp>
      <p:sp>
        <p:nvSpPr>
          <p:cNvPr id="27" name="Text 25"/>
          <p:cNvSpPr/>
          <p:nvPr/>
        </p:nvSpPr>
        <p:spPr>
          <a:xfrm>
            <a:off x="512064" y="3913632"/>
            <a:ext cx="2743200" cy="219456"/>
          </a:xfrm>
          <a:prstGeom prst="rect">
            <a:avLst/>
          </a:prstGeom>
          <a:noFill/>
          <a:ln/>
        </p:spPr>
        <p:txBody>
          <a:bodyPr wrap="square" lIns="0" tIns="0" rIns="0" bIns="0" rtlCol="0" anchor="ctr"/>
          <a:lstStyle/>
          <a:p>
            <a:pPr marL="0" indent="0">
              <a:buNone/>
            </a:pPr>
            <a:r>
              <a:rPr lang="en-US" sz="1100" b="1">
                <a:solidFill>
                  <a:srgbClr val="1E293B"/>
                </a:solidFill>
                <a:latin typeface="Calibri" pitchFamily="34" charset="0"/>
                <a:ea typeface="Calibri" pitchFamily="34" charset="-122"/>
                <a:cs typeface="Calibri" pitchFamily="34" charset="-120"/>
              </a:rPr>
              <a:t>Customer Contacts is a red flag</a:t>
            </a:r>
            <a:endParaRPr lang="en-US" sz="1100"/>
          </a:p>
        </p:txBody>
      </p:sp>
      <p:sp>
        <p:nvSpPr>
          <p:cNvPr id="28" name="Text 26"/>
          <p:cNvSpPr/>
          <p:nvPr/>
        </p:nvSpPr>
        <p:spPr>
          <a:xfrm>
            <a:off x="3383280" y="3931920"/>
            <a:ext cx="5303520" cy="365760"/>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Attrited customers contact the bank MORE (avg 3.0 vs 2.4 contacts) — dissatisfied customers reach out before churning</a:t>
            </a:r>
            <a:endParaRPr lang="en-US" sz="1000"/>
          </a:p>
        </p:txBody>
      </p:sp>
      <p:sp>
        <p:nvSpPr>
          <p:cNvPr id="29" name="Shape 27"/>
          <p:cNvSpPr/>
          <p:nvPr/>
        </p:nvSpPr>
        <p:spPr>
          <a:xfrm>
            <a:off x="320040" y="4443984"/>
            <a:ext cx="8503920" cy="49377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30" name="Shape 28"/>
          <p:cNvSpPr/>
          <p:nvPr/>
        </p:nvSpPr>
        <p:spPr>
          <a:xfrm>
            <a:off x="320040" y="4443984"/>
            <a:ext cx="91440" cy="493776"/>
          </a:xfrm>
          <a:prstGeom prst="rect">
            <a:avLst/>
          </a:prstGeom>
          <a:solidFill>
            <a:srgbClr val="4472C4"/>
          </a:solidFill>
          <a:ln w="12700">
            <a:solidFill>
              <a:srgbClr val="4472C4"/>
            </a:solidFill>
            <a:prstDash val="solid"/>
          </a:ln>
        </p:spPr>
        <p:txBody>
          <a:bodyPr/>
          <a:lstStyle/>
          <a:p>
            <a:endParaRPr lang="en-US"/>
          </a:p>
        </p:txBody>
      </p:sp>
      <p:sp>
        <p:nvSpPr>
          <p:cNvPr id="31" name="Text 29"/>
          <p:cNvSpPr/>
          <p:nvPr/>
        </p:nvSpPr>
        <p:spPr>
          <a:xfrm>
            <a:off x="512064" y="4480560"/>
            <a:ext cx="2743200" cy="219456"/>
          </a:xfrm>
          <a:prstGeom prst="rect">
            <a:avLst/>
          </a:prstGeom>
          <a:noFill/>
          <a:ln/>
        </p:spPr>
        <p:txBody>
          <a:bodyPr wrap="square" lIns="0" tIns="0" rIns="0" bIns="0" rtlCol="0" anchor="ctr"/>
          <a:lstStyle/>
          <a:p>
            <a:pPr marL="0" indent="0">
              <a:buNone/>
            </a:pPr>
            <a:r>
              <a:rPr lang="en-US" sz="1100" b="1">
                <a:solidFill>
                  <a:srgbClr val="1E293B"/>
                </a:solidFill>
                <a:latin typeface="Calibri" pitchFamily="34" charset="0"/>
                <a:ea typeface="Calibri" pitchFamily="34" charset="-122"/>
                <a:cs typeface="Calibri" pitchFamily="34" charset="-120"/>
              </a:rPr>
              <a:t>Inactivity predicts departure</a:t>
            </a:r>
            <a:endParaRPr lang="en-US" sz="1100"/>
          </a:p>
        </p:txBody>
      </p:sp>
      <p:sp>
        <p:nvSpPr>
          <p:cNvPr id="32" name="Text 30"/>
          <p:cNvSpPr/>
          <p:nvPr/>
        </p:nvSpPr>
        <p:spPr>
          <a:xfrm>
            <a:off x="3383280" y="4498848"/>
            <a:ext cx="5303520" cy="365760"/>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Higher months inactive strongly correlates with churn — disengagement is a measurable early warning signal</a:t>
            </a:r>
            <a:endParaRPr 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F1F3D"/>
          </a:solidFill>
          <a:ln w="12700">
            <a:solidFill>
              <a:srgbClr val="0F1F3D"/>
            </a:solidFill>
            <a:prstDash val="solid"/>
          </a:ln>
        </p:spPr>
        <p:txBody>
          <a:bodyPr/>
          <a:lstStyle/>
          <a:p>
            <a:endParaRPr lang="en-US"/>
          </a:p>
        </p:txBody>
      </p:sp>
      <p:sp>
        <p:nvSpPr>
          <p:cNvPr id="3" name="Text 1"/>
          <p:cNvSpPr/>
          <p:nvPr/>
        </p:nvSpPr>
        <p:spPr>
          <a:xfrm>
            <a:off x="411480" y="91440"/>
            <a:ext cx="8229600" cy="54864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Bimodal Discovery &amp; Segment Profiling</a:t>
            </a:r>
            <a:endParaRPr lang="en-US" sz="2200"/>
          </a:p>
        </p:txBody>
      </p:sp>
      <p:sp>
        <p:nvSpPr>
          <p:cNvPr id="4" name="Shape 2"/>
          <p:cNvSpPr/>
          <p:nvPr/>
        </p:nvSpPr>
        <p:spPr>
          <a:xfrm>
            <a:off x="320040" y="822960"/>
            <a:ext cx="8503920" cy="777240"/>
          </a:xfrm>
          <a:prstGeom prst="rect">
            <a:avLst/>
          </a:prstGeom>
          <a:solidFill>
            <a:srgbClr val="4472C4">
              <a:alpha val="12000"/>
            </a:srgbClr>
          </a:solidFill>
          <a:ln w="12700">
            <a:solidFill>
              <a:srgbClr val="4472C4"/>
            </a:solidFill>
            <a:prstDash val="solid"/>
          </a:ln>
        </p:spPr>
        <p:txBody>
          <a:bodyPr/>
          <a:lstStyle/>
          <a:p>
            <a:endParaRPr lang="en-US"/>
          </a:p>
        </p:txBody>
      </p:sp>
      <p:sp>
        <p:nvSpPr>
          <p:cNvPr id="5" name="Text 3"/>
          <p:cNvSpPr/>
          <p:nvPr/>
        </p:nvSpPr>
        <p:spPr>
          <a:xfrm>
            <a:off x="502920" y="868680"/>
            <a:ext cx="8229600" cy="658368"/>
          </a:xfrm>
          <a:prstGeom prst="rect">
            <a:avLst/>
          </a:prstGeom>
          <a:noFill/>
          <a:ln/>
        </p:spPr>
        <p:txBody>
          <a:bodyPr wrap="square" lIns="0" tIns="0" rIns="0" bIns="0" rtlCol="0" anchor="ctr"/>
          <a:lstStyle/>
          <a:p>
            <a:pPr marL="0" indent="0">
              <a:buNone/>
            </a:pPr>
            <a:r>
              <a:rPr lang="en-US" sz="1150">
                <a:solidFill>
                  <a:srgbClr val="1E293B"/>
                </a:solidFill>
                <a:latin typeface="Calibri" pitchFamily="34" charset="0"/>
                <a:ea typeface="Calibri" pitchFamily="34" charset="-122"/>
                <a:cs typeface="Calibri" pitchFamily="34" charset="-120"/>
              </a:rPr>
              <a:t>Discovery: Existing customers show a bimodal transaction count distribution — two distinct behavioral groups separated at ~60 transactions. Churned customers cluster entirely in the low-volume range.</a:t>
            </a:r>
            <a:endParaRPr lang="en-US" sz="1150"/>
          </a:p>
        </p:txBody>
      </p:sp>
      <p:sp>
        <p:nvSpPr>
          <p:cNvPr id="6" name="Text 4"/>
          <p:cNvSpPr/>
          <p:nvPr/>
        </p:nvSpPr>
        <p:spPr>
          <a:xfrm>
            <a:off x="411480" y="1719072"/>
            <a:ext cx="8229600" cy="292608"/>
          </a:xfrm>
          <a:prstGeom prst="rect">
            <a:avLst/>
          </a:prstGeom>
          <a:noFill/>
          <a:ln/>
        </p:spPr>
        <p:txBody>
          <a:bodyPr wrap="square" lIns="0" tIns="0" rIns="0" bIns="0" rtlCol="0" anchor="ctr"/>
          <a:lstStyle/>
          <a:p>
            <a:pPr marL="0" indent="0">
              <a:buNone/>
            </a:pPr>
            <a:r>
              <a:rPr lang="en-US" sz="1300" b="1">
                <a:solidFill>
                  <a:srgbClr val="4472C4"/>
                </a:solidFill>
                <a:latin typeface="Calibri" pitchFamily="34" charset="0"/>
                <a:ea typeface="Calibri" pitchFamily="34" charset="-122"/>
                <a:cs typeface="Calibri" pitchFamily="34" charset="-120"/>
              </a:rPr>
              <a:t>Segment Profile Comparison</a:t>
            </a:r>
            <a:endParaRPr lang="en-US" sz="1300"/>
          </a:p>
        </p:txBody>
      </p:sp>
      <p:sp>
        <p:nvSpPr>
          <p:cNvPr id="7" name="Shape 5"/>
          <p:cNvSpPr/>
          <p:nvPr/>
        </p:nvSpPr>
        <p:spPr>
          <a:xfrm>
            <a:off x="320040" y="2057400"/>
            <a:ext cx="2560320" cy="384048"/>
          </a:xfrm>
          <a:prstGeom prst="rect">
            <a:avLst/>
          </a:prstGeom>
          <a:solidFill>
            <a:srgbClr val="0F1F3D"/>
          </a:solidFill>
          <a:ln w="12700">
            <a:solidFill>
              <a:srgbClr val="FFFFFF"/>
            </a:solidFill>
            <a:prstDash val="solid"/>
          </a:ln>
        </p:spPr>
        <p:txBody>
          <a:bodyPr/>
          <a:lstStyle/>
          <a:p>
            <a:endParaRPr lang="en-US"/>
          </a:p>
        </p:txBody>
      </p:sp>
      <p:sp>
        <p:nvSpPr>
          <p:cNvPr id="8" name="Text 6"/>
          <p:cNvSpPr/>
          <p:nvPr/>
        </p:nvSpPr>
        <p:spPr>
          <a:xfrm>
            <a:off x="320040" y="2057400"/>
            <a:ext cx="2560320"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Feature</a:t>
            </a:r>
            <a:endParaRPr lang="en-US" sz="1050"/>
          </a:p>
        </p:txBody>
      </p:sp>
      <p:sp>
        <p:nvSpPr>
          <p:cNvPr id="9" name="Shape 7"/>
          <p:cNvSpPr/>
          <p:nvPr/>
        </p:nvSpPr>
        <p:spPr>
          <a:xfrm>
            <a:off x="2926080" y="2057400"/>
            <a:ext cx="1828800" cy="384048"/>
          </a:xfrm>
          <a:prstGeom prst="rect">
            <a:avLst/>
          </a:prstGeom>
          <a:solidFill>
            <a:srgbClr val="4472C4"/>
          </a:solidFill>
          <a:ln w="12700">
            <a:solidFill>
              <a:srgbClr val="FFFFFF"/>
            </a:solidFill>
            <a:prstDash val="solid"/>
          </a:ln>
        </p:spPr>
        <p:txBody>
          <a:bodyPr/>
          <a:lstStyle/>
          <a:p>
            <a:endParaRPr lang="en-US"/>
          </a:p>
        </p:txBody>
      </p:sp>
      <p:sp>
        <p:nvSpPr>
          <p:cNvPr id="10" name="Text 8"/>
          <p:cNvSpPr/>
          <p:nvPr/>
        </p:nvSpPr>
        <p:spPr>
          <a:xfrm>
            <a:off x="2926080" y="2057400"/>
            <a:ext cx="1828800"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High-Volume (60+)</a:t>
            </a:r>
            <a:endParaRPr lang="en-US" sz="1050"/>
          </a:p>
        </p:txBody>
      </p:sp>
      <p:sp>
        <p:nvSpPr>
          <p:cNvPr id="11" name="Shape 9"/>
          <p:cNvSpPr/>
          <p:nvPr/>
        </p:nvSpPr>
        <p:spPr>
          <a:xfrm>
            <a:off x="4800600" y="2057400"/>
            <a:ext cx="1828800" cy="384048"/>
          </a:xfrm>
          <a:prstGeom prst="rect">
            <a:avLst/>
          </a:prstGeom>
          <a:solidFill>
            <a:srgbClr val="E57373"/>
          </a:solidFill>
          <a:ln w="12700">
            <a:solidFill>
              <a:srgbClr val="FFFFFF"/>
            </a:solidFill>
            <a:prstDash val="solid"/>
          </a:ln>
        </p:spPr>
        <p:txBody>
          <a:bodyPr/>
          <a:lstStyle/>
          <a:p>
            <a:endParaRPr lang="en-US"/>
          </a:p>
        </p:txBody>
      </p:sp>
      <p:sp>
        <p:nvSpPr>
          <p:cNvPr id="12" name="Text 10"/>
          <p:cNvSpPr/>
          <p:nvPr/>
        </p:nvSpPr>
        <p:spPr>
          <a:xfrm>
            <a:off x="4800600" y="2057400"/>
            <a:ext cx="1828800"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Low-Volume (&lt;60)</a:t>
            </a:r>
            <a:endParaRPr lang="en-US" sz="1050"/>
          </a:p>
        </p:txBody>
      </p:sp>
      <p:sp>
        <p:nvSpPr>
          <p:cNvPr id="13" name="Shape 11"/>
          <p:cNvSpPr/>
          <p:nvPr/>
        </p:nvSpPr>
        <p:spPr>
          <a:xfrm>
            <a:off x="6675120" y="2057400"/>
            <a:ext cx="2011680" cy="384048"/>
          </a:xfrm>
          <a:prstGeom prst="rect">
            <a:avLst/>
          </a:prstGeom>
          <a:solidFill>
            <a:srgbClr val="1A3356"/>
          </a:solidFill>
          <a:ln w="12700">
            <a:solidFill>
              <a:srgbClr val="FFFFFF"/>
            </a:solidFill>
            <a:prstDash val="solid"/>
          </a:ln>
        </p:spPr>
        <p:txBody>
          <a:bodyPr/>
          <a:lstStyle/>
          <a:p>
            <a:endParaRPr lang="en-US"/>
          </a:p>
        </p:txBody>
      </p:sp>
      <p:sp>
        <p:nvSpPr>
          <p:cNvPr id="14" name="Text 12"/>
          <p:cNvSpPr/>
          <p:nvPr/>
        </p:nvSpPr>
        <p:spPr>
          <a:xfrm>
            <a:off x="6675120" y="2057400"/>
            <a:ext cx="2011680" cy="384048"/>
          </a:xfrm>
          <a:prstGeom prst="rect">
            <a:avLst/>
          </a:prstGeom>
          <a:noFill/>
          <a:ln/>
        </p:spPr>
        <p:txBody>
          <a:bodyPr wrap="square" lIns="0" tIns="0" rIns="0" bIns="0" rtlCol="0" anchor="ctr"/>
          <a:lstStyle/>
          <a:p>
            <a:pPr marL="0" indent="0" algn="ctr">
              <a:buNone/>
            </a:pPr>
            <a:r>
              <a:rPr lang="en-US" sz="1050" b="1">
                <a:solidFill>
                  <a:srgbClr val="FFFFFF"/>
                </a:solidFill>
                <a:latin typeface="Calibri" pitchFamily="34" charset="0"/>
                <a:ea typeface="Calibri" pitchFamily="34" charset="-122"/>
                <a:cs typeface="Calibri" pitchFamily="34" charset="-120"/>
              </a:rPr>
              <a:t>Difference</a:t>
            </a:r>
            <a:endParaRPr lang="en-US" sz="1050"/>
          </a:p>
        </p:txBody>
      </p:sp>
      <p:sp>
        <p:nvSpPr>
          <p:cNvPr id="15" name="Shape 13"/>
          <p:cNvSpPr/>
          <p:nvPr/>
        </p:nvSpPr>
        <p:spPr>
          <a:xfrm>
            <a:off x="320040" y="2441448"/>
            <a:ext cx="2560320" cy="329184"/>
          </a:xfrm>
          <a:prstGeom prst="rect">
            <a:avLst/>
          </a:prstGeom>
          <a:solidFill>
            <a:srgbClr val="FFFFFF"/>
          </a:solidFill>
          <a:ln w="12700">
            <a:solidFill>
              <a:srgbClr val="E2E8F0"/>
            </a:solidFill>
            <a:prstDash val="solid"/>
          </a:ln>
        </p:spPr>
        <p:txBody>
          <a:bodyPr/>
          <a:lstStyle/>
          <a:p>
            <a:endParaRPr lang="en-US"/>
          </a:p>
        </p:txBody>
      </p:sp>
      <p:sp>
        <p:nvSpPr>
          <p:cNvPr id="16" name="Text 14"/>
          <p:cNvSpPr/>
          <p:nvPr/>
        </p:nvSpPr>
        <p:spPr>
          <a:xfrm>
            <a:off x="320040" y="2441448"/>
            <a:ext cx="2560320" cy="329184"/>
          </a:xfrm>
          <a:prstGeom prst="rect">
            <a:avLst/>
          </a:prstGeom>
          <a:noFill/>
          <a:ln/>
        </p:spPr>
        <p:txBody>
          <a:bodyPr wrap="square" lIns="0" tIns="0" rIns="0" bIns="0" rtlCol="0" anchor="ctr"/>
          <a:lstStyle/>
          <a:p>
            <a:pPr marL="0" indent="0" algn="ctr">
              <a:buNone/>
            </a:pPr>
            <a:r>
              <a:rPr lang="en-US" sz="1000" b="1">
                <a:solidFill>
                  <a:srgbClr val="1E293B"/>
                </a:solidFill>
                <a:latin typeface="Calibri" pitchFamily="34" charset="0"/>
                <a:ea typeface="Calibri" pitchFamily="34" charset="-122"/>
                <a:cs typeface="Calibri" pitchFamily="34" charset="-120"/>
              </a:rPr>
              <a:t>Avg Transaction Count</a:t>
            </a:r>
            <a:endParaRPr lang="en-US" sz="1000"/>
          </a:p>
        </p:txBody>
      </p:sp>
      <p:sp>
        <p:nvSpPr>
          <p:cNvPr id="17" name="Shape 15"/>
          <p:cNvSpPr/>
          <p:nvPr/>
        </p:nvSpPr>
        <p:spPr>
          <a:xfrm>
            <a:off x="2926080" y="2441448"/>
            <a:ext cx="1828800" cy="329184"/>
          </a:xfrm>
          <a:prstGeom prst="rect">
            <a:avLst/>
          </a:prstGeom>
          <a:solidFill>
            <a:srgbClr val="FFFFFF"/>
          </a:solidFill>
          <a:ln w="12700">
            <a:solidFill>
              <a:srgbClr val="E2E8F0"/>
            </a:solidFill>
            <a:prstDash val="solid"/>
          </a:ln>
        </p:spPr>
        <p:txBody>
          <a:bodyPr/>
          <a:lstStyle/>
          <a:p>
            <a:endParaRPr lang="en-US"/>
          </a:p>
        </p:txBody>
      </p:sp>
      <p:sp>
        <p:nvSpPr>
          <p:cNvPr id="18" name="Text 16"/>
          <p:cNvSpPr/>
          <p:nvPr/>
        </p:nvSpPr>
        <p:spPr>
          <a:xfrm>
            <a:off x="2926080" y="2441448"/>
            <a:ext cx="1828800" cy="32918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~85</a:t>
            </a:r>
            <a:endParaRPr lang="en-US" sz="1000"/>
          </a:p>
        </p:txBody>
      </p:sp>
      <p:sp>
        <p:nvSpPr>
          <p:cNvPr id="19" name="Shape 17"/>
          <p:cNvSpPr/>
          <p:nvPr/>
        </p:nvSpPr>
        <p:spPr>
          <a:xfrm>
            <a:off x="4800600" y="2441448"/>
            <a:ext cx="1828800" cy="329184"/>
          </a:xfrm>
          <a:prstGeom prst="rect">
            <a:avLst/>
          </a:prstGeom>
          <a:solidFill>
            <a:srgbClr val="FFFFFF"/>
          </a:solidFill>
          <a:ln w="12700">
            <a:solidFill>
              <a:srgbClr val="E2E8F0"/>
            </a:solidFill>
            <a:prstDash val="solid"/>
          </a:ln>
        </p:spPr>
        <p:txBody>
          <a:bodyPr/>
          <a:lstStyle/>
          <a:p>
            <a:endParaRPr lang="en-US"/>
          </a:p>
        </p:txBody>
      </p:sp>
      <p:sp>
        <p:nvSpPr>
          <p:cNvPr id="20" name="Text 18"/>
          <p:cNvSpPr/>
          <p:nvPr/>
        </p:nvSpPr>
        <p:spPr>
          <a:xfrm>
            <a:off x="4800600" y="2441448"/>
            <a:ext cx="1828800" cy="32918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~42</a:t>
            </a:r>
            <a:endParaRPr lang="en-US" sz="1000"/>
          </a:p>
        </p:txBody>
      </p:sp>
      <p:sp>
        <p:nvSpPr>
          <p:cNvPr id="21" name="Shape 19"/>
          <p:cNvSpPr/>
          <p:nvPr/>
        </p:nvSpPr>
        <p:spPr>
          <a:xfrm>
            <a:off x="6675120" y="2441448"/>
            <a:ext cx="2011680" cy="329184"/>
          </a:xfrm>
          <a:prstGeom prst="rect">
            <a:avLst/>
          </a:prstGeom>
          <a:solidFill>
            <a:srgbClr val="EBF5FB"/>
          </a:solidFill>
          <a:ln w="12700">
            <a:solidFill>
              <a:srgbClr val="E2E8F0"/>
            </a:solidFill>
            <a:prstDash val="solid"/>
          </a:ln>
        </p:spPr>
        <p:txBody>
          <a:bodyPr/>
          <a:lstStyle/>
          <a:p>
            <a:endParaRPr lang="en-US"/>
          </a:p>
        </p:txBody>
      </p:sp>
      <p:sp>
        <p:nvSpPr>
          <p:cNvPr id="22" name="Text 20"/>
          <p:cNvSpPr/>
          <p:nvPr/>
        </p:nvSpPr>
        <p:spPr>
          <a:xfrm>
            <a:off x="6675120" y="2441448"/>
            <a:ext cx="2011680" cy="329184"/>
          </a:xfrm>
          <a:prstGeom prst="rect">
            <a:avLst/>
          </a:prstGeom>
          <a:noFill/>
          <a:ln/>
        </p:spPr>
        <p:txBody>
          <a:bodyPr wrap="square" lIns="0" tIns="0" rIns="0" bIns="0" rtlCol="0" anchor="ctr"/>
          <a:lstStyle/>
          <a:p>
            <a:pPr marL="0" indent="0" algn="ctr">
              <a:buNone/>
            </a:pPr>
            <a:r>
              <a:rPr lang="en-US" sz="1000">
                <a:solidFill>
                  <a:srgbClr val="4472C4"/>
                </a:solidFill>
                <a:latin typeface="Calibri" pitchFamily="34" charset="0"/>
                <a:ea typeface="Calibri" pitchFamily="34" charset="-122"/>
                <a:cs typeface="Calibri" pitchFamily="34" charset="-120"/>
              </a:rPr>
              <a:t>High-Vol: +102%</a:t>
            </a:r>
            <a:endParaRPr lang="en-US" sz="1000"/>
          </a:p>
        </p:txBody>
      </p:sp>
      <p:sp>
        <p:nvSpPr>
          <p:cNvPr id="23" name="Shape 21"/>
          <p:cNvSpPr/>
          <p:nvPr/>
        </p:nvSpPr>
        <p:spPr>
          <a:xfrm>
            <a:off x="320040" y="2788920"/>
            <a:ext cx="2560320" cy="329184"/>
          </a:xfrm>
          <a:prstGeom prst="rect">
            <a:avLst/>
          </a:prstGeom>
          <a:solidFill>
            <a:srgbClr val="F0F4F8"/>
          </a:solidFill>
          <a:ln w="12700">
            <a:solidFill>
              <a:srgbClr val="E2E8F0"/>
            </a:solidFill>
            <a:prstDash val="solid"/>
          </a:ln>
        </p:spPr>
        <p:txBody>
          <a:bodyPr/>
          <a:lstStyle/>
          <a:p>
            <a:endParaRPr lang="en-US"/>
          </a:p>
        </p:txBody>
      </p:sp>
      <p:sp>
        <p:nvSpPr>
          <p:cNvPr id="24" name="Text 22"/>
          <p:cNvSpPr/>
          <p:nvPr/>
        </p:nvSpPr>
        <p:spPr>
          <a:xfrm>
            <a:off x="320040" y="2788920"/>
            <a:ext cx="2560320" cy="329184"/>
          </a:xfrm>
          <a:prstGeom prst="rect">
            <a:avLst/>
          </a:prstGeom>
          <a:noFill/>
          <a:ln/>
        </p:spPr>
        <p:txBody>
          <a:bodyPr wrap="square" lIns="0" tIns="0" rIns="0" bIns="0" rtlCol="0" anchor="ctr"/>
          <a:lstStyle/>
          <a:p>
            <a:pPr marL="0" indent="0" algn="ctr">
              <a:buNone/>
            </a:pPr>
            <a:r>
              <a:rPr lang="en-US" sz="1000" b="1">
                <a:solidFill>
                  <a:srgbClr val="1E293B"/>
                </a:solidFill>
                <a:latin typeface="Calibri" pitchFamily="34" charset="0"/>
                <a:ea typeface="Calibri" pitchFamily="34" charset="-122"/>
                <a:cs typeface="Calibri" pitchFamily="34" charset="-120"/>
              </a:rPr>
              <a:t>Avg Transaction Amount</a:t>
            </a:r>
            <a:endParaRPr lang="en-US" sz="1000"/>
          </a:p>
        </p:txBody>
      </p:sp>
      <p:sp>
        <p:nvSpPr>
          <p:cNvPr id="25" name="Shape 23"/>
          <p:cNvSpPr/>
          <p:nvPr/>
        </p:nvSpPr>
        <p:spPr>
          <a:xfrm>
            <a:off x="2926080" y="2788920"/>
            <a:ext cx="1828800" cy="329184"/>
          </a:xfrm>
          <a:prstGeom prst="rect">
            <a:avLst/>
          </a:prstGeom>
          <a:solidFill>
            <a:srgbClr val="F0F4F8"/>
          </a:solidFill>
          <a:ln w="12700">
            <a:solidFill>
              <a:srgbClr val="E2E8F0"/>
            </a:solidFill>
            <a:prstDash val="solid"/>
          </a:ln>
        </p:spPr>
        <p:txBody>
          <a:bodyPr/>
          <a:lstStyle/>
          <a:p>
            <a:endParaRPr lang="en-US"/>
          </a:p>
        </p:txBody>
      </p:sp>
      <p:sp>
        <p:nvSpPr>
          <p:cNvPr id="26" name="Text 24"/>
          <p:cNvSpPr/>
          <p:nvPr/>
        </p:nvSpPr>
        <p:spPr>
          <a:xfrm>
            <a:off x="2926080" y="2788920"/>
            <a:ext cx="1828800" cy="32918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~$5,200</a:t>
            </a:r>
            <a:endParaRPr lang="en-US" sz="1000"/>
          </a:p>
        </p:txBody>
      </p:sp>
      <p:sp>
        <p:nvSpPr>
          <p:cNvPr id="27" name="Shape 25"/>
          <p:cNvSpPr/>
          <p:nvPr/>
        </p:nvSpPr>
        <p:spPr>
          <a:xfrm>
            <a:off x="4800600" y="2788920"/>
            <a:ext cx="1828800" cy="329184"/>
          </a:xfrm>
          <a:prstGeom prst="rect">
            <a:avLst/>
          </a:prstGeom>
          <a:solidFill>
            <a:srgbClr val="F0F4F8"/>
          </a:solidFill>
          <a:ln w="12700">
            <a:solidFill>
              <a:srgbClr val="E2E8F0"/>
            </a:solidFill>
            <a:prstDash val="solid"/>
          </a:ln>
        </p:spPr>
        <p:txBody>
          <a:bodyPr/>
          <a:lstStyle/>
          <a:p>
            <a:endParaRPr lang="en-US"/>
          </a:p>
        </p:txBody>
      </p:sp>
      <p:sp>
        <p:nvSpPr>
          <p:cNvPr id="28" name="Text 26"/>
          <p:cNvSpPr/>
          <p:nvPr/>
        </p:nvSpPr>
        <p:spPr>
          <a:xfrm>
            <a:off x="4800600" y="2788920"/>
            <a:ext cx="1828800" cy="32918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~$2,800</a:t>
            </a:r>
            <a:endParaRPr lang="en-US" sz="1000"/>
          </a:p>
        </p:txBody>
      </p:sp>
      <p:sp>
        <p:nvSpPr>
          <p:cNvPr id="29" name="Shape 27"/>
          <p:cNvSpPr/>
          <p:nvPr/>
        </p:nvSpPr>
        <p:spPr>
          <a:xfrm>
            <a:off x="6675120" y="2788920"/>
            <a:ext cx="2011680" cy="329184"/>
          </a:xfrm>
          <a:prstGeom prst="rect">
            <a:avLst/>
          </a:prstGeom>
          <a:solidFill>
            <a:srgbClr val="EBF5FB"/>
          </a:solidFill>
          <a:ln w="12700">
            <a:solidFill>
              <a:srgbClr val="E2E8F0"/>
            </a:solidFill>
            <a:prstDash val="solid"/>
          </a:ln>
        </p:spPr>
        <p:txBody>
          <a:bodyPr/>
          <a:lstStyle/>
          <a:p>
            <a:endParaRPr lang="en-US"/>
          </a:p>
        </p:txBody>
      </p:sp>
      <p:sp>
        <p:nvSpPr>
          <p:cNvPr id="30" name="Text 28"/>
          <p:cNvSpPr/>
          <p:nvPr/>
        </p:nvSpPr>
        <p:spPr>
          <a:xfrm>
            <a:off x="6675120" y="2788920"/>
            <a:ext cx="2011680" cy="329184"/>
          </a:xfrm>
          <a:prstGeom prst="rect">
            <a:avLst/>
          </a:prstGeom>
          <a:noFill/>
          <a:ln/>
        </p:spPr>
        <p:txBody>
          <a:bodyPr wrap="square" lIns="0" tIns="0" rIns="0" bIns="0" rtlCol="0" anchor="ctr"/>
          <a:lstStyle/>
          <a:p>
            <a:pPr marL="0" indent="0" algn="ctr">
              <a:buNone/>
            </a:pPr>
            <a:r>
              <a:rPr lang="en-US" sz="1000">
                <a:solidFill>
                  <a:srgbClr val="4472C4"/>
                </a:solidFill>
                <a:latin typeface="Calibri" pitchFamily="34" charset="0"/>
                <a:ea typeface="Calibri" pitchFamily="34" charset="-122"/>
                <a:cs typeface="Calibri" pitchFamily="34" charset="-120"/>
              </a:rPr>
              <a:t>High-Vol: +86%</a:t>
            </a:r>
            <a:endParaRPr lang="en-US" sz="1000"/>
          </a:p>
        </p:txBody>
      </p:sp>
      <p:sp>
        <p:nvSpPr>
          <p:cNvPr id="31" name="Shape 29"/>
          <p:cNvSpPr/>
          <p:nvPr/>
        </p:nvSpPr>
        <p:spPr>
          <a:xfrm>
            <a:off x="320040" y="3136392"/>
            <a:ext cx="2560320" cy="329184"/>
          </a:xfrm>
          <a:prstGeom prst="rect">
            <a:avLst/>
          </a:prstGeom>
          <a:solidFill>
            <a:srgbClr val="FFFFFF"/>
          </a:solidFill>
          <a:ln w="12700">
            <a:solidFill>
              <a:srgbClr val="E2E8F0"/>
            </a:solidFill>
            <a:prstDash val="solid"/>
          </a:ln>
        </p:spPr>
        <p:txBody>
          <a:bodyPr/>
          <a:lstStyle/>
          <a:p>
            <a:endParaRPr lang="en-US"/>
          </a:p>
        </p:txBody>
      </p:sp>
      <p:sp>
        <p:nvSpPr>
          <p:cNvPr id="32" name="Text 30"/>
          <p:cNvSpPr/>
          <p:nvPr/>
        </p:nvSpPr>
        <p:spPr>
          <a:xfrm>
            <a:off x="320040" y="3136392"/>
            <a:ext cx="2560320" cy="329184"/>
          </a:xfrm>
          <a:prstGeom prst="rect">
            <a:avLst/>
          </a:prstGeom>
          <a:noFill/>
          <a:ln/>
        </p:spPr>
        <p:txBody>
          <a:bodyPr wrap="square" lIns="0" tIns="0" rIns="0" bIns="0" rtlCol="0" anchor="ctr"/>
          <a:lstStyle/>
          <a:p>
            <a:pPr marL="0" indent="0" algn="ctr">
              <a:buNone/>
            </a:pPr>
            <a:r>
              <a:rPr lang="en-US" sz="1000" b="1">
                <a:solidFill>
                  <a:srgbClr val="1E293B"/>
                </a:solidFill>
                <a:latin typeface="Calibri" pitchFamily="34" charset="0"/>
                <a:ea typeface="Calibri" pitchFamily="34" charset="-122"/>
                <a:cs typeface="Calibri" pitchFamily="34" charset="-120"/>
              </a:rPr>
              <a:t>Avg Revolving Balance</a:t>
            </a:r>
            <a:endParaRPr lang="en-US" sz="1000"/>
          </a:p>
        </p:txBody>
      </p:sp>
      <p:sp>
        <p:nvSpPr>
          <p:cNvPr id="33" name="Shape 31"/>
          <p:cNvSpPr/>
          <p:nvPr/>
        </p:nvSpPr>
        <p:spPr>
          <a:xfrm>
            <a:off x="2926080" y="3136392"/>
            <a:ext cx="1828800" cy="329184"/>
          </a:xfrm>
          <a:prstGeom prst="rect">
            <a:avLst/>
          </a:prstGeom>
          <a:solidFill>
            <a:srgbClr val="FFFFFF"/>
          </a:solidFill>
          <a:ln w="12700">
            <a:solidFill>
              <a:srgbClr val="E2E8F0"/>
            </a:solidFill>
            <a:prstDash val="solid"/>
          </a:ln>
        </p:spPr>
        <p:txBody>
          <a:bodyPr/>
          <a:lstStyle/>
          <a:p>
            <a:endParaRPr lang="en-US"/>
          </a:p>
        </p:txBody>
      </p:sp>
      <p:sp>
        <p:nvSpPr>
          <p:cNvPr id="34" name="Text 32"/>
          <p:cNvSpPr/>
          <p:nvPr/>
        </p:nvSpPr>
        <p:spPr>
          <a:xfrm>
            <a:off x="2926080" y="3136392"/>
            <a:ext cx="1828800" cy="32918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~$1,450</a:t>
            </a:r>
            <a:endParaRPr lang="en-US" sz="1000"/>
          </a:p>
        </p:txBody>
      </p:sp>
      <p:sp>
        <p:nvSpPr>
          <p:cNvPr id="35" name="Shape 33"/>
          <p:cNvSpPr/>
          <p:nvPr/>
        </p:nvSpPr>
        <p:spPr>
          <a:xfrm>
            <a:off x="4800600" y="3136392"/>
            <a:ext cx="1828800" cy="329184"/>
          </a:xfrm>
          <a:prstGeom prst="rect">
            <a:avLst/>
          </a:prstGeom>
          <a:solidFill>
            <a:srgbClr val="FFFFFF"/>
          </a:solidFill>
          <a:ln w="12700">
            <a:solidFill>
              <a:srgbClr val="E2E8F0"/>
            </a:solidFill>
            <a:prstDash val="solid"/>
          </a:ln>
        </p:spPr>
        <p:txBody>
          <a:bodyPr/>
          <a:lstStyle/>
          <a:p>
            <a:endParaRPr lang="en-US"/>
          </a:p>
        </p:txBody>
      </p:sp>
      <p:sp>
        <p:nvSpPr>
          <p:cNvPr id="36" name="Text 34"/>
          <p:cNvSpPr/>
          <p:nvPr/>
        </p:nvSpPr>
        <p:spPr>
          <a:xfrm>
            <a:off x="4800600" y="3136392"/>
            <a:ext cx="1828800" cy="32918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~$950</a:t>
            </a:r>
            <a:endParaRPr lang="en-US" sz="1000"/>
          </a:p>
        </p:txBody>
      </p:sp>
      <p:sp>
        <p:nvSpPr>
          <p:cNvPr id="37" name="Shape 35"/>
          <p:cNvSpPr/>
          <p:nvPr/>
        </p:nvSpPr>
        <p:spPr>
          <a:xfrm>
            <a:off x="6675120" y="3136392"/>
            <a:ext cx="2011680" cy="329184"/>
          </a:xfrm>
          <a:prstGeom prst="rect">
            <a:avLst/>
          </a:prstGeom>
          <a:solidFill>
            <a:srgbClr val="EBF5FB"/>
          </a:solidFill>
          <a:ln w="12700">
            <a:solidFill>
              <a:srgbClr val="E2E8F0"/>
            </a:solidFill>
            <a:prstDash val="solid"/>
          </a:ln>
        </p:spPr>
        <p:txBody>
          <a:bodyPr/>
          <a:lstStyle/>
          <a:p>
            <a:endParaRPr lang="en-US"/>
          </a:p>
        </p:txBody>
      </p:sp>
      <p:sp>
        <p:nvSpPr>
          <p:cNvPr id="38" name="Text 36"/>
          <p:cNvSpPr/>
          <p:nvPr/>
        </p:nvSpPr>
        <p:spPr>
          <a:xfrm>
            <a:off x="6675120" y="3136392"/>
            <a:ext cx="2011680" cy="329184"/>
          </a:xfrm>
          <a:prstGeom prst="rect">
            <a:avLst/>
          </a:prstGeom>
          <a:noFill/>
          <a:ln/>
        </p:spPr>
        <p:txBody>
          <a:bodyPr wrap="square" lIns="0" tIns="0" rIns="0" bIns="0" rtlCol="0" anchor="ctr"/>
          <a:lstStyle/>
          <a:p>
            <a:pPr marL="0" indent="0" algn="ctr">
              <a:buNone/>
            </a:pPr>
            <a:r>
              <a:rPr lang="en-US" sz="1000">
                <a:solidFill>
                  <a:srgbClr val="4472C4"/>
                </a:solidFill>
                <a:latin typeface="Calibri" pitchFamily="34" charset="0"/>
                <a:ea typeface="Calibri" pitchFamily="34" charset="-122"/>
                <a:cs typeface="Calibri" pitchFamily="34" charset="-120"/>
              </a:rPr>
              <a:t>High-Vol: +53%</a:t>
            </a:r>
            <a:endParaRPr lang="en-US" sz="1000"/>
          </a:p>
        </p:txBody>
      </p:sp>
      <p:sp>
        <p:nvSpPr>
          <p:cNvPr id="39" name="Shape 37"/>
          <p:cNvSpPr/>
          <p:nvPr/>
        </p:nvSpPr>
        <p:spPr>
          <a:xfrm>
            <a:off x="320040" y="3483864"/>
            <a:ext cx="2560320" cy="329184"/>
          </a:xfrm>
          <a:prstGeom prst="rect">
            <a:avLst/>
          </a:prstGeom>
          <a:solidFill>
            <a:srgbClr val="F0F4F8"/>
          </a:solidFill>
          <a:ln w="12700">
            <a:solidFill>
              <a:srgbClr val="E2E8F0"/>
            </a:solidFill>
            <a:prstDash val="solid"/>
          </a:ln>
        </p:spPr>
        <p:txBody>
          <a:bodyPr/>
          <a:lstStyle/>
          <a:p>
            <a:endParaRPr lang="en-US"/>
          </a:p>
        </p:txBody>
      </p:sp>
      <p:sp>
        <p:nvSpPr>
          <p:cNvPr id="40" name="Text 38"/>
          <p:cNvSpPr/>
          <p:nvPr/>
        </p:nvSpPr>
        <p:spPr>
          <a:xfrm>
            <a:off x="320040" y="3483864"/>
            <a:ext cx="2560320" cy="329184"/>
          </a:xfrm>
          <a:prstGeom prst="rect">
            <a:avLst/>
          </a:prstGeom>
          <a:noFill/>
          <a:ln/>
        </p:spPr>
        <p:txBody>
          <a:bodyPr wrap="square" lIns="0" tIns="0" rIns="0" bIns="0" rtlCol="0" anchor="ctr"/>
          <a:lstStyle/>
          <a:p>
            <a:pPr marL="0" indent="0" algn="ctr">
              <a:buNone/>
            </a:pPr>
            <a:r>
              <a:rPr lang="en-US" sz="1000" b="1">
                <a:solidFill>
                  <a:srgbClr val="1E293B"/>
                </a:solidFill>
                <a:latin typeface="Calibri" pitchFamily="34" charset="0"/>
                <a:ea typeface="Calibri" pitchFamily="34" charset="-122"/>
                <a:cs typeface="Calibri" pitchFamily="34" charset="-120"/>
              </a:rPr>
              <a:t>Avg Credit Utilization</a:t>
            </a:r>
            <a:endParaRPr lang="en-US" sz="1000"/>
          </a:p>
        </p:txBody>
      </p:sp>
      <p:sp>
        <p:nvSpPr>
          <p:cNvPr id="41" name="Shape 39"/>
          <p:cNvSpPr/>
          <p:nvPr/>
        </p:nvSpPr>
        <p:spPr>
          <a:xfrm>
            <a:off x="2926080" y="3483864"/>
            <a:ext cx="1828800" cy="329184"/>
          </a:xfrm>
          <a:prstGeom prst="rect">
            <a:avLst/>
          </a:prstGeom>
          <a:solidFill>
            <a:srgbClr val="F0F4F8"/>
          </a:solidFill>
          <a:ln w="12700">
            <a:solidFill>
              <a:srgbClr val="E2E8F0"/>
            </a:solidFill>
            <a:prstDash val="solid"/>
          </a:ln>
        </p:spPr>
        <p:txBody>
          <a:bodyPr/>
          <a:lstStyle/>
          <a:p>
            <a:endParaRPr lang="en-US"/>
          </a:p>
        </p:txBody>
      </p:sp>
      <p:sp>
        <p:nvSpPr>
          <p:cNvPr id="42" name="Text 40"/>
          <p:cNvSpPr/>
          <p:nvPr/>
        </p:nvSpPr>
        <p:spPr>
          <a:xfrm>
            <a:off x="2926080" y="3483864"/>
            <a:ext cx="1828800" cy="32918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~0.35</a:t>
            </a:r>
            <a:endParaRPr lang="en-US" sz="1000"/>
          </a:p>
        </p:txBody>
      </p:sp>
      <p:sp>
        <p:nvSpPr>
          <p:cNvPr id="43" name="Shape 41"/>
          <p:cNvSpPr/>
          <p:nvPr/>
        </p:nvSpPr>
        <p:spPr>
          <a:xfrm>
            <a:off x="4800600" y="3483864"/>
            <a:ext cx="1828800" cy="329184"/>
          </a:xfrm>
          <a:prstGeom prst="rect">
            <a:avLst/>
          </a:prstGeom>
          <a:solidFill>
            <a:srgbClr val="F0F4F8"/>
          </a:solidFill>
          <a:ln w="12700">
            <a:solidFill>
              <a:srgbClr val="E2E8F0"/>
            </a:solidFill>
            <a:prstDash val="solid"/>
          </a:ln>
        </p:spPr>
        <p:txBody>
          <a:bodyPr/>
          <a:lstStyle/>
          <a:p>
            <a:endParaRPr lang="en-US"/>
          </a:p>
        </p:txBody>
      </p:sp>
      <p:sp>
        <p:nvSpPr>
          <p:cNvPr id="44" name="Text 42"/>
          <p:cNvSpPr/>
          <p:nvPr/>
        </p:nvSpPr>
        <p:spPr>
          <a:xfrm>
            <a:off x="4800600" y="3483864"/>
            <a:ext cx="1828800" cy="32918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~0.18</a:t>
            </a:r>
            <a:endParaRPr lang="en-US" sz="1000"/>
          </a:p>
        </p:txBody>
      </p:sp>
      <p:sp>
        <p:nvSpPr>
          <p:cNvPr id="45" name="Shape 43"/>
          <p:cNvSpPr/>
          <p:nvPr/>
        </p:nvSpPr>
        <p:spPr>
          <a:xfrm>
            <a:off x="6675120" y="3483864"/>
            <a:ext cx="2011680" cy="329184"/>
          </a:xfrm>
          <a:prstGeom prst="rect">
            <a:avLst/>
          </a:prstGeom>
          <a:solidFill>
            <a:srgbClr val="EBF5FB"/>
          </a:solidFill>
          <a:ln w="12700">
            <a:solidFill>
              <a:srgbClr val="E2E8F0"/>
            </a:solidFill>
            <a:prstDash val="solid"/>
          </a:ln>
        </p:spPr>
        <p:txBody>
          <a:bodyPr/>
          <a:lstStyle/>
          <a:p>
            <a:endParaRPr lang="en-US"/>
          </a:p>
        </p:txBody>
      </p:sp>
      <p:sp>
        <p:nvSpPr>
          <p:cNvPr id="46" name="Text 44"/>
          <p:cNvSpPr/>
          <p:nvPr/>
        </p:nvSpPr>
        <p:spPr>
          <a:xfrm>
            <a:off x="6675120" y="3483864"/>
            <a:ext cx="2011680" cy="329184"/>
          </a:xfrm>
          <a:prstGeom prst="rect">
            <a:avLst/>
          </a:prstGeom>
          <a:noFill/>
          <a:ln/>
        </p:spPr>
        <p:txBody>
          <a:bodyPr wrap="square" lIns="0" tIns="0" rIns="0" bIns="0" rtlCol="0" anchor="ctr"/>
          <a:lstStyle/>
          <a:p>
            <a:pPr marL="0" indent="0" algn="ctr">
              <a:buNone/>
            </a:pPr>
            <a:r>
              <a:rPr lang="en-US" sz="1000">
                <a:solidFill>
                  <a:srgbClr val="4472C4"/>
                </a:solidFill>
                <a:latin typeface="Calibri" pitchFamily="34" charset="0"/>
                <a:ea typeface="Calibri" pitchFamily="34" charset="-122"/>
                <a:cs typeface="Calibri" pitchFamily="34" charset="-120"/>
              </a:rPr>
              <a:t>High-Vol: +94%</a:t>
            </a:r>
            <a:endParaRPr lang="en-US" sz="1000"/>
          </a:p>
        </p:txBody>
      </p:sp>
      <p:sp>
        <p:nvSpPr>
          <p:cNvPr id="47" name="Shape 45"/>
          <p:cNvSpPr/>
          <p:nvPr/>
        </p:nvSpPr>
        <p:spPr>
          <a:xfrm>
            <a:off x="320040" y="3831336"/>
            <a:ext cx="2560320" cy="329184"/>
          </a:xfrm>
          <a:prstGeom prst="rect">
            <a:avLst/>
          </a:prstGeom>
          <a:solidFill>
            <a:srgbClr val="FFFFFF"/>
          </a:solidFill>
          <a:ln w="12700">
            <a:solidFill>
              <a:srgbClr val="E2E8F0"/>
            </a:solidFill>
            <a:prstDash val="solid"/>
          </a:ln>
        </p:spPr>
        <p:txBody>
          <a:bodyPr/>
          <a:lstStyle/>
          <a:p>
            <a:endParaRPr lang="en-US"/>
          </a:p>
        </p:txBody>
      </p:sp>
      <p:sp>
        <p:nvSpPr>
          <p:cNvPr id="48" name="Text 46"/>
          <p:cNvSpPr/>
          <p:nvPr/>
        </p:nvSpPr>
        <p:spPr>
          <a:xfrm>
            <a:off x="320040" y="3831336"/>
            <a:ext cx="2560320" cy="329184"/>
          </a:xfrm>
          <a:prstGeom prst="rect">
            <a:avLst/>
          </a:prstGeom>
          <a:noFill/>
          <a:ln/>
        </p:spPr>
        <p:txBody>
          <a:bodyPr wrap="square" lIns="0" tIns="0" rIns="0" bIns="0" rtlCol="0" anchor="ctr"/>
          <a:lstStyle/>
          <a:p>
            <a:pPr marL="0" indent="0" algn="ctr">
              <a:buNone/>
            </a:pPr>
            <a:r>
              <a:rPr lang="en-US" sz="1000" b="1">
                <a:solidFill>
                  <a:srgbClr val="1E293B"/>
                </a:solidFill>
                <a:latin typeface="Calibri" pitchFamily="34" charset="0"/>
                <a:ea typeface="Calibri" pitchFamily="34" charset="-122"/>
                <a:cs typeface="Calibri" pitchFamily="34" charset="-120"/>
              </a:rPr>
              <a:t>Avg Months Inactive</a:t>
            </a:r>
            <a:endParaRPr lang="en-US" sz="1000"/>
          </a:p>
        </p:txBody>
      </p:sp>
      <p:sp>
        <p:nvSpPr>
          <p:cNvPr id="49" name="Shape 47"/>
          <p:cNvSpPr/>
          <p:nvPr/>
        </p:nvSpPr>
        <p:spPr>
          <a:xfrm>
            <a:off x="2926080" y="3831336"/>
            <a:ext cx="1828800" cy="329184"/>
          </a:xfrm>
          <a:prstGeom prst="rect">
            <a:avLst/>
          </a:prstGeom>
          <a:solidFill>
            <a:srgbClr val="FFFFFF"/>
          </a:solidFill>
          <a:ln w="12700">
            <a:solidFill>
              <a:srgbClr val="E2E8F0"/>
            </a:solidFill>
            <a:prstDash val="solid"/>
          </a:ln>
        </p:spPr>
        <p:txBody>
          <a:bodyPr/>
          <a:lstStyle/>
          <a:p>
            <a:endParaRPr lang="en-US"/>
          </a:p>
        </p:txBody>
      </p:sp>
      <p:sp>
        <p:nvSpPr>
          <p:cNvPr id="50" name="Text 48"/>
          <p:cNvSpPr/>
          <p:nvPr/>
        </p:nvSpPr>
        <p:spPr>
          <a:xfrm>
            <a:off x="2926080" y="3831336"/>
            <a:ext cx="1828800" cy="32918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~1.8</a:t>
            </a:r>
            <a:endParaRPr lang="en-US" sz="1000"/>
          </a:p>
        </p:txBody>
      </p:sp>
      <p:sp>
        <p:nvSpPr>
          <p:cNvPr id="51" name="Shape 49"/>
          <p:cNvSpPr/>
          <p:nvPr/>
        </p:nvSpPr>
        <p:spPr>
          <a:xfrm>
            <a:off x="4800600" y="3831336"/>
            <a:ext cx="1828800" cy="329184"/>
          </a:xfrm>
          <a:prstGeom prst="rect">
            <a:avLst/>
          </a:prstGeom>
          <a:solidFill>
            <a:srgbClr val="FFFFFF"/>
          </a:solidFill>
          <a:ln w="12700">
            <a:solidFill>
              <a:srgbClr val="E2E8F0"/>
            </a:solidFill>
            <a:prstDash val="solid"/>
          </a:ln>
        </p:spPr>
        <p:txBody>
          <a:bodyPr/>
          <a:lstStyle/>
          <a:p>
            <a:endParaRPr lang="en-US"/>
          </a:p>
        </p:txBody>
      </p:sp>
      <p:sp>
        <p:nvSpPr>
          <p:cNvPr id="52" name="Text 50"/>
          <p:cNvSpPr/>
          <p:nvPr/>
        </p:nvSpPr>
        <p:spPr>
          <a:xfrm>
            <a:off x="4800600" y="3831336"/>
            <a:ext cx="1828800" cy="32918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~2.9</a:t>
            </a:r>
            <a:endParaRPr lang="en-US" sz="1000"/>
          </a:p>
        </p:txBody>
      </p:sp>
      <p:sp>
        <p:nvSpPr>
          <p:cNvPr id="53" name="Shape 51"/>
          <p:cNvSpPr/>
          <p:nvPr/>
        </p:nvSpPr>
        <p:spPr>
          <a:xfrm>
            <a:off x="6675120" y="3831336"/>
            <a:ext cx="2011680" cy="329184"/>
          </a:xfrm>
          <a:prstGeom prst="rect">
            <a:avLst/>
          </a:prstGeom>
          <a:solidFill>
            <a:srgbClr val="EBF5FB"/>
          </a:solidFill>
          <a:ln w="12700">
            <a:solidFill>
              <a:srgbClr val="E2E8F0"/>
            </a:solidFill>
            <a:prstDash val="solid"/>
          </a:ln>
        </p:spPr>
        <p:txBody>
          <a:bodyPr/>
          <a:lstStyle/>
          <a:p>
            <a:endParaRPr lang="en-US"/>
          </a:p>
        </p:txBody>
      </p:sp>
      <p:sp>
        <p:nvSpPr>
          <p:cNvPr id="54" name="Text 52"/>
          <p:cNvSpPr/>
          <p:nvPr/>
        </p:nvSpPr>
        <p:spPr>
          <a:xfrm>
            <a:off x="6675120" y="3831336"/>
            <a:ext cx="2011680" cy="329184"/>
          </a:xfrm>
          <a:prstGeom prst="rect">
            <a:avLst/>
          </a:prstGeom>
          <a:noFill/>
          <a:ln/>
        </p:spPr>
        <p:txBody>
          <a:bodyPr wrap="square" lIns="0" tIns="0" rIns="0" bIns="0" rtlCol="0" anchor="ctr"/>
          <a:lstStyle/>
          <a:p>
            <a:pPr marL="0" indent="0" algn="ctr">
              <a:buNone/>
            </a:pPr>
            <a:r>
              <a:rPr lang="en-US" sz="1000">
                <a:solidFill>
                  <a:srgbClr val="4472C4"/>
                </a:solidFill>
                <a:latin typeface="Calibri" pitchFamily="34" charset="0"/>
                <a:ea typeface="Calibri" pitchFamily="34" charset="-122"/>
                <a:cs typeface="Calibri" pitchFamily="34" charset="-120"/>
              </a:rPr>
              <a:t>Low-Vol: +61%</a:t>
            </a:r>
            <a:endParaRPr lang="en-US" sz="1000"/>
          </a:p>
        </p:txBody>
      </p:sp>
      <p:sp>
        <p:nvSpPr>
          <p:cNvPr id="55" name="Shape 53"/>
          <p:cNvSpPr/>
          <p:nvPr/>
        </p:nvSpPr>
        <p:spPr>
          <a:xfrm>
            <a:off x="320040" y="4178808"/>
            <a:ext cx="2560320" cy="329184"/>
          </a:xfrm>
          <a:prstGeom prst="rect">
            <a:avLst/>
          </a:prstGeom>
          <a:solidFill>
            <a:srgbClr val="F0F4F8"/>
          </a:solidFill>
          <a:ln w="12700">
            <a:solidFill>
              <a:srgbClr val="E2E8F0"/>
            </a:solidFill>
            <a:prstDash val="solid"/>
          </a:ln>
        </p:spPr>
        <p:txBody>
          <a:bodyPr/>
          <a:lstStyle/>
          <a:p>
            <a:endParaRPr lang="en-US"/>
          </a:p>
        </p:txBody>
      </p:sp>
      <p:sp>
        <p:nvSpPr>
          <p:cNvPr id="56" name="Text 54"/>
          <p:cNvSpPr/>
          <p:nvPr/>
        </p:nvSpPr>
        <p:spPr>
          <a:xfrm>
            <a:off x="320040" y="4178808"/>
            <a:ext cx="2560320" cy="329184"/>
          </a:xfrm>
          <a:prstGeom prst="rect">
            <a:avLst/>
          </a:prstGeom>
          <a:noFill/>
          <a:ln/>
        </p:spPr>
        <p:txBody>
          <a:bodyPr wrap="square" lIns="0" tIns="0" rIns="0" bIns="0" rtlCol="0" anchor="ctr"/>
          <a:lstStyle/>
          <a:p>
            <a:pPr marL="0" indent="0" algn="ctr">
              <a:buNone/>
            </a:pPr>
            <a:r>
              <a:rPr lang="en-US" sz="1000" b="1">
                <a:solidFill>
                  <a:srgbClr val="1E293B"/>
                </a:solidFill>
                <a:latin typeface="Calibri" pitchFamily="34" charset="0"/>
                <a:ea typeface="Calibri" pitchFamily="34" charset="-122"/>
                <a:cs typeface="Calibri" pitchFamily="34" charset="-120"/>
              </a:rPr>
              <a:t>Avg Customer Contacts</a:t>
            </a:r>
            <a:endParaRPr lang="en-US" sz="1000"/>
          </a:p>
        </p:txBody>
      </p:sp>
      <p:sp>
        <p:nvSpPr>
          <p:cNvPr id="57" name="Shape 55"/>
          <p:cNvSpPr/>
          <p:nvPr/>
        </p:nvSpPr>
        <p:spPr>
          <a:xfrm>
            <a:off x="2926080" y="4178808"/>
            <a:ext cx="1828800" cy="329184"/>
          </a:xfrm>
          <a:prstGeom prst="rect">
            <a:avLst/>
          </a:prstGeom>
          <a:solidFill>
            <a:srgbClr val="F0F4F8"/>
          </a:solidFill>
          <a:ln w="12700">
            <a:solidFill>
              <a:srgbClr val="E2E8F0"/>
            </a:solidFill>
            <a:prstDash val="solid"/>
          </a:ln>
        </p:spPr>
        <p:txBody>
          <a:bodyPr/>
          <a:lstStyle/>
          <a:p>
            <a:endParaRPr lang="en-US"/>
          </a:p>
        </p:txBody>
      </p:sp>
      <p:sp>
        <p:nvSpPr>
          <p:cNvPr id="58" name="Text 56"/>
          <p:cNvSpPr/>
          <p:nvPr/>
        </p:nvSpPr>
        <p:spPr>
          <a:xfrm>
            <a:off x="2926080" y="4178808"/>
            <a:ext cx="1828800" cy="32918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~2.2</a:t>
            </a:r>
            <a:endParaRPr lang="en-US" sz="1000"/>
          </a:p>
        </p:txBody>
      </p:sp>
      <p:sp>
        <p:nvSpPr>
          <p:cNvPr id="59" name="Shape 57"/>
          <p:cNvSpPr/>
          <p:nvPr/>
        </p:nvSpPr>
        <p:spPr>
          <a:xfrm>
            <a:off x="4800600" y="4178808"/>
            <a:ext cx="1828800" cy="329184"/>
          </a:xfrm>
          <a:prstGeom prst="rect">
            <a:avLst/>
          </a:prstGeom>
          <a:solidFill>
            <a:srgbClr val="F0F4F8"/>
          </a:solidFill>
          <a:ln w="12700">
            <a:solidFill>
              <a:srgbClr val="E2E8F0"/>
            </a:solidFill>
            <a:prstDash val="solid"/>
          </a:ln>
        </p:spPr>
        <p:txBody>
          <a:bodyPr/>
          <a:lstStyle/>
          <a:p>
            <a:endParaRPr lang="en-US"/>
          </a:p>
        </p:txBody>
      </p:sp>
      <p:sp>
        <p:nvSpPr>
          <p:cNvPr id="60" name="Text 58"/>
          <p:cNvSpPr/>
          <p:nvPr/>
        </p:nvSpPr>
        <p:spPr>
          <a:xfrm>
            <a:off x="4800600" y="4178808"/>
            <a:ext cx="1828800" cy="32918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~3.1</a:t>
            </a:r>
            <a:endParaRPr lang="en-US" sz="1000"/>
          </a:p>
        </p:txBody>
      </p:sp>
      <p:sp>
        <p:nvSpPr>
          <p:cNvPr id="61" name="Shape 59"/>
          <p:cNvSpPr/>
          <p:nvPr/>
        </p:nvSpPr>
        <p:spPr>
          <a:xfrm>
            <a:off x="6675120" y="4178808"/>
            <a:ext cx="2011680" cy="329184"/>
          </a:xfrm>
          <a:prstGeom prst="rect">
            <a:avLst/>
          </a:prstGeom>
          <a:solidFill>
            <a:srgbClr val="EBF5FB"/>
          </a:solidFill>
          <a:ln w="12700">
            <a:solidFill>
              <a:srgbClr val="E2E8F0"/>
            </a:solidFill>
            <a:prstDash val="solid"/>
          </a:ln>
        </p:spPr>
        <p:txBody>
          <a:bodyPr/>
          <a:lstStyle/>
          <a:p>
            <a:endParaRPr lang="en-US"/>
          </a:p>
        </p:txBody>
      </p:sp>
      <p:sp>
        <p:nvSpPr>
          <p:cNvPr id="62" name="Text 60"/>
          <p:cNvSpPr/>
          <p:nvPr/>
        </p:nvSpPr>
        <p:spPr>
          <a:xfrm>
            <a:off x="6675120" y="4178808"/>
            <a:ext cx="2011680" cy="329184"/>
          </a:xfrm>
          <a:prstGeom prst="rect">
            <a:avLst/>
          </a:prstGeom>
          <a:noFill/>
          <a:ln/>
        </p:spPr>
        <p:txBody>
          <a:bodyPr wrap="square" lIns="0" tIns="0" rIns="0" bIns="0" rtlCol="0" anchor="ctr"/>
          <a:lstStyle/>
          <a:p>
            <a:pPr marL="0" indent="0" algn="ctr">
              <a:buNone/>
            </a:pPr>
            <a:r>
              <a:rPr lang="en-US" sz="1000">
                <a:solidFill>
                  <a:srgbClr val="4472C4"/>
                </a:solidFill>
                <a:latin typeface="Calibri" pitchFamily="34" charset="0"/>
                <a:ea typeface="Calibri" pitchFamily="34" charset="-122"/>
                <a:cs typeface="Calibri" pitchFamily="34" charset="-120"/>
              </a:rPr>
              <a:t>Low-Vol: +41%</a:t>
            </a:r>
            <a:endParaRPr lang="en-US" sz="1000"/>
          </a:p>
        </p:txBody>
      </p:sp>
      <p:sp>
        <p:nvSpPr>
          <p:cNvPr id="63" name="Shape 61"/>
          <p:cNvSpPr/>
          <p:nvPr/>
        </p:nvSpPr>
        <p:spPr>
          <a:xfrm>
            <a:off x="320040" y="4572000"/>
            <a:ext cx="8503920" cy="365760"/>
          </a:xfrm>
          <a:prstGeom prst="rect">
            <a:avLst/>
          </a:prstGeom>
          <a:solidFill>
            <a:srgbClr val="0F1F3D"/>
          </a:solidFill>
          <a:ln w="12700">
            <a:solidFill>
              <a:srgbClr val="0F1F3D"/>
            </a:solidFill>
            <a:prstDash val="solid"/>
          </a:ln>
        </p:spPr>
        <p:txBody>
          <a:bodyPr/>
          <a:lstStyle/>
          <a:p>
            <a:endParaRPr lang="en-US"/>
          </a:p>
        </p:txBody>
      </p:sp>
      <p:sp>
        <p:nvSpPr>
          <p:cNvPr id="64" name="Text 62"/>
          <p:cNvSpPr/>
          <p:nvPr/>
        </p:nvSpPr>
        <p:spPr>
          <a:xfrm>
            <a:off x="502920" y="4599432"/>
            <a:ext cx="8229600" cy="320040"/>
          </a:xfrm>
          <a:prstGeom prst="rect">
            <a:avLst/>
          </a:prstGeom>
          <a:noFill/>
          <a:ln/>
        </p:spPr>
        <p:txBody>
          <a:bodyPr wrap="square" lIns="0" tIns="0" rIns="0" bIns="0" rtlCol="0" anchor="ctr"/>
          <a:lstStyle/>
          <a:p>
            <a:pPr marL="0" indent="0">
              <a:buNone/>
            </a:pPr>
            <a:r>
              <a:rPr lang="en-US" sz="1050">
                <a:solidFill>
                  <a:srgbClr val="7BA7D4"/>
                </a:solidFill>
                <a:latin typeface="Calibri" pitchFamily="34" charset="0"/>
                <a:ea typeface="Calibri" pitchFamily="34" charset="-122"/>
                <a:cs typeface="Calibri" pitchFamily="34" charset="-120"/>
              </a:rPr>
              <a:t>Business implication: Low-Volume existing customers behave like pre-churners — they represent a latent attrition risk that retention teams should prioritize proactively.</a:t>
            </a:r>
            <a:endParaRPr lang="en-US" sz="10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F1F3D"/>
          </a:solidFill>
          <a:ln w="12700">
            <a:solidFill>
              <a:srgbClr val="0F1F3D"/>
            </a:solidFill>
            <a:prstDash val="solid"/>
          </a:ln>
        </p:spPr>
        <p:txBody>
          <a:bodyPr/>
          <a:lstStyle/>
          <a:p>
            <a:endParaRPr lang="en-US"/>
          </a:p>
        </p:txBody>
      </p:sp>
      <p:sp>
        <p:nvSpPr>
          <p:cNvPr id="3" name="Text 1"/>
          <p:cNvSpPr/>
          <p:nvPr/>
        </p:nvSpPr>
        <p:spPr>
          <a:xfrm>
            <a:off x="411480" y="91440"/>
            <a:ext cx="8229600" cy="54864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Statistical Analysis: T-Tests</a:t>
            </a:r>
            <a:endParaRPr lang="en-US" sz="2200"/>
          </a:p>
        </p:txBody>
      </p:sp>
      <p:sp>
        <p:nvSpPr>
          <p:cNvPr id="4" name="Text 2"/>
          <p:cNvSpPr/>
          <p:nvPr/>
        </p:nvSpPr>
        <p:spPr>
          <a:xfrm>
            <a:off x="411480" y="841248"/>
            <a:ext cx="8229600" cy="292608"/>
          </a:xfrm>
          <a:prstGeom prst="rect">
            <a:avLst/>
          </a:prstGeom>
          <a:noFill/>
          <a:ln/>
        </p:spPr>
        <p:txBody>
          <a:bodyPr wrap="square" lIns="0" tIns="0" rIns="0" bIns="0" rtlCol="0" anchor="ctr"/>
          <a:lstStyle/>
          <a:p>
            <a:pPr marL="0" indent="0">
              <a:buNone/>
            </a:pPr>
            <a:r>
              <a:rPr lang="en-US" sz="1200" b="1">
                <a:solidFill>
                  <a:srgbClr val="4472C4"/>
                </a:solidFill>
                <a:latin typeface="Calibri" pitchFamily="34" charset="0"/>
                <a:ea typeface="Calibri" pitchFamily="34" charset="-122"/>
                <a:cs typeface="Calibri" pitchFamily="34" charset="-120"/>
              </a:rPr>
              <a:t>T-Test Results — Attrited vs Existing Customers</a:t>
            </a:r>
            <a:endParaRPr lang="en-US" sz="1200"/>
          </a:p>
        </p:txBody>
      </p:sp>
      <p:sp>
        <p:nvSpPr>
          <p:cNvPr id="5" name="Shape 3"/>
          <p:cNvSpPr/>
          <p:nvPr/>
        </p:nvSpPr>
        <p:spPr>
          <a:xfrm>
            <a:off x="320040" y="1170432"/>
            <a:ext cx="2377440" cy="365760"/>
          </a:xfrm>
          <a:prstGeom prst="rect">
            <a:avLst/>
          </a:prstGeom>
          <a:solidFill>
            <a:srgbClr val="0F1F3D"/>
          </a:solidFill>
          <a:ln w="12700">
            <a:solidFill>
              <a:srgbClr val="FFFFFF"/>
            </a:solidFill>
            <a:prstDash val="solid"/>
          </a:ln>
        </p:spPr>
        <p:txBody>
          <a:bodyPr/>
          <a:lstStyle/>
          <a:p>
            <a:endParaRPr lang="en-US"/>
          </a:p>
        </p:txBody>
      </p:sp>
      <p:sp>
        <p:nvSpPr>
          <p:cNvPr id="6" name="Text 4"/>
          <p:cNvSpPr/>
          <p:nvPr/>
        </p:nvSpPr>
        <p:spPr>
          <a:xfrm>
            <a:off x="320040" y="1170432"/>
            <a:ext cx="2377440" cy="365760"/>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Feature</a:t>
            </a:r>
            <a:endParaRPr lang="en-US" sz="1000"/>
          </a:p>
        </p:txBody>
      </p:sp>
      <p:sp>
        <p:nvSpPr>
          <p:cNvPr id="7" name="Shape 5"/>
          <p:cNvSpPr/>
          <p:nvPr/>
        </p:nvSpPr>
        <p:spPr>
          <a:xfrm>
            <a:off x="2743200" y="1170432"/>
            <a:ext cx="1371600" cy="365760"/>
          </a:xfrm>
          <a:prstGeom prst="rect">
            <a:avLst/>
          </a:prstGeom>
          <a:solidFill>
            <a:srgbClr val="4472C4"/>
          </a:solidFill>
          <a:ln w="12700">
            <a:solidFill>
              <a:srgbClr val="FFFFFF"/>
            </a:solidFill>
            <a:prstDash val="solid"/>
          </a:ln>
        </p:spPr>
        <p:txBody>
          <a:bodyPr/>
          <a:lstStyle/>
          <a:p>
            <a:endParaRPr lang="en-US"/>
          </a:p>
        </p:txBody>
      </p:sp>
      <p:sp>
        <p:nvSpPr>
          <p:cNvPr id="8" name="Text 6"/>
          <p:cNvSpPr/>
          <p:nvPr/>
        </p:nvSpPr>
        <p:spPr>
          <a:xfrm>
            <a:off x="2743200" y="1170432"/>
            <a:ext cx="1371600" cy="365760"/>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Mean (Attrited)</a:t>
            </a:r>
            <a:endParaRPr lang="en-US" sz="1000"/>
          </a:p>
        </p:txBody>
      </p:sp>
      <p:sp>
        <p:nvSpPr>
          <p:cNvPr id="9" name="Shape 7"/>
          <p:cNvSpPr/>
          <p:nvPr/>
        </p:nvSpPr>
        <p:spPr>
          <a:xfrm>
            <a:off x="4160520" y="1170432"/>
            <a:ext cx="1371600" cy="365760"/>
          </a:xfrm>
          <a:prstGeom prst="rect">
            <a:avLst/>
          </a:prstGeom>
          <a:solidFill>
            <a:srgbClr val="4472C4"/>
          </a:solidFill>
          <a:ln w="12700">
            <a:solidFill>
              <a:srgbClr val="FFFFFF"/>
            </a:solidFill>
            <a:prstDash val="solid"/>
          </a:ln>
        </p:spPr>
        <p:txBody>
          <a:bodyPr/>
          <a:lstStyle/>
          <a:p>
            <a:endParaRPr lang="en-US"/>
          </a:p>
        </p:txBody>
      </p:sp>
      <p:sp>
        <p:nvSpPr>
          <p:cNvPr id="10" name="Text 8"/>
          <p:cNvSpPr/>
          <p:nvPr/>
        </p:nvSpPr>
        <p:spPr>
          <a:xfrm>
            <a:off x="4160520" y="1170432"/>
            <a:ext cx="1371600" cy="365760"/>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Mean (Existing)</a:t>
            </a:r>
            <a:endParaRPr lang="en-US" sz="1000"/>
          </a:p>
        </p:txBody>
      </p:sp>
      <p:sp>
        <p:nvSpPr>
          <p:cNvPr id="11" name="Shape 9"/>
          <p:cNvSpPr/>
          <p:nvPr/>
        </p:nvSpPr>
        <p:spPr>
          <a:xfrm>
            <a:off x="5577840" y="1170432"/>
            <a:ext cx="1097280" cy="365760"/>
          </a:xfrm>
          <a:prstGeom prst="rect">
            <a:avLst/>
          </a:prstGeom>
          <a:solidFill>
            <a:srgbClr val="0F1F3D"/>
          </a:solidFill>
          <a:ln w="12700">
            <a:solidFill>
              <a:srgbClr val="FFFFFF"/>
            </a:solidFill>
            <a:prstDash val="solid"/>
          </a:ln>
        </p:spPr>
        <p:txBody>
          <a:bodyPr/>
          <a:lstStyle/>
          <a:p>
            <a:endParaRPr lang="en-US"/>
          </a:p>
        </p:txBody>
      </p:sp>
      <p:sp>
        <p:nvSpPr>
          <p:cNvPr id="12" name="Text 10"/>
          <p:cNvSpPr/>
          <p:nvPr/>
        </p:nvSpPr>
        <p:spPr>
          <a:xfrm>
            <a:off x="5577840" y="1170432"/>
            <a:ext cx="1097280" cy="365760"/>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P-Value</a:t>
            </a:r>
            <a:endParaRPr lang="en-US" sz="1000"/>
          </a:p>
        </p:txBody>
      </p:sp>
      <p:sp>
        <p:nvSpPr>
          <p:cNvPr id="13" name="Shape 11"/>
          <p:cNvSpPr/>
          <p:nvPr/>
        </p:nvSpPr>
        <p:spPr>
          <a:xfrm>
            <a:off x="6720840" y="1170432"/>
            <a:ext cx="1097280" cy="365760"/>
          </a:xfrm>
          <a:prstGeom prst="rect">
            <a:avLst/>
          </a:prstGeom>
          <a:solidFill>
            <a:srgbClr val="0F1F3D"/>
          </a:solidFill>
          <a:ln w="12700">
            <a:solidFill>
              <a:srgbClr val="FFFFFF"/>
            </a:solidFill>
            <a:prstDash val="solid"/>
          </a:ln>
        </p:spPr>
        <p:txBody>
          <a:bodyPr/>
          <a:lstStyle/>
          <a:p>
            <a:endParaRPr lang="en-US"/>
          </a:p>
        </p:txBody>
      </p:sp>
      <p:sp>
        <p:nvSpPr>
          <p:cNvPr id="14" name="Text 12"/>
          <p:cNvSpPr/>
          <p:nvPr/>
        </p:nvSpPr>
        <p:spPr>
          <a:xfrm>
            <a:off x="6720840" y="1170432"/>
            <a:ext cx="1097280" cy="365760"/>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Significant</a:t>
            </a:r>
            <a:endParaRPr lang="en-US" sz="1000"/>
          </a:p>
        </p:txBody>
      </p:sp>
      <p:sp>
        <p:nvSpPr>
          <p:cNvPr id="15" name="Shape 13"/>
          <p:cNvSpPr/>
          <p:nvPr/>
        </p:nvSpPr>
        <p:spPr>
          <a:xfrm>
            <a:off x="320040" y="1536192"/>
            <a:ext cx="2377440" cy="283464"/>
          </a:xfrm>
          <a:prstGeom prst="rect">
            <a:avLst/>
          </a:prstGeom>
          <a:solidFill>
            <a:srgbClr val="FFFFFF"/>
          </a:solidFill>
          <a:ln w="12700">
            <a:solidFill>
              <a:srgbClr val="E2E8F0"/>
            </a:solidFill>
            <a:prstDash val="solid"/>
          </a:ln>
        </p:spPr>
        <p:txBody>
          <a:bodyPr/>
          <a:lstStyle/>
          <a:p>
            <a:endParaRPr lang="en-US"/>
          </a:p>
        </p:txBody>
      </p:sp>
      <p:sp>
        <p:nvSpPr>
          <p:cNvPr id="16" name="Text 14"/>
          <p:cNvSpPr/>
          <p:nvPr/>
        </p:nvSpPr>
        <p:spPr>
          <a:xfrm>
            <a:off x="320040" y="1536192"/>
            <a:ext cx="2377440" cy="283464"/>
          </a:xfrm>
          <a:prstGeom prst="rect">
            <a:avLst/>
          </a:prstGeom>
          <a:noFill/>
          <a:ln/>
        </p:spPr>
        <p:txBody>
          <a:bodyPr wrap="square" lIns="0" tIns="0" rIns="0" bIns="0" rtlCol="0" anchor="ctr"/>
          <a:lstStyle/>
          <a:p>
            <a:pPr marL="0" indent="0" algn="ctr">
              <a:buNone/>
            </a:pPr>
            <a:r>
              <a:rPr lang="en-US" sz="1000" b="1">
                <a:solidFill>
                  <a:srgbClr val="1E293B"/>
                </a:solidFill>
                <a:latin typeface="Calibri" pitchFamily="34" charset="0"/>
                <a:ea typeface="Calibri" pitchFamily="34" charset="-122"/>
                <a:cs typeface="Calibri" pitchFamily="34" charset="-120"/>
              </a:rPr>
              <a:t>Total Transaction Count</a:t>
            </a:r>
            <a:endParaRPr lang="en-US" sz="1000"/>
          </a:p>
        </p:txBody>
      </p:sp>
      <p:sp>
        <p:nvSpPr>
          <p:cNvPr id="17" name="Shape 15"/>
          <p:cNvSpPr/>
          <p:nvPr/>
        </p:nvSpPr>
        <p:spPr>
          <a:xfrm>
            <a:off x="2743200" y="1536192"/>
            <a:ext cx="1371600" cy="283464"/>
          </a:xfrm>
          <a:prstGeom prst="rect">
            <a:avLst/>
          </a:prstGeom>
          <a:solidFill>
            <a:srgbClr val="FFFFFF"/>
          </a:solidFill>
          <a:ln w="12700">
            <a:solidFill>
              <a:srgbClr val="E2E8F0"/>
            </a:solidFill>
            <a:prstDash val="solid"/>
          </a:ln>
        </p:spPr>
        <p:txBody>
          <a:bodyPr/>
          <a:lstStyle/>
          <a:p>
            <a:endParaRPr lang="en-US"/>
          </a:p>
        </p:txBody>
      </p:sp>
      <p:sp>
        <p:nvSpPr>
          <p:cNvPr id="18" name="Text 16"/>
          <p:cNvSpPr/>
          <p:nvPr/>
        </p:nvSpPr>
        <p:spPr>
          <a:xfrm>
            <a:off x="2743200" y="1536192"/>
            <a:ext cx="137160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44.9</a:t>
            </a:r>
            <a:endParaRPr lang="en-US" sz="1000"/>
          </a:p>
        </p:txBody>
      </p:sp>
      <p:sp>
        <p:nvSpPr>
          <p:cNvPr id="19" name="Shape 17"/>
          <p:cNvSpPr/>
          <p:nvPr/>
        </p:nvSpPr>
        <p:spPr>
          <a:xfrm>
            <a:off x="4160520" y="1536192"/>
            <a:ext cx="1371600" cy="283464"/>
          </a:xfrm>
          <a:prstGeom prst="rect">
            <a:avLst/>
          </a:prstGeom>
          <a:solidFill>
            <a:srgbClr val="FFFFFF"/>
          </a:solidFill>
          <a:ln w="12700">
            <a:solidFill>
              <a:srgbClr val="E2E8F0"/>
            </a:solidFill>
            <a:prstDash val="solid"/>
          </a:ln>
        </p:spPr>
        <p:txBody>
          <a:bodyPr/>
          <a:lstStyle/>
          <a:p>
            <a:endParaRPr lang="en-US"/>
          </a:p>
        </p:txBody>
      </p:sp>
      <p:sp>
        <p:nvSpPr>
          <p:cNvPr id="20" name="Text 18"/>
          <p:cNvSpPr/>
          <p:nvPr/>
        </p:nvSpPr>
        <p:spPr>
          <a:xfrm>
            <a:off x="4160520" y="1536192"/>
            <a:ext cx="137160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68.7</a:t>
            </a:r>
            <a:endParaRPr lang="en-US" sz="1000"/>
          </a:p>
        </p:txBody>
      </p:sp>
      <p:sp>
        <p:nvSpPr>
          <p:cNvPr id="21" name="Shape 19"/>
          <p:cNvSpPr/>
          <p:nvPr/>
        </p:nvSpPr>
        <p:spPr>
          <a:xfrm>
            <a:off x="5577840" y="1536192"/>
            <a:ext cx="1097280" cy="283464"/>
          </a:xfrm>
          <a:prstGeom prst="rect">
            <a:avLst/>
          </a:prstGeom>
          <a:solidFill>
            <a:srgbClr val="FFFFFF"/>
          </a:solidFill>
          <a:ln w="12700">
            <a:solidFill>
              <a:srgbClr val="E2E8F0"/>
            </a:solidFill>
            <a:prstDash val="solid"/>
          </a:ln>
        </p:spPr>
        <p:txBody>
          <a:bodyPr/>
          <a:lstStyle/>
          <a:p>
            <a:endParaRPr lang="en-US"/>
          </a:p>
        </p:txBody>
      </p:sp>
      <p:sp>
        <p:nvSpPr>
          <p:cNvPr id="22" name="Text 20"/>
          <p:cNvSpPr/>
          <p:nvPr/>
        </p:nvSpPr>
        <p:spPr>
          <a:xfrm>
            <a:off x="5577840" y="1536192"/>
            <a:ext cx="109728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&lt; 0.0001</a:t>
            </a:r>
            <a:endParaRPr lang="en-US" sz="1000"/>
          </a:p>
        </p:txBody>
      </p:sp>
      <p:sp>
        <p:nvSpPr>
          <p:cNvPr id="23" name="Shape 21"/>
          <p:cNvSpPr/>
          <p:nvPr/>
        </p:nvSpPr>
        <p:spPr>
          <a:xfrm>
            <a:off x="6720840" y="1536192"/>
            <a:ext cx="1097280" cy="283464"/>
          </a:xfrm>
          <a:prstGeom prst="rect">
            <a:avLst/>
          </a:prstGeom>
          <a:solidFill>
            <a:srgbClr val="FFFFFF"/>
          </a:solidFill>
          <a:ln w="12700">
            <a:solidFill>
              <a:srgbClr val="E2E8F0"/>
            </a:solidFill>
            <a:prstDash val="solid"/>
          </a:ln>
        </p:spPr>
        <p:txBody>
          <a:bodyPr/>
          <a:lstStyle/>
          <a:p>
            <a:endParaRPr lang="en-US"/>
          </a:p>
        </p:txBody>
      </p:sp>
      <p:sp>
        <p:nvSpPr>
          <p:cNvPr id="24" name="Text 22"/>
          <p:cNvSpPr/>
          <p:nvPr/>
        </p:nvSpPr>
        <p:spPr>
          <a:xfrm>
            <a:off x="6720840" y="1536192"/>
            <a:ext cx="1097280" cy="283464"/>
          </a:xfrm>
          <a:prstGeom prst="rect">
            <a:avLst/>
          </a:prstGeom>
          <a:noFill/>
          <a:ln/>
        </p:spPr>
        <p:txBody>
          <a:bodyPr wrap="square" lIns="0" tIns="0" rIns="0" bIns="0" rtlCol="0" anchor="ctr"/>
          <a:lstStyle/>
          <a:p>
            <a:pPr marL="0" indent="0" algn="ctr">
              <a:buNone/>
            </a:pPr>
            <a:r>
              <a:rPr lang="en-US" sz="1000" b="1">
                <a:solidFill>
                  <a:srgbClr val="27AE60"/>
                </a:solidFill>
                <a:latin typeface="Calibri" pitchFamily="34" charset="0"/>
                <a:ea typeface="Calibri" pitchFamily="34" charset="-122"/>
                <a:cs typeface="Calibri" pitchFamily="34" charset="-120"/>
              </a:rPr>
              <a:t>✓</a:t>
            </a:r>
            <a:endParaRPr lang="en-US" sz="1000"/>
          </a:p>
        </p:txBody>
      </p:sp>
      <p:sp>
        <p:nvSpPr>
          <p:cNvPr id="25" name="Shape 23"/>
          <p:cNvSpPr/>
          <p:nvPr/>
        </p:nvSpPr>
        <p:spPr>
          <a:xfrm>
            <a:off x="320040" y="1837944"/>
            <a:ext cx="2377440" cy="283464"/>
          </a:xfrm>
          <a:prstGeom prst="rect">
            <a:avLst/>
          </a:prstGeom>
          <a:solidFill>
            <a:srgbClr val="F0F4F8"/>
          </a:solidFill>
          <a:ln w="12700">
            <a:solidFill>
              <a:srgbClr val="E2E8F0"/>
            </a:solidFill>
            <a:prstDash val="solid"/>
          </a:ln>
        </p:spPr>
        <p:txBody>
          <a:bodyPr/>
          <a:lstStyle/>
          <a:p>
            <a:endParaRPr lang="en-US"/>
          </a:p>
        </p:txBody>
      </p:sp>
      <p:sp>
        <p:nvSpPr>
          <p:cNvPr id="26" name="Text 24"/>
          <p:cNvSpPr/>
          <p:nvPr/>
        </p:nvSpPr>
        <p:spPr>
          <a:xfrm>
            <a:off x="320040" y="1837944"/>
            <a:ext cx="2377440" cy="283464"/>
          </a:xfrm>
          <a:prstGeom prst="rect">
            <a:avLst/>
          </a:prstGeom>
          <a:noFill/>
          <a:ln/>
        </p:spPr>
        <p:txBody>
          <a:bodyPr wrap="square" lIns="0" tIns="0" rIns="0" bIns="0" rtlCol="0" anchor="ctr"/>
          <a:lstStyle/>
          <a:p>
            <a:pPr marL="0" indent="0" algn="ctr">
              <a:buNone/>
            </a:pPr>
            <a:r>
              <a:rPr lang="en-US" sz="1000" b="1">
                <a:solidFill>
                  <a:srgbClr val="1E293B"/>
                </a:solidFill>
                <a:latin typeface="Calibri" pitchFamily="34" charset="0"/>
                <a:ea typeface="Calibri" pitchFamily="34" charset="-122"/>
                <a:cs typeface="Calibri" pitchFamily="34" charset="-120"/>
              </a:rPr>
              <a:t>Transaction Activity Change</a:t>
            </a:r>
            <a:endParaRPr lang="en-US" sz="1000"/>
          </a:p>
        </p:txBody>
      </p:sp>
      <p:sp>
        <p:nvSpPr>
          <p:cNvPr id="27" name="Shape 25"/>
          <p:cNvSpPr/>
          <p:nvPr/>
        </p:nvSpPr>
        <p:spPr>
          <a:xfrm>
            <a:off x="2743200" y="1837944"/>
            <a:ext cx="1371600" cy="283464"/>
          </a:xfrm>
          <a:prstGeom prst="rect">
            <a:avLst/>
          </a:prstGeom>
          <a:solidFill>
            <a:srgbClr val="F0F4F8"/>
          </a:solidFill>
          <a:ln w="12700">
            <a:solidFill>
              <a:srgbClr val="E2E8F0"/>
            </a:solidFill>
            <a:prstDash val="solid"/>
          </a:ln>
        </p:spPr>
        <p:txBody>
          <a:bodyPr/>
          <a:lstStyle/>
          <a:p>
            <a:endParaRPr lang="en-US"/>
          </a:p>
        </p:txBody>
      </p:sp>
      <p:sp>
        <p:nvSpPr>
          <p:cNvPr id="28" name="Text 26"/>
          <p:cNvSpPr/>
          <p:nvPr/>
        </p:nvSpPr>
        <p:spPr>
          <a:xfrm>
            <a:off x="2743200" y="1837944"/>
            <a:ext cx="137160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0.60</a:t>
            </a:r>
            <a:endParaRPr lang="en-US" sz="1000"/>
          </a:p>
        </p:txBody>
      </p:sp>
      <p:sp>
        <p:nvSpPr>
          <p:cNvPr id="29" name="Shape 27"/>
          <p:cNvSpPr/>
          <p:nvPr/>
        </p:nvSpPr>
        <p:spPr>
          <a:xfrm>
            <a:off x="4160520" y="1837944"/>
            <a:ext cx="1371600" cy="283464"/>
          </a:xfrm>
          <a:prstGeom prst="rect">
            <a:avLst/>
          </a:prstGeom>
          <a:solidFill>
            <a:srgbClr val="F0F4F8"/>
          </a:solidFill>
          <a:ln w="12700">
            <a:solidFill>
              <a:srgbClr val="E2E8F0"/>
            </a:solidFill>
            <a:prstDash val="solid"/>
          </a:ln>
        </p:spPr>
        <p:txBody>
          <a:bodyPr/>
          <a:lstStyle/>
          <a:p>
            <a:endParaRPr lang="en-US"/>
          </a:p>
        </p:txBody>
      </p:sp>
      <p:sp>
        <p:nvSpPr>
          <p:cNvPr id="30" name="Text 28"/>
          <p:cNvSpPr/>
          <p:nvPr/>
        </p:nvSpPr>
        <p:spPr>
          <a:xfrm>
            <a:off x="4160520" y="1837944"/>
            <a:ext cx="137160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0.70</a:t>
            </a:r>
            <a:endParaRPr lang="en-US" sz="1000"/>
          </a:p>
        </p:txBody>
      </p:sp>
      <p:sp>
        <p:nvSpPr>
          <p:cNvPr id="31" name="Shape 29"/>
          <p:cNvSpPr/>
          <p:nvPr/>
        </p:nvSpPr>
        <p:spPr>
          <a:xfrm>
            <a:off x="5577840" y="1837944"/>
            <a:ext cx="1097280" cy="283464"/>
          </a:xfrm>
          <a:prstGeom prst="rect">
            <a:avLst/>
          </a:prstGeom>
          <a:solidFill>
            <a:srgbClr val="F0F4F8"/>
          </a:solidFill>
          <a:ln w="12700">
            <a:solidFill>
              <a:srgbClr val="E2E8F0"/>
            </a:solidFill>
            <a:prstDash val="solid"/>
          </a:ln>
        </p:spPr>
        <p:txBody>
          <a:bodyPr/>
          <a:lstStyle/>
          <a:p>
            <a:endParaRPr lang="en-US"/>
          </a:p>
        </p:txBody>
      </p:sp>
      <p:sp>
        <p:nvSpPr>
          <p:cNvPr id="32" name="Text 30"/>
          <p:cNvSpPr/>
          <p:nvPr/>
        </p:nvSpPr>
        <p:spPr>
          <a:xfrm>
            <a:off x="5577840" y="1837944"/>
            <a:ext cx="109728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&lt; 0.0001</a:t>
            </a:r>
            <a:endParaRPr lang="en-US" sz="1000"/>
          </a:p>
        </p:txBody>
      </p:sp>
      <p:sp>
        <p:nvSpPr>
          <p:cNvPr id="33" name="Shape 31"/>
          <p:cNvSpPr/>
          <p:nvPr/>
        </p:nvSpPr>
        <p:spPr>
          <a:xfrm>
            <a:off x="6720840" y="1837944"/>
            <a:ext cx="1097280" cy="283464"/>
          </a:xfrm>
          <a:prstGeom prst="rect">
            <a:avLst/>
          </a:prstGeom>
          <a:solidFill>
            <a:srgbClr val="F0F4F8"/>
          </a:solidFill>
          <a:ln w="12700">
            <a:solidFill>
              <a:srgbClr val="E2E8F0"/>
            </a:solidFill>
            <a:prstDash val="solid"/>
          </a:ln>
        </p:spPr>
        <p:txBody>
          <a:bodyPr/>
          <a:lstStyle/>
          <a:p>
            <a:endParaRPr lang="en-US"/>
          </a:p>
        </p:txBody>
      </p:sp>
      <p:sp>
        <p:nvSpPr>
          <p:cNvPr id="34" name="Text 32"/>
          <p:cNvSpPr/>
          <p:nvPr/>
        </p:nvSpPr>
        <p:spPr>
          <a:xfrm>
            <a:off x="6720840" y="1837944"/>
            <a:ext cx="1097280" cy="283464"/>
          </a:xfrm>
          <a:prstGeom prst="rect">
            <a:avLst/>
          </a:prstGeom>
          <a:noFill/>
          <a:ln/>
        </p:spPr>
        <p:txBody>
          <a:bodyPr wrap="square" lIns="0" tIns="0" rIns="0" bIns="0" rtlCol="0" anchor="ctr"/>
          <a:lstStyle/>
          <a:p>
            <a:pPr marL="0" indent="0" algn="ctr">
              <a:buNone/>
            </a:pPr>
            <a:r>
              <a:rPr lang="en-US" sz="1000" b="1">
                <a:solidFill>
                  <a:srgbClr val="27AE60"/>
                </a:solidFill>
                <a:latin typeface="Calibri" pitchFamily="34" charset="0"/>
                <a:ea typeface="Calibri" pitchFamily="34" charset="-122"/>
                <a:cs typeface="Calibri" pitchFamily="34" charset="-120"/>
              </a:rPr>
              <a:t>✓</a:t>
            </a:r>
            <a:endParaRPr lang="en-US" sz="1000"/>
          </a:p>
        </p:txBody>
      </p:sp>
      <p:sp>
        <p:nvSpPr>
          <p:cNvPr id="35" name="Shape 33"/>
          <p:cNvSpPr/>
          <p:nvPr/>
        </p:nvSpPr>
        <p:spPr>
          <a:xfrm>
            <a:off x="320040" y="2139696"/>
            <a:ext cx="2377440" cy="283464"/>
          </a:xfrm>
          <a:prstGeom prst="rect">
            <a:avLst/>
          </a:prstGeom>
          <a:solidFill>
            <a:srgbClr val="FFFFFF"/>
          </a:solidFill>
          <a:ln w="12700">
            <a:solidFill>
              <a:srgbClr val="E2E8F0"/>
            </a:solidFill>
            <a:prstDash val="solid"/>
          </a:ln>
        </p:spPr>
        <p:txBody>
          <a:bodyPr/>
          <a:lstStyle/>
          <a:p>
            <a:endParaRPr lang="en-US"/>
          </a:p>
        </p:txBody>
      </p:sp>
      <p:sp>
        <p:nvSpPr>
          <p:cNvPr id="36" name="Text 34"/>
          <p:cNvSpPr/>
          <p:nvPr/>
        </p:nvSpPr>
        <p:spPr>
          <a:xfrm>
            <a:off x="320040" y="2139696"/>
            <a:ext cx="2377440" cy="283464"/>
          </a:xfrm>
          <a:prstGeom prst="rect">
            <a:avLst/>
          </a:prstGeom>
          <a:noFill/>
          <a:ln/>
        </p:spPr>
        <p:txBody>
          <a:bodyPr wrap="square" lIns="0" tIns="0" rIns="0" bIns="0" rtlCol="0" anchor="ctr"/>
          <a:lstStyle/>
          <a:p>
            <a:pPr marL="0" indent="0" algn="ctr">
              <a:buNone/>
            </a:pPr>
            <a:r>
              <a:rPr lang="en-US" sz="1000" b="1">
                <a:solidFill>
                  <a:srgbClr val="1E293B"/>
                </a:solidFill>
                <a:latin typeface="Calibri" pitchFamily="34" charset="0"/>
                <a:ea typeface="Calibri" pitchFamily="34" charset="-122"/>
                <a:cs typeface="Calibri" pitchFamily="34" charset="-120"/>
              </a:rPr>
              <a:t>Revolving Balance</a:t>
            </a:r>
            <a:endParaRPr lang="en-US" sz="1000"/>
          </a:p>
        </p:txBody>
      </p:sp>
      <p:sp>
        <p:nvSpPr>
          <p:cNvPr id="37" name="Shape 35"/>
          <p:cNvSpPr/>
          <p:nvPr/>
        </p:nvSpPr>
        <p:spPr>
          <a:xfrm>
            <a:off x="2743200" y="2139696"/>
            <a:ext cx="1371600" cy="283464"/>
          </a:xfrm>
          <a:prstGeom prst="rect">
            <a:avLst/>
          </a:prstGeom>
          <a:solidFill>
            <a:srgbClr val="FFFFFF"/>
          </a:solidFill>
          <a:ln w="12700">
            <a:solidFill>
              <a:srgbClr val="E2E8F0"/>
            </a:solidFill>
            <a:prstDash val="solid"/>
          </a:ln>
        </p:spPr>
        <p:txBody>
          <a:bodyPr/>
          <a:lstStyle/>
          <a:p>
            <a:endParaRPr lang="en-US"/>
          </a:p>
        </p:txBody>
      </p:sp>
      <p:sp>
        <p:nvSpPr>
          <p:cNvPr id="38" name="Text 36"/>
          <p:cNvSpPr/>
          <p:nvPr/>
        </p:nvSpPr>
        <p:spPr>
          <a:xfrm>
            <a:off x="2743200" y="2139696"/>
            <a:ext cx="137160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672.8</a:t>
            </a:r>
            <a:endParaRPr lang="en-US" sz="1000"/>
          </a:p>
        </p:txBody>
      </p:sp>
      <p:sp>
        <p:nvSpPr>
          <p:cNvPr id="39" name="Shape 37"/>
          <p:cNvSpPr/>
          <p:nvPr/>
        </p:nvSpPr>
        <p:spPr>
          <a:xfrm>
            <a:off x="4160520" y="2139696"/>
            <a:ext cx="1371600" cy="283464"/>
          </a:xfrm>
          <a:prstGeom prst="rect">
            <a:avLst/>
          </a:prstGeom>
          <a:solidFill>
            <a:srgbClr val="FFFFFF"/>
          </a:solidFill>
          <a:ln w="12700">
            <a:solidFill>
              <a:srgbClr val="E2E8F0"/>
            </a:solidFill>
            <a:prstDash val="solid"/>
          </a:ln>
        </p:spPr>
        <p:txBody>
          <a:bodyPr/>
          <a:lstStyle/>
          <a:p>
            <a:endParaRPr lang="en-US"/>
          </a:p>
        </p:txBody>
      </p:sp>
      <p:sp>
        <p:nvSpPr>
          <p:cNvPr id="40" name="Text 38"/>
          <p:cNvSpPr/>
          <p:nvPr/>
        </p:nvSpPr>
        <p:spPr>
          <a:xfrm>
            <a:off x="4160520" y="2139696"/>
            <a:ext cx="137160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1,256.6</a:t>
            </a:r>
            <a:endParaRPr lang="en-US" sz="1000"/>
          </a:p>
        </p:txBody>
      </p:sp>
      <p:sp>
        <p:nvSpPr>
          <p:cNvPr id="41" name="Shape 39"/>
          <p:cNvSpPr/>
          <p:nvPr/>
        </p:nvSpPr>
        <p:spPr>
          <a:xfrm>
            <a:off x="5577840" y="2139696"/>
            <a:ext cx="1097280" cy="283464"/>
          </a:xfrm>
          <a:prstGeom prst="rect">
            <a:avLst/>
          </a:prstGeom>
          <a:solidFill>
            <a:srgbClr val="FFFFFF"/>
          </a:solidFill>
          <a:ln w="12700">
            <a:solidFill>
              <a:srgbClr val="E2E8F0"/>
            </a:solidFill>
            <a:prstDash val="solid"/>
          </a:ln>
        </p:spPr>
        <p:txBody>
          <a:bodyPr/>
          <a:lstStyle/>
          <a:p>
            <a:endParaRPr lang="en-US"/>
          </a:p>
        </p:txBody>
      </p:sp>
      <p:sp>
        <p:nvSpPr>
          <p:cNvPr id="42" name="Text 40"/>
          <p:cNvSpPr/>
          <p:nvPr/>
        </p:nvSpPr>
        <p:spPr>
          <a:xfrm>
            <a:off x="5577840" y="2139696"/>
            <a:ext cx="109728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&lt; 0.0001</a:t>
            </a:r>
            <a:endParaRPr lang="en-US" sz="1000"/>
          </a:p>
        </p:txBody>
      </p:sp>
      <p:sp>
        <p:nvSpPr>
          <p:cNvPr id="43" name="Shape 41"/>
          <p:cNvSpPr/>
          <p:nvPr/>
        </p:nvSpPr>
        <p:spPr>
          <a:xfrm>
            <a:off x="6720840" y="2139696"/>
            <a:ext cx="1097280" cy="283464"/>
          </a:xfrm>
          <a:prstGeom prst="rect">
            <a:avLst/>
          </a:prstGeom>
          <a:solidFill>
            <a:srgbClr val="FFFFFF"/>
          </a:solidFill>
          <a:ln w="12700">
            <a:solidFill>
              <a:srgbClr val="E2E8F0"/>
            </a:solidFill>
            <a:prstDash val="solid"/>
          </a:ln>
        </p:spPr>
        <p:txBody>
          <a:bodyPr/>
          <a:lstStyle/>
          <a:p>
            <a:endParaRPr lang="en-US"/>
          </a:p>
        </p:txBody>
      </p:sp>
      <p:sp>
        <p:nvSpPr>
          <p:cNvPr id="44" name="Text 42"/>
          <p:cNvSpPr/>
          <p:nvPr/>
        </p:nvSpPr>
        <p:spPr>
          <a:xfrm>
            <a:off x="6720840" y="2139696"/>
            <a:ext cx="1097280" cy="283464"/>
          </a:xfrm>
          <a:prstGeom prst="rect">
            <a:avLst/>
          </a:prstGeom>
          <a:noFill/>
          <a:ln/>
        </p:spPr>
        <p:txBody>
          <a:bodyPr wrap="square" lIns="0" tIns="0" rIns="0" bIns="0" rtlCol="0" anchor="ctr"/>
          <a:lstStyle/>
          <a:p>
            <a:pPr marL="0" indent="0" algn="ctr">
              <a:buNone/>
            </a:pPr>
            <a:r>
              <a:rPr lang="en-US" sz="1000" b="1">
                <a:solidFill>
                  <a:srgbClr val="27AE60"/>
                </a:solidFill>
                <a:latin typeface="Calibri" pitchFamily="34" charset="0"/>
                <a:ea typeface="Calibri" pitchFamily="34" charset="-122"/>
                <a:cs typeface="Calibri" pitchFamily="34" charset="-120"/>
              </a:rPr>
              <a:t>✓</a:t>
            </a:r>
            <a:endParaRPr lang="en-US" sz="1000"/>
          </a:p>
        </p:txBody>
      </p:sp>
      <p:sp>
        <p:nvSpPr>
          <p:cNvPr id="45" name="Shape 43"/>
          <p:cNvSpPr/>
          <p:nvPr/>
        </p:nvSpPr>
        <p:spPr>
          <a:xfrm>
            <a:off x="320040" y="2441448"/>
            <a:ext cx="2377440" cy="283464"/>
          </a:xfrm>
          <a:prstGeom prst="rect">
            <a:avLst/>
          </a:prstGeom>
          <a:solidFill>
            <a:srgbClr val="F0F4F8"/>
          </a:solidFill>
          <a:ln w="12700">
            <a:solidFill>
              <a:srgbClr val="E2E8F0"/>
            </a:solidFill>
            <a:prstDash val="solid"/>
          </a:ln>
        </p:spPr>
        <p:txBody>
          <a:bodyPr/>
          <a:lstStyle/>
          <a:p>
            <a:endParaRPr lang="en-US"/>
          </a:p>
        </p:txBody>
      </p:sp>
      <p:sp>
        <p:nvSpPr>
          <p:cNvPr id="46" name="Text 44"/>
          <p:cNvSpPr/>
          <p:nvPr/>
        </p:nvSpPr>
        <p:spPr>
          <a:xfrm>
            <a:off x="320040" y="2441448"/>
            <a:ext cx="2377440" cy="283464"/>
          </a:xfrm>
          <a:prstGeom prst="rect">
            <a:avLst/>
          </a:prstGeom>
          <a:noFill/>
          <a:ln/>
        </p:spPr>
        <p:txBody>
          <a:bodyPr wrap="square" lIns="0" tIns="0" rIns="0" bIns="0" rtlCol="0" anchor="ctr"/>
          <a:lstStyle/>
          <a:p>
            <a:pPr marL="0" indent="0" algn="ctr">
              <a:buNone/>
            </a:pPr>
            <a:r>
              <a:rPr lang="en-US" sz="1000" b="1">
                <a:solidFill>
                  <a:srgbClr val="1E293B"/>
                </a:solidFill>
                <a:latin typeface="Calibri" pitchFamily="34" charset="0"/>
                <a:ea typeface="Calibri" pitchFamily="34" charset="-122"/>
                <a:cs typeface="Calibri" pitchFamily="34" charset="-120"/>
              </a:rPr>
              <a:t>Total Transaction Amount</a:t>
            </a:r>
            <a:endParaRPr lang="en-US" sz="1000"/>
          </a:p>
        </p:txBody>
      </p:sp>
      <p:sp>
        <p:nvSpPr>
          <p:cNvPr id="47" name="Shape 45"/>
          <p:cNvSpPr/>
          <p:nvPr/>
        </p:nvSpPr>
        <p:spPr>
          <a:xfrm>
            <a:off x="2743200" y="2441448"/>
            <a:ext cx="1371600" cy="283464"/>
          </a:xfrm>
          <a:prstGeom prst="rect">
            <a:avLst/>
          </a:prstGeom>
          <a:solidFill>
            <a:srgbClr val="F0F4F8"/>
          </a:solidFill>
          <a:ln w="12700">
            <a:solidFill>
              <a:srgbClr val="E2E8F0"/>
            </a:solidFill>
            <a:prstDash val="solid"/>
          </a:ln>
        </p:spPr>
        <p:txBody>
          <a:bodyPr/>
          <a:lstStyle/>
          <a:p>
            <a:endParaRPr lang="en-US"/>
          </a:p>
        </p:txBody>
      </p:sp>
      <p:sp>
        <p:nvSpPr>
          <p:cNvPr id="48" name="Text 46"/>
          <p:cNvSpPr/>
          <p:nvPr/>
        </p:nvSpPr>
        <p:spPr>
          <a:xfrm>
            <a:off x="2743200" y="2441448"/>
            <a:ext cx="137160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3,095</a:t>
            </a:r>
            <a:endParaRPr lang="en-US" sz="1000"/>
          </a:p>
        </p:txBody>
      </p:sp>
      <p:sp>
        <p:nvSpPr>
          <p:cNvPr id="49" name="Shape 47"/>
          <p:cNvSpPr/>
          <p:nvPr/>
        </p:nvSpPr>
        <p:spPr>
          <a:xfrm>
            <a:off x="4160520" y="2441448"/>
            <a:ext cx="1371600" cy="283464"/>
          </a:xfrm>
          <a:prstGeom prst="rect">
            <a:avLst/>
          </a:prstGeom>
          <a:solidFill>
            <a:srgbClr val="F0F4F8"/>
          </a:solidFill>
          <a:ln w="12700">
            <a:solidFill>
              <a:srgbClr val="E2E8F0"/>
            </a:solidFill>
            <a:prstDash val="solid"/>
          </a:ln>
        </p:spPr>
        <p:txBody>
          <a:bodyPr/>
          <a:lstStyle/>
          <a:p>
            <a:endParaRPr lang="en-US"/>
          </a:p>
        </p:txBody>
      </p:sp>
      <p:sp>
        <p:nvSpPr>
          <p:cNvPr id="50" name="Text 48"/>
          <p:cNvSpPr/>
          <p:nvPr/>
        </p:nvSpPr>
        <p:spPr>
          <a:xfrm>
            <a:off x="4160520" y="2441448"/>
            <a:ext cx="137160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4,654.7</a:t>
            </a:r>
            <a:endParaRPr lang="en-US" sz="1000"/>
          </a:p>
        </p:txBody>
      </p:sp>
      <p:sp>
        <p:nvSpPr>
          <p:cNvPr id="51" name="Shape 49"/>
          <p:cNvSpPr/>
          <p:nvPr/>
        </p:nvSpPr>
        <p:spPr>
          <a:xfrm>
            <a:off x="5577840" y="2441448"/>
            <a:ext cx="1097280" cy="283464"/>
          </a:xfrm>
          <a:prstGeom prst="rect">
            <a:avLst/>
          </a:prstGeom>
          <a:solidFill>
            <a:srgbClr val="F0F4F8"/>
          </a:solidFill>
          <a:ln w="12700">
            <a:solidFill>
              <a:srgbClr val="E2E8F0"/>
            </a:solidFill>
            <a:prstDash val="solid"/>
          </a:ln>
        </p:spPr>
        <p:txBody>
          <a:bodyPr/>
          <a:lstStyle/>
          <a:p>
            <a:endParaRPr lang="en-US"/>
          </a:p>
        </p:txBody>
      </p:sp>
      <p:sp>
        <p:nvSpPr>
          <p:cNvPr id="52" name="Text 50"/>
          <p:cNvSpPr/>
          <p:nvPr/>
        </p:nvSpPr>
        <p:spPr>
          <a:xfrm>
            <a:off x="5577840" y="2441448"/>
            <a:ext cx="109728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&lt; 0.0001</a:t>
            </a:r>
            <a:endParaRPr lang="en-US" sz="1000"/>
          </a:p>
        </p:txBody>
      </p:sp>
      <p:sp>
        <p:nvSpPr>
          <p:cNvPr id="53" name="Shape 51"/>
          <p:cNvSpPr/>
          <p:nvPr/>
        </p:nvSpPr>
        <p:spPr>
          <a:xfrm>
            <a:off x="6720840" y="2441448"/>
            <a:ext cx="1097280" cy="283464"/>
          </a:xfrm>
          <a:prstGeom prst="rect">
            <a:avLst/>
          </a:prstGeom>
          <a:solidFill>
            <a:srgbClr val="F0F4F8"/>
          </a:solidFill>
          <a:ln w="12700">
            <a:solidFill>
              <a:srgbClr val="E2E8F0"/>
            </a:solidFill>
            <a:prstDash val="solid"/>
          </a:ln>
        </p:spPr>
        <p:txBody>
          <a:bodyPr/>
          <a:lstStyle/>
          <a:p>
            <a:endParaRPr lang="en-US"/>
          </a:p>
        </p:txBody>
      </p:sp>
      <p:sp>
        <p:nvSpPr>
          <p:cNvPr id="54" name="Text 52"/>
          <p:cNvSpPr/>
          <p:nvPr/>
        </p:nvSpPr>
        <p:spPr>
          <a:xfrm>
            <a:off x="6720840" y="2441448"/>
            <a:ext cx="1097280" cy="283464"/>
          </a:xfrm>
          <a:prstGeom prst="rect">
            <a:avLst/>
          </a:prstGeom>
          <a:noFill/>
          <a:ln/>
        </p:spPr>
        <p:txBody>
          <a:bodyPr wrap="square" lIns="0" tIns="0" rIns="0" bIns="0" rtlCol="0" anchor="ctr"/>
          <a:lstStyle/>
          <a:p>
            <a:pPr marL="0" indent="0" algn="ctr">
              <a:buNone/>
            </a:pPr>
            <a:r>
              <a:rPr lang="en-US" sz="1000" b="1">
                <a:solidFill>
                  <a:srgbClr val="27AE60"/>
                </a:solidFill>
                <a:latin typeface="Calibri" pitchFamily="34" charset="0"/>
                <a:ea typeface="Calibri" pitchFamily="34" charset="-122"/>
                <a:cs typeface="Calibri" pitchFamily="34" charset="-120"/>
              </a:rPr>
              <a:t>✓</a:t>
            </a:r>
            <a:endParaRPr lang="en-US" sz="1000"/>
          </a:p>
        </p:txBody>
      </p:sp>
      <p:sp>
        <p:nvSpPr>
          <p:cNvPr id="55" name="Shape 53"/>
          <p:cNvSpPr/>
          <p:nvPr/>
        </p:nvSpPr>
        <p:spPr>
          <a:xfrm>
            <a:off x="320040" y="2743200"/>
            <a:ext cx="2377440" cy="283464"/>
          </a:xfrm>
          <a:prstGeom prst="rect">
            <a:avLst/>
          </a:prstGeom>
          <a:solidFill>
            <a:srgbClr val="FFFFFF"/>
          </a:solidFill>
          <a:ln w="12700">
            <a:solidFill>
              <a:srgbClr val="E2E8F0"/>
            </a:solidFill>
            <a:prstDash val="solid"/>
          </a:ln>
        </p:spPr>
        <p:txBody>
          <a:bodyPr/>
          <a:lstStyle/>
          <a:p>
            <a:endParaRPr lang="en-US"/>
          </a:p>
        </p:txBody>
      </p:sp>
      <p:sp>
        <p:nvSpPr>
          <p:cNvPr id="56" name="Text 54"/>
          <p:cNvSpPr/>
          <p:nvPr/>
        </p:nvSpPr>
        <p:spPr>
          <a:xfrm>
            <a:off x="320040" y="2743200"/>
            <a:ext cx="2377440" cy="283464"/>
          </a:xfrm>
          <a:prstGeom prst="rect">
            <a:avLst/>
          </a:prstGeom>
          <a:noFill/>
          <a:ln/>
        </p:spPr>
        <p:txBody>
          <a:bodyPr wrap="square" lIns="0" tIns="0" rIns="0" bIns="0" rtlCol="0" anchor="ctr"/>
          <a:lstStyle/>
          <a:p>
            <a:pPr marL="0" indent="0" algn="ctr">
              <a:buNone/>
            </a:pPr>
            <a:r>
              <a:rPr lang="en-US" sz="1000" b="1">
                <a:solidFill>
                  <a:srgbClr val="1E293B"/>
                </a:solidFill>
                <a:latin typeface="Calibri" pitchFamily="34" charset="0"/>
                <a:ea typeface="Calibri" pitchFamily="34" charset="-122"/>
                <a:cs typeface="Calibri" pitchFamily="34" charset="-120"/>
              </a:rPr>
              <a:t>Customer Contacts (12 mo)</a:t>
            </a:r>
            <a:endParaRPr lang="en-US" sz="1000"/>
          </a:p>
        </p:txBody>
      </p:sp>
      <p:sp>
        <p:nvSpPr>
          <p:cNvPr id="57" name="Shape 55"/>
          <p:cNvSpPr/>
          <p:nvPr/>
        </p:nvSpPr>
        <p:spPr>
          <a:xfrm>
            <a:off x="2743200" y="2743200"/>
            <a:ext cx="1371600" cy="283464"/>
          </a:xfrm>
          <a:prstGeom prst="rect">
            <a:avLst/>
          </a:prstGeom>
          <a:solidFill>
            <a:srgbClr val="FFFFFF"/>
          </a:solidFill>
          <a:ln w="12700">
            <a:solidFill>
              <a:srgbClr val="E2E8F0"/>
            </a:solidFill>
            <a:prstDash val="solid"/>
          </a:ln>
        </p:spPr>
        <p:txBody>
          <a:bodyPr/>
          <a:lstStyle/>
          <a:p>
            <a:endParaRPr lang="en-US"/>
          </a:p>
        </p:txBody>
      </p:sp>
      <p:sp>
        <p:nvSpPr>
          <p:cNvPr id="58" name="Text 56"/>
          <p:cNvSpPr/>
          <p:nvPr/>
        </p:nvSpPr>
        <p:spPr>
          <a:xfrm>
            <a:off x="2743200" y="2743200"/>
            <a:ext cx="137160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3.00</a:t>
            </a:r>
            <a:endParaRPr lang="en-US" sz="1000"/>
          </a:p>
        </p:txBody>
      </p:sp>
      <p:sp>
        <p:nvSpPr>
          <p:cNvPr id="59" name="Shape 57"/>
          <p:cNvSpPr/>
          <p:nvPr/>
        </p:nvSpPr>
        <p:spPr>
          <a:xfrm>
            <a:off x="4160520" y="2743200"/>
            <a:ext cx="1371600" cy="283464"/>
          </a:xfrm>
          <a:prstGeom prst="rect">
            <a:avLst/>
          </a:prstGeom>
          <a:solidFill>
            <a:srgbClr val="FFFFFF"/>
          </a:solidFill>
          <a:ln w="12700">
            <a:solidFill>
              <a:srgbClr val="E2E8F0"/>
            </a:solidFill>
            <a:prstDash val="solid"/>
          </a:ln>
        </p:spPr>
        <p:txBody>
          <a:bodyPr/>
          <a:lstStyle/>
          <a:p>
            <a:endParaRPr lang="en-US"/>
          </a:p>
        </p:txBody>
      </p:sp>
      <p:sp>
        <p:nvSpPr>
          <p:cNvPr id="60" name="Text 58"/>
          <p:cNvSpPr/>
          <p:nvPr/>
        </p:nvSpPr>
        <p:spPr>
          <a:xfrm>
            <a:off x="4160520" y="2743200"/>
            <a:ext cx="137160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2.40</a:t>
            </a:r>
            <a:endParaRPr lang="en-US" sz="1000"/>
          </a:p>
        </p:txBody>
      </p:sp>
      <p:sp>
        <p:nvSpPr>
          <p:cNvPr id="61" name="Shape 59"/>
          <p:cNvSpPr/>
          <p:nvPr/>
        </p:nvSpPr>
        <p:spPr>
          <a:xfrm>
            <a:off x="5577840" y="2743200"/>
            <a:ext cx="1097280" cy="283464"/>
          </a:xfrm>
          <a:prstGeom prst="rect">
            <a:avLst/>
          </a:prstGeom>
          <a:solidFill>
            <a:srgbClr val="FFFFFF"/>
          </a:solidFill>
          <a:ln w="12700">
            <a:solidFill>
              <a:srgbClr val="E2E8F0"/>
            </a:solidFill>
            <a:prstDash val="solid"/>
          </a:ln>
        </p:spPr>
        <p:txBody>
          <a:bodyPr/>
          <a:lstStyle/>
          <a:p>
            <a:endParaRPr lang="en-US"/>
          </a:p>
        </p:txBody>
      </p:sp>
      <p:sp>
        <p:nvSpPr>
          <p:cNvPr id="62" name="Text 60"/>
          <p:cNvSpPr/>
          <p:nvPr/>
        </p:nvSpPr>
        <p:spPr>
          <a:xfrm>
            <a:off x="5577840" y="2743200"/>
            <a:ext cx="109728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&lt; 0.0001</a:t>
            </a:r>
            <a:endParaRPr lang="en-US" sz="1000"/>
          </a:p>
        </p:txBody>
      </p:sp>
      <p:sp>
        <p:nvSpPr>
          <p:cNvPr id="63" name="Shape 61"/>
          <p:cNvSpPr/>
          <p:nvPr/>
        </p:nvSpPr>
        <p:spPr>
          <a:xfrm>
            <a:off x="6720840" y="2743200"/>
            <a:ext cx="1097280" cy="283464"/>
          </a:xfrm>
          <a:prstGeom prst="rect">
            <a:avLst/>
          </a:prstGeom>
          <a:solidFill>
            <a:srgbClr val="FFFFFF"/>
          </a:solidFill>
          <a:ln w="12700">
            <a:solidFill>
              <a:srgbClr val="E2E8F0"/>
            </a:solidFill>
            <a:prstDash val="solid"/>
          </a:ln>
        </p:spPr>
        <p:txBody>
          <a:bodyPr/>
          <a:lstStyle/>
          <a:p>
            <a:endParaRPr lang="en-US"/>
          </a:p>
        </p:txBody>
      </p:sp>
      <p:sp>
        <p:nvSpPr>
          <p:cNvPr id="64" name="Text 62"/>
          <p:cNvSpPr/>
          <p:nvPr/>
        </p:nvSpPr>
        <p:spPr>
          <a:xfrm>
            <a:off x="6720840" y="2743200"/>
            <a:ext cx="1097280" cy="283464"/>
          </a:xfrm>
          <a:prstGeom prst="rect">
            <a:avLst/>
          </a:prstGeom>
          <a:noFill/>
          <a:ln/>
        </p:spPr>
        <p:txBody>
          <a:bodyPr wrap="square" lIns="0" tIns="0" rIns="0" bIns="0" rtlCol="0" anchor="ctr"/>
          <a:lstStyle/>
          <a:p>
            <a:pPr marL="0" indent="0" algn="ctr">
              <a:buNone/>
            </a:pPr>
            <a:r>
              <a:rPr lang="en-US" sz="1000" b="1">
                <a:solidFill>
                  <a:srgbClr val="27AE60"/>
                </a:solidFill>
                <a:latin typeface="Calibri" pitchFamily="34" charset="0"/>
                <a:ea typeface="Calibri" pitchFamily="34" charset="-122"/>
                <a:cs typeface="Calibri" pitchFamily="34" charset="-120"/>
              </a:rPr>
              <a:t>✓</a:t>
            </a:r>
            <a:endParaRPr lang="en-US" sz="1000"/>
          </a:p>
        </p:txBody>
      </p:sp>
      <p:sp>
        <p:nvSpPr>
          <p:cNvPr id="65" name="Shape 63"/>
          <p:cNvSpPr/>
          <p:nvPr/>
        </p:nvSpPr>
        <p:spPr>
          <a:xfrm>
            <a:off x="320040" y="3044952"/>
            <a:ext cx="2377440" cy="283464"/>
          </a:xfrm>
          <a:prstGeom prst="rect">
            <a:avLst/>
          </a:prstGeom>
          <a:solidFill>
            <a:srgbClr val="F0F4F8"/>
          </a:solidFill>
          <a:ln w="12700">
            <a:solidFill>
              <a:srgbClr val="E2E8F0"/>
            </a:solidFill>
            <a:prstDash val="solid"/>
          </a:ln>
        </p:spPr>
        <p:txBody>
          <a:bodyPr/>
          <a:lstStyle/>
          <a:p>
            <a:endParaRPr lang="en-US"/>
          </a:p>
        </p:txBody>
      </p:sp>
      <p:sp>
        <p:nvSpPr>
          <p:cNvPr id="66" name="Text 64"/>
          <p:cNvSpPr/>
          <p:nvPr/>
        </p:nvSpPr>
        <p:spPr>
          <a:xfrm>
            <a:off x="320040" y="3044952"/>
            <a:ext cx="2377440" cy="283464"/>
          </a:xfrm>
          <a:prstGeom prst="rect">
            <a:avLst/>
          </a:prstGeom>
          <a:noFill/>
          <a:ln/>
        </p:spPr>
        <p:txBody>
          <a:bodyPr wrap="square" lIns="0" tIns="0" rIns="0" bIns="0" rtlCol="0" anchor="ctr"/>
          <a:lstStyle/>
          <a:p>
            <a:pPr marL="0" indent="0" algn="ctr">
              <a:buNone/>
            </a:pPr>
            <a:r>
              <a:rPr lang="en-US" sz="1000" b="1">
                <a:solidFill>
                  <a:srgbClr val="1E293B"/>
                </a:solidFill>
                <a:latin typeface="Calibri" pitchFamily="34" charset="0"/>
                <a:ea typeface="Calibri" pitchFamily="34" charset="-122"/>
                <a:cs typeface="Calibri" pitchFamily="34" charset="-120"/>
              </a:rPr>
              <a:t>Avg Credit Utilization</a:t>
            </a:r>
            <a:endParaRPr lang="en-US" sz="1000"/>
          </a:p>
        </p:txBody>
      </p:sp>
      <p:sp>
        <p:nvSpPr>
          <p:cNvPr id="67" name="Shape 65"/>
          <p:cNvSpPr/>
          <p:nvPr/>
        </p:nvSpPr>
        <p:spPr>
          <a:xfrm>
            <a:off x="2743200" y="3044952"/>
            <a:ext cx="1371600" cy="283464"/>
          </a:xfrm>
          <a:prstGeom prst="rect">
            <a:avLst/>
          </a:prstGeom>
          <a:solidFill>
            <a:srgbClr val="F0F4F8"/>
          </a:solidFill>
          <a:ln w="12700">
            <a:solidFill>
              <a:srgbClr val="E2E8F0"/>
            </a:solidFill>
            <a:prstDash val="solid"/>
          </a:ln>
        </p:spPr>
        <p:txBody>
          <a:bodyPr/>
          <a:lstStyle/>
          <a:p>
            <a:endParaRPr lang="en-US"/>
          </a:p>
        </p:txBody>
      </p:sp>
      <p:sp>
        <p:nvSpPr>
          <p:cNvPr id="68" name="Text 66"/>
          <p:cNvSpPr/>
          <p:nvPr/>
        </p:nvSpPr>
        <p:spPr>
          <a:xfrm>
            <a:off x="2743200" y="3044952"/>
            <a:ext cx="137160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0.20</a:t>
            </a:r>
            <a:endParaRPr lang="en-US" sz="1000"/>
          </a:p>
        </p:txBody>
      </p:sp>
      <p:sp>
        <p:nvSpPr>
          <p:cNvPr id="69" name="Shape 67"/>
          <p:cNvSpPr/>
          <p:nvPr/>
        </p:nvSpPr>
        <p:spPr>
          <a:xfrm>
            <a:off x="4160520" y="3044952"/>
            <a:ext cx="1371600" cy="283464"/>
          </a:xfrm>
          <a:prstGeom prst="rect">
            <a:avLst/>
          </a:prstGeom>
          <a:solidFill>
            <a:srgbClr val="F0F4F8"/>
          </a:solidFill>
          <a:ln w="12700">
            <a:solidFill>
              <a:srgbClr val="E2E8F0"/>
            </a:solidFill>
            <a:prstDash val="solid"/>
          </a:ln>
        </p:spPr>
        <p:txBody>
          <a:bodyPr/>
          <a:lstStyle/>
          <a:p>
            <a:endParaRPr lang="en-US"/>
          </a:p>
        </p:txBody>
      </p:sp>
      <p:sp>
        <p:nvSpPr>
          <p:cNvPr id="70" name="Text 68"/>
          <p:cNvSpPr/>
          <p:nvPr/>
        </p:nvSpPr>
        <p:spPr>
          <a:xfrm>
            <a:off x="4160520" y="3044952"/>
            <a:ext cx="137160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0.30</a:t>
            </a:r>
            <a:endParaRPr lang="en-US" sz="1000"/>
          </a:p>
        </p:txBody>
      </p:sp>
      <p:sp>
        <p:nvSpPr>
          <p:cNvPr id="71" name="Shape 69"/>
          <p:cNvSpPr/>
          <p:nvPr/>
        </p:nvSpPr>
        <p:spPr>
          <a:xfrm>
            <a:off x="5577840" y="3044952"/>
            <a:ext cx="1097280" cy="283464"/>
          </a:xfrm>
          <a:prstGeom prst="rect">
            <a:avLst/>
          </a:prstGeom>
          <a:solidFill>
            <a:srgbClr val="F0F4F8"/>
          </a:solidFill>
          <a:ln w="12700">
            <a:solidFill>
              <a:srgbClr val="E2E8F0"/>
            </a:solidFill>
            <a:prstDash val="solid"/>
          </a:ln>
        </p:spPr>
        <p:txBody>
          <a:bodyPr/>
          <a:lstStyle/>
          <a:p>
            <a:endParaRPr lang="en-US"/>
          </a:p>
        </p:txBody>
      </p:sp>
      <p:sp>
        <p:nvSpPr>
          <p:cNvPr id="72" name="Text 70"/>
          <p:cNvSpPr/>
          <p:nvPr/>
        </p:nvSpPr>
        <p:spPr>
          <a:xfrm>
            <a:off x="5577840" y="3044952"/>
            <a:ext cx="109728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&lt; 0.0001</a:t>
            </a:r>
            <a:endParaRPr lang="en-US" sz="1000"/>
          </a:p>
        </p:txBody>
      </p:sp>
      <p:sp>
        <p:nvSpPr>
          <p:cNvPr id="73" name="Shape 71"/>
          <p:cNvSpPr/>
          <p:nvPr/>
        </p:nvSpPr>
        <p:spPr>
          <a:xfrm>
            <a:off x="6720840" y="3044952"/>
            <a:ext cx="1097280" cy="283464"/>
          </a:xfrm>
          <a:prstGeom prst="rect">
            <a:avLst/>
          </a:prstGeom>
          <a:solidFill>
            <a:srgbClr val="F0F4F8"/>
          </a:solidFill>
          <a:ln w="12700">
            <a:solidFill>
              <a:srgbClr val="E2E8F0"/>
            </a:solidFill>
            <a:prstDash val="solid"/>
          </a:ln>
        </p:spPr>
        <p:txBody>
          <a:bodyPr/>
          <a:lstStyle/>
          <a:p>
            <a:endParaRPr lang="en-US"/>
          </a:p>
        </p:txBody>
      </p:sp>
      <p:sp>
        <p:nvSpPr>
          <p:cNvPr id="74" name="Text 72"/>
          <p:cNvSpPr/>
          <p:nvPr/>
        </p:nvSpPr>
        <p:spPr>
          <a:xfrm>
            <a:off x="6720840" y="3044952"/>
            <a:ext cx="1097280" cy="283464"/>
          </a:xfrm>
          <a:prstGeom prst="rect">
            <a:avLst/>
          </a:prstGeom>
          <a:noFill/>
          <a:ln/>
        </p:spPr>
        <p:txBody>
          <a:bodyPr wrap="square" lIns="0" tIns="0" rIns="0" bIns="0" rtlCol="0" anchor="ctr"/>
          <a:lstStyle/>
          <a:p>
            <a:pPr marL="0" indent="0" algn="ctr">
              <a:buNone/>
            </a:pPr>
            <a:r>
              <a:rPr lang="en-US" sz="1000" b="1">
                <a:solidFill>
                  <a:srgbClr val="27AE60"/>
                </a:solidFill>
                <a:latin typeface="Calibri" pitchFamily="34" charset="0"/>
                <a:ea typeface="Calibri" pitchFamily="34" charset="-122"/>
                <a:cs typeface="Calibri" pitchFamily="34" charset="-120"/>
              </a:rPr>
              <a:t>✓</a:t>
            </a:r>
            <a:endParaRPr lang="en-US" sz="1000"/>
          </a:p>
        </p:txBody>
      </p:sp>
      <p:sp>
        <p:nvSpPr>
          <p:cNvPr id="75" name="Shape 73"/>
          <p:cNvSpPr/>
          <p:nvPr/>
        </p:nvSpPr>
        <p:spPr>
          <a:xfrm>
            <a:off x="320040" y="3346704"/>
            <a:ext cx="2377440" cy="283464"/>
          </a:xfrm>
          <a:prstGeom prst="rect">
            <a:avLst/>
          </a:prstGeom>
          <a:solidFill>
            <a:srgbClr val="FFFFFF"/>
          </a:solidFill>
          <a:ln w="12700">
            <a:solidFill>
              <a:srgbClr val="E2E8F0"/>
            </a:solidFill>
            <a:prstDash val="solid"/>
          </a:ln>
        </p:spPr>
        <p:txBody>
          <a:bodyPr/>
          <a:lstStyle/>
          <a:p>
            <a:endParaRPr lang="en-US"/>
          </a:p>
        </p:txBody>
      </p:sp>
      <p:sp>
        <p:nvSpPr>
          <p:cNvPr id="76" name="Text 74"/>
          <p:cNvSpPr/>
          <p:nvPr/>
        </p:nvSpPr>
        <p:spPr>
          <a:xfrm>
            <a:off x="320040" y="3346704"/>
            <a:ext cx="2377440" cy="283464"/>
          </a:xfrm>
          <a:prstGeom prst="rect">
            <a:avLst/>
          </a:prstGeom>
          <a:noFill/>
          <a:ln/>
        </p:spPr>
        <p:txBody>
          <a:bodyPr wrap="square" lIns="0" tIns="0" rIns="0" bIns="0" rtlCol="0" anchor="ctr"/>
          <a:lstStyle/>
          <a:p>
            <a:pPr marL="0" indent="0" algn="ctr">
              <a:buNone/>
            </a:pPr>
            <a:r>
              <a:rPr lang="en-US" sz="1000" b="1">
                <a:solidFill>
                  <a:srgbClr val="1E293B"/>
                </a:solidFill>
                <a:latin typeface="Calibri" pitchFamily="34" charset="0"/>
                <a:ea typeface="Calibri" pitchFamily="34" charset="-122"/>
                <a:cs typeface="Calibri" pitchFamily="34" charset="-120"/>
              </a:rPr>
              <a:t>Customer Age</a:t>
            </a:r>
            <a:endParaRPr lang="en-US" sz="1000"/>
          </a:p>
        </p:txBody>
      </p:sp>
      <p:sp>
        <p:nvSpPr>
          <p:cNvPr id="77" name="Shape 75"/>
          <p:cNvSpPr/>
          <p:nvPr/>
        </p:nvSpPr>
        <p:spPr>
          <a:xfrm>
            <a:off x="2743200" y="3346704"/>
            <a:ext cx="1371600" cy="283464"/>
          </a:xfrm>
          <a:prstGeom prst="rect">
            <a:avLst/>
          </a:prstGeom>
          <a:solidFill>
            <a:srgbClr val="FFFFFF"/>
          </a:solidFill>
          <a:ln w="12700">
            <a:solidFill>
              <a:srgbClr val="E2E8F0"/>
            </a:solidFill>
            <a:prstDash val="solid"/>
          </a:ln>
        </p:spPr>
        <p:txBody>
          <a:bodyPr/>
          <a:lstStyle/>
          <a:p>
            <a:endParaRPr lang="en-US"/>
          </a:p>
        </p:txBody>
      </p:sp>
      <p:sp>
        <p:nvSpPr>
          <p:cNvPr id="78" name="Text 76"/>
          <p:cNvSpPr/>
          <p:nvPr/>
        </p:nvSpPr>
        <p:spPr>
          <a:xfrm>
            <a:off x="2743200" y="3346704"/>
            <a:ext cx="137160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46.7</a:t>
            </a:r>
            <a:endParaRPr lang="en-US" sz="1000"/>
          </a:p>
        </p:txBody>
      </p:sp>
      <p:sp>
        <p:nvSpPr>
          <p:cNvPr id="79" name="Shape 77"/>
          <p:cNvSpPr/>
          <p:nvPr/>
        </p:nvSpPr>
        <p:spPr>
          <a:xfrm>
            <a:off x="4160520" y="3346704"/>
            <a:ext cx="1371600" cy="283464"/>
          </a:xfrm>
          <a:prstGeom prst="rect">
            <a:avLst/>
          </a:prstGeom>
          <a:solidFill>
            <a:srgbClr val="FFFFFF"/>
          </a:solidFill>
          <a:ln w="12700">
            <a:solidFill>
              <a:srgbClr val="E2E8F0"/>
            </a:solidFill>
            <a:prstDash val="solid"/>
          </a:ln>
        </p:spPr>
        <p:txBody>
          <a:bodyPr/>
          <a:lstStyle/>
          <a:p>
            <a:endParaRPr lang="en-US"/>
          </a:p>
        </p:txBody>
      </p:sp>
      <p:sp>
        <p:nvSpPr>
          <p:cNvPr id="80" name="Text 78"/>
          <p:cNvSpPr/>
          <p:nvPr/>
        </p:nvSpPr>
        <p:spPr>
          <a:xfrm>
            <a:off x="4160520" y="3346704"/>
            <a:ext cx="137160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46.3</a:t>
            </a:r>
            <a:endParaRPr lang="en-US" sz="1000"/>
          </a:p>
        </p:txBody>
      </p:sp>
      <p:sp>
        <p:nvSpPr>
          <p:cNvPr id="81" name="Shape 79"/>
          <p:cNvSpPr/>
          <p:nvPr/>
        </p:nvSpPr>
        <p:spPr>
          <a:xfrm>
            <a:off x="5577840" y="3346704"/>
            <a:ext cx="1097280" cy="283464"/>
          </a:xfrm>
          <a:prstGeom prst="rect">
            <a:avLst/>
          </a:prstGeom>
          <a:solidFill>
            <a:srgbClr val="FFFFFF"/>
          </a:solidFill>
          <a:ln w="12700">
            <a:solidFill>
              <a:srgbClr val="E2E8F0"/>
            </a:solidFill>
            <a:prstDash val="solid"/>
          </a:ln>
        </p:spPr>
        <p:txBody>
          <a:bodyPr/>
          <a:lstStyle/>
          <a:p>
            <a:endParaRPr lang="en-US"/>
          </a:p>
        </p:txBody>
      </p:sp>
      <p:sp>
        <p:nvSpPr>
          <p:cNvPr id="82" name="Text 80"/>
          <p:cNvSpPr/>
          <p:nvPr/>
        </p:nvSpPr>
        <p:spPr>
          <a:xfrm>
            <a:off x="5577840" y="3346704"/>
            <a:ext cx="109728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0.067</a:t>
            </a:r>
            <a:endParaRPr lang="en-US" sz="1000"/>
          </a:p>
        </p:txBody>
      </p:sp>
      <p:sp>
        <p:nvSpPr>
          <p:cNvPr id="83" name="Shape 81"/>
          <p:cNvSpPr/>
          <p:nvPr/>
        </p:nvSpPr>
        <p:spPr>
          <a:xfrm>
            <a:off x="6720840" y="3346704"/>
            <a:ext cx="1097280" cy="283464"/>
          </a:xfrm>
          <a:prstGeom prst="rect">
            <a:avLst/>
          </a:prstGeom>
          <a:solidFill>
            <a:srgbClr val="FFFFFF"/>
          </a:solidFill>
          <a:ln w="12700">
            <a:solidFill>
              <a:srgbClr val="E2E8F0"/>
            </a:solidFill>
            <a:prstDash val="solid"/>
          </a:ln>
        </p:spPr>
        <p:txBody>
          <a:bodyPr/>
          <a:lstStyle/>
          <a:p>
            <a:endParaRPr lang="en-US"/>
          </a:p>
        </p:txBody>
      </p:sp>
      <p:sp>
        <p:nvSpPr>
          <p:cNvPr id="84" name="Text 82"/>
          <p:cNvSpPr/>
          <p:nvPr/>
        </p:nvSpPr>
        <p:spPr>
          <a:xfrm>
            <a:off x="6720840" y="3346704"/>
            <a:ext cx="1097280" cy="283464"/>
          </a:xfrm>
          <a:prstGeom prst="rect">
            <a:avLst/>
          </a:prstGeom>
          <a:noFill/>
          <a:ln/>
        </p:spPr>
        <p:txBody>
          <a:bodyPr wrap="square" lIns="0" tIns="0" rIns="0" bIns="0" rtlCol="0" anchor="ctr"/>
          <a:lstStyle/>
          <a:p>
            <a:pPr marL="0" indent="0" algn="ctr">
              <a:buNone/>
            </a:pPr>
            <a:r>
              <a:rPr lang="en-US" sz="1000" b="1">
                <a:solidFill>
                  <a:srgbClr val="C0392B"/>
                </a:solidFill>
                <a:latin typeface="Calibri" pitchFamily="34" charset="0"/>
                <a:ea typeface="Calibri" pitchFamily="34" charset="-122"/>
                <a:cs typeface="Calibri" pitchFamily="34" charset="-120"/>
              </a:rPr>
              <a:t>✗</a:t>
            </a:r>
            <a:endParaRPr lang="en-US" sz="1000"/>
          </a:p>
        </p:txBody>
      </p:sp>
      <p:sp>
        <p:nvSpPr>
          <p:cNvPr id="85" name="Shape 83"/>
          <p:cNvSpPr/>
          <p:nvPr/>
        </p:nvSpPr>
        <p:spPr>
          <a:xfrm>
            <a:off x="320040" y="3648456"/>
            <a:ext cx="2377440" cy="283464"/>
          </a:xfrm>
          <a:prstGeom prst="rect">
            <a:avLst/>
          </a:prstGeom>
          <a:solidFill>
            <a:srgbClr val="F0F4F8"/>
          </a:solidFill>
          <a:ln w="12700">
            <a:solidFill>
              <a:srgbClr val="E2E8F0"/>
            </a:solidFill>
            <a:prstDash val="solid"/>
          </a:ln>
        </p:spPr>
        <p:txBody>
          <a:bodyPr/>
          <a:lstStyle/>
          <a:p>
            <a:endParaRPr lang="en-US"/>
          </a:p>
        </p:txBody>
      </p:sp>
      <p:sp>
        <p:nvSpPr>
          <p:cNvPr id="86" name="Text 84"/>
          <p:cNvSpPr/>
          <p:nvPr/>
        </p:nvSpPr>
        <p:spPr>
          <a:xfrm>
            <a:off x="320040" y="3648456"/>
            <a:ext cx="2377440" cy="283464"/>
          </a:xfrm>
          <a:prstGeom prst="rect">
            <a:avLst/>
          </a:prstGeom>
          <a:noFill/>
          <a:ln/>
        </p:spPr>
        <p:txBody>
          <a:bodyPr wrap="square" lIns="0" tIns="0" rIns="0" bIns="0" rtlCol="0" anchor="ctr"/>
          <a:lstStyle/>
          <a:p>
            <a:pPr marL="0" indent="0" algn="ctr">
              <a:buNone/>
            </a:pPr>
            <a:r>
              <a:rPr lang="en-US" sz="1000" b="1">
                <a:solidFill>
                  <a:srgbClr val="1E293B"/>
                </a:solidFill>
                <a:latin typeface="Calibri" pitchFamily="34" charset="0"/>
                <a:ea typeface="Calibri" pitchFamily="34" charset="-122"/>
                <a:cs typeface="Calibri" pitchFamily="34" charset="-120"/>
              </a:rPr>
              <a:t>Months as Customer</a:t>
            </a:r>
            <a:endParaRPr lang="en-US" sz="1000"/>
          </a:p>
        </p:txBody>
      </p:sp>
      <p:sp>
        <p:nvSpPr>
          <p:cNvPr id="87" name="Shape 85"/>
          <p:cNvSpPr/>
          <p:nvPr/>
        </p:nvSpPr>
        <p:spPr>
          <a:xfrm>
            <a:off x="2743200" y="3648456"/>
            <a:ext cx="1371600" cy="283464"/>
          </a:xfrm>
          <a:prstGeom prst="rect">
            <a:avLst/>
          </a:prstGeom>
          <a:solidFill>
            <a:srgbClr val="F0F4F8"/>
          </a:solidFill>
          <a:ln w="12700">
            <a:solidFill>
              <a:srgbClr val="E2E8F0"/>
            </a:solidFill>
            <a:prstDash val="solid"/>
          </a:ln>
        </p:spPr>
        <p:txBody>
          <a:bodyPr/>
          <a:lstStyle/>
          <a:p>
            <a:endParaRPr lang="en-US"/>
          </a:p>
        </p:txBody>
      </p:sp>
      <p:sp>
        <p:nvSpPr>
          <p:cNvPr id="88" name="Text 86"/>
          <p:cNvSpPr/>
          <p:nvPr/>
        </p:nvSpPr>
        <p:spPr>
          <a:xfrm>
            <a:off x="2743200" y="3648456"/>
            <a:ext cx="137160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36.2</a:t>
            </a:r>
            <a:endParaRPr lang="en-US" sz="1000"/>
          </a:p>
        </p:txBody>
      </p:sp>
      <p:sp>
        <p:nvSpPr>
          <p:cNvPr id="89" name="Shape 87"/>
          <p:cNvSpPr/>
          <p:nvPr/>
        </p:nvSpPr>
        <p:spPr>
          <a:xfrm>
            <a:off x="4160520" y="3648456"/>
            <a:ext cx="1371600" cy="283464"/>
          </a:xfrm>
          <a:prstGeom prst="rect">
            <a:avLst/>
          </a:prstGeom>
          <a:solidFill>
            <a:srgbClr val="F0F4F8"/>
          </a:solidFill>
          <a:ln w="12700">
            <a:solidFill>
              <a:srgbClr val="E2E8F0"/>
            </a:solidFill>
            <a:prstDash val="solid"/>
          </a:ln>
        </p:spPr>
        <p:txBody>
          <a:bodyPr/>
          <a:lstStyle/>
          <a:p>
            <a:endParaRPr lang="en-US"/>
          </a:p>
        </p:txBody>
      </p:sp>
      <p:sp>
        <p:nvSpPr>
          <p:cNvPr id="90" name="Text 88"/>
          <p:cNvSpPr/>
          <p:nvPr/>
        </p:nvSpPr>
        <p:spPr>
          <a:xfrm>
            <a:off x="4160520" y="3648456"/>
            <a:ext cx="137160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35.9</a:t>
            </a:r>
            <a:endParaRPr lang="en-US" sz="1000"/>
          </a:p>
        </p:txBody>
      </p:sp>
      <p:sp>
        <p:nvSpPr>
          <p:cNvPr id="91" name="Shape 89"/>
          <p:cNvSpPr/>
          <p:nvPr/>
        </p:nvSpPr>
        <p:spPr>
          <a:xfrm>
            <a:off x="5577840" y="3648456"/>
            <a:ext cx="1097280" cy="283464"/>
          </a:xfrm>
          <a:prstGeom prst="rect">
            <a:avLst/>
          </a:prstGeom>
          <a:solidFill>
            <a:srgbClr val="F0F4F8"/>
          </a:solidFill>
          <a:ln w="12700">
            <a:solidFill>
              <a:srgbClr val="E2E8F0"/>
            </a:solidFill>
            <a:prstDash val="solid"/>
          </a:ln>
        </p:spPr>
        <p:txBody>
          <a:bodyPr/>
          <a:lstStyle/>
          <a:p>
            <a:endParaRPr lang="en-US"/>
          </a:p>
        </p:txBody>
      </p:sp>
      <p:sp>
        <p:nvSpPr>
          <p:cNvPr id="92" name="Text 90"/>
          <p:cNvSpPr/>
          <p:nvPr/>
        </p:nvSpPr>
        <p:spPr>
          <a:xfrm>
            <a:off x="5577840" y="3648456"/>
            <a:ext cx="109728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0.168</a:t>
            </a:r>
            <a:endParaRPr lang="en-US" sz="1000"/>
          </a:p>
        </p:txBody>
      </p:sp>
      <p:sp>
        <p:nvSpPr>
          <p:cNvPr id="93" name="Shape 91"/>
          <p:cNvSpPr/>
          <p:nvPr/>
        </p:nvSpPr>
        <p:spPr>
          <a:xfrm>
            <a:off x="6720840" y="3648456"/>
            <a:ext cx="1097280" cy="283464"/>
          </a:xfrm>
          <a:prstGeom prst="rect">
            <a:avLst/>
          </a:prstGeom>
          <a:solidFill>
            <a:srgbClr val="F0F4F8"/>
          </a:solidFill>
          <a:ln w="12700">
            <a:solidFill>
              <a:srgbClr val="E2E8F0"/>
            </a:solidFill>
            <a:prstDash val="solid"/>
          </a:ln>
        </p:spPr>
        <p:txBody>
          <a:bodyPr/>
          <a:lstStyle/>
          <a:p>
            <a:endParaRPr lang="en-US"/>
          </a:p>
        </p:txBody>
      </p:sp>
      <p:sp>
        <p:nvSpPr>
          <p:cNvPr id="94" name="Text 92"/>
          <p:cNvSpPr/>
          <p:nvPr/>
        </p:nvSpPr>
        <p:spPr>
          <a:xfrm>
            <a:off x="6720840" y="3648456"/>
            <a:ext cx="1097280" cy="283464"/>
          </a:xfrm>
          <a:prstGeom prst="rect">
            <a:avLst/>
          </a:prstGeom>
          <a:noFill/>
          <a:ln/>
        </p:spPr>
        <p:txBody>
          <a:bodyPr wrap="square" lIns="0" tIns="0" rIns="0" bIns="0" rtlCol="0" anchor="ctr"/>
          <a:lstStyle/>
          <a:p>
            <a:pPr marL="0" indent="0" algn="ctr">
              <a:buNone/>
            </a:pPr>
            <a:r>
              <a:rPr lang="en-US" sz="1000" b="1">
                <a:solidFill>
                  <a:srgbClr val="C0392B"/>
                </a:solidFill>
                <a:latin typeface="Calibri" pitchFamily="34" charset="0"/>
                <a:ea typeface="Calibri" pitchFamily="34" charset="-122"/>
                <a:cs typeface="Calibri" pitchFamily="34" charset="-120"/>
              </a:rPr>
              <a:t>✗</a:t>
            </a:r>
            <a:endParaRPr lang="en-US" sz="1000"/>
          </a:p>
        </p:txBody>
      </p:sp>
      <p:sp>
        <p:nvSpPr>
          <p:cNvPr id="95" name="Shape 93"/>
          <p:cNvSpPr/>
          <p:nvPr/>
        </p:nvSpPr>
        <p:spPr>
          <a:xfrm>
            <a:off x="320040" y="3950208"/>
            <a:ext cx="2377440" cy="283464"/>
          </a:xfrm>
          <a:prstGeom prst="rect">
            <a:avLst/>
          </a:prstGeom>
          <a:solidFill>
            <a:srgbClr val="FFFFFF"/>
          </a:solidFill>
          <a:ln w="12700">
            <a:solidFill>
              <a:srgbClr val="E2E8F0"/>
            </a:solidFill>
            <a:prstDash val="solid"/>
          </a:ln>
        </p:spPr>
        <p:txBody>
          <a:bodyPr/>
          <a:lstStyle/>
          <a:p>
            <a:endParaRPr lang="en-US"/>
          </a:p>
        </p:txBody>
      </p:sp>
      <p:sp>
        <p:nvSpPr>
          <p:cNvPr id="96" name="Text 94"/>
          <p:cNvSpPr/>
          <p:nvPr/>
        </p:nvSpPr>
        <p:spPr>
          <a:xfrm>
            <a:off x="320040" y="3950208"/>
            <a:ext cx="2377440" cy="283464"/>
          </a:xfrm>
          <a:prstGeom prst="rect">
            <a:avLst/>
          </a:prstGeom>
          <a:noFill/>
          <a:ln/>
        </p:spPr>
        <p:txBody>
          <a:bodyPr wrap="square" lIns="0" tIns="0" rIns="0" bIns="0" rtlCol="0" anchor="ctr"/>
          <a:lstStyle/>
          <a:p>
            <a:pPr marL="0" indent="0" algn="ctr">
              <a:buNone/>
            </a:pPr>
            <a:r>
              <a:rPr lang="en-US" sz="1000" b="1">
                <a:solidFill>
                  <a:srgbClr val="1E293B"/>
                </a:solidFill>
                <a:latin typeface="Calibri" pitchFamily="34" charset="0"/>
                <a:ea typeface="Calibri" pitchFamily="34" charset="-122"/>
                <a:cs typeface="Calibri" pitchFamily="34" charset="-120"/>
              </a:rPr>
              <a:t>Number of Dependents</a:t>
            </a:r>
            <a:endParaRPr lang="en-US" sz="1000"/>
          </a:p>
        </p:txBody>
      </p:sp>
      <p:sp>
        <p:nvSpPr>
          <p:cNvPr id="97" name="Shape 95"/>
          <p:cNvSpPr/>
          <p:nvPr/>
        </p:nvSpPr>
        <p:spPr>
          <a:xfrm>
            <a:off x="2743200" y="3950208"/>
            <a:ext cx="1371600" cy="283464"/>
          </a:xfrm>
          <a:prstGeom prst="rect">
            <a:avLst/>
          </a:prstGeom>
          <a:solidFill>
            <a:srgbClr val="FFFFFF"/>
          </a:solidFill>
          <a:ln w="12700">
            <a:solidFill>
              <a:srgbClr val="E2E8F0"/>
            </a:solidFill>
            <a:prstDash val="solid"/>
          </a:ln>
        </p:spPr>
        <p:txBody>
          <a:bodyPr/>
          <a:lstStyle/>
          <a:p>
            <a:endParaRPr lang="en-US"/>
          </a:p>
        </p:txBody>
      </p:sp>
      <p:sp>
        <p:nvSpPr>
          <p:cNvPr id="98" name="Text 96"/>
          <p:cNvSpPr/>
          <p:nvPr/>
        </p:nvSpPr>
        <p:spPr>
          <a:xfrm>
            <a:off x="2743200" y="3950208"/>
            <a:ext cx="137160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2.40</a:t>
            </a:r>
            <a:endParaRPr lang="en-US" sz="1000"/>
          </a:p>
        </p:txBody>
      </p:sp>
      <p:sp>
        <p:nvSpPr>
          <p:cNvPr id="99" name="Shape 97"/>
          <p:cNvSpPr/>
          <p:nvPr/>
        </p:nvSpPr>
        <p:spPr>
          <a:xfrm>
            <a:off x="4160520" y="3950208"/>
            <a:ext cx="1371600" cy="283464"/>
          </a:xfrm>
          <a:prstGeom prst="rect">
            <a:avLst/>
          </a:prstGeom>
          <a:solidFill>
            <a:srgbClr val="FFFFFF"/>
          </a:solidFill>
          <a:ln w="12700">
            <a:solidFill>
              <a:srgbClr val="E2E8F0"/>
            </a:solidFill>
            <a:prstDash val="solid"/>
          </a:ln>
        </p:spPr>
        <p:txBody>
          <a:bodyPr/>
          <a:lstStyle/>
          <a:p>
            <a:endParaRPr lang="en-US"/>
          </a:p>
        </p:txBody>
      </p:sp>
      <p:sp>
        <p:nvSpPr>
          <p:cNvPr id="100" name="Text 98"/>
          <p:cNvSpPr/>
          <p:nvPr/>
        </p:nvSpPr>
        <p:spPr>
          <a:xfrm>
            <a:off x="4160520" y="3950208"/>
            <a:ext cx="137160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2.30</a:t>
            </a:r>
            <a:endParaRPr lang="en-US" sz="1000"/>
          </a:p>
        </p:txBody>
      </p:sp>
      <p:sp>
        <p:nvSpPr>
          <p:cNvPr id="101" name="Shape 99"/>
          <p:cNvSpPr/>
          <p:nvPr/>
        </p:nvSpPr>
        <p:spPr>
          <a:xfrm>
            <a:off x="5577840" y="3950208"/>
            <a:ext cx="1097280" cy="283464"/>
          </a:xfrm>
          <a:prstGeom prst="rect">
            <a:avLst/>
          </a:prstGeom>
          <a:solidFill>
            <a:srgbClr val="FFFFFF"/>
          </a:solidFill>
          <a:ln w="12700">
            <a:solidFill>
              <a:srgbClr val="E2E8F0"/>
            </a:solidFill>
            <a:prstDash val="solid"/>
          </a:ln>
        </p:spPr>
        <p:txBody>
          <a:bodyPr/>
          <a:lstStyle/>
          <a:p>
            <a:endParaRPr lang="en-US"/>
          </a:p>
        </p:txBody>
      </p:sp>
      <p:sp>
        <p:nvSpPr>
          <p:cNvPr id="102" name="Text 100"/>
          <p:cNvSpPr/>
          <p:nvPr/>
        </p:nvSpPr>
        <p:spPr>
          <a:xfrm>
            <a:off x="5577840" y="3950208"/>
            <a:ext cx="1097280" cy="283464"/>
          </a:xfrm>
          <a:prstGeom prst="rect">
            <a:avLst/>
          </a:prstGeom>
          <a:noFill/>
          <a:ln/>
        </p:spPr>
        <p:txBody>
          <a:bodyPr wrap="square" lIns="0" tIns="0" rIns="0" bIns="0" rtlCol="0" anchor="ctr"/>
          <a:lstStyle/>
          <a:p>
            <a:pPr marL="0" indent="0" algn="ctr">
              <a:buNone/>
            </a:pPr>
            <a:r>
              <a:rPr lang="en-US" sz="1000">
                <a:solidFill>
                  <a:srgbClr val="334155"/>
                </a:solidFill>
                <a:latin typeface="Calibri" pitchFamily="34" charset="0"/>
                <a:ea typeface="Calibri" pitchFamily="34" charset="-122"/>
                <a:cs typeface="Calibri" pitchFamily="34" charset="-120"/>
              </a:rPr>
              <a:t>0.056</a:t>
            </a:r>
            <a:endParaRPr lang="en-US" sz="1000"/>
          </a:p>
        </p:txBody>
      </p:sp>
      <p:sp>
        <p:nvSpPr>
          <p:cNvPr id="103" name="Shape 101"/>
          <p:cNvSpPr/>
          <p:nvPr/>
        </p:nvSpPr>
        <p:spPr>
          <a:xfrm>
            <a:off x="6720840" y="3950208"/>
            <a:ext cx="1097280" cy="283464"/>
          </a:xfrm>
          <a:prstGeom prst="rect">
            <a:avLst/>
          </a:prstGeom>
          <a:solidFill>
            <a:srgbClr val="FFFFFF"/>
          </a:solidFill>
          <a:ln w="12700">
            <a:solidFill>
              <a:srgbClr val="E2E8F0"/>
            </a:solidFill>
            <a:prstDash val="solid"/>
          </a:ln>
        </p:spPr>
        <p:txBody>
          <a:bodyPr/>
          <a:lstStyle/>
          <a:p>
            <a:endParaRPr lang="en-US"/>
          </a:p>
        </p:txBody>
      </p:sp>
      <p:sp>
        <p:nvSpPr>
          <p:cNvPr id="104" name="Text 102"/>
          <p:cNvSpPr/>
          <p:nvPr/>
        </p:nvSpPr>
        <p:spPr>
          <a:xfrm>
            <a:off x="6720840" y="3950208"/>
            <a:ext cx="1097280" cy="283464"/>
          </a:xfrm>
          <a:prstGeom prst="rect">
            <a:avLst/>
          </a:prstGeom>
          <a:noFill/>
          <a:ln/>
        </p:spPr>
        <p:txBody>
          <a:bodyPr wrap="square" lIns="0" tIns="0" rIns="0" bIns="0" rtlCol="0" anchor="ctr"/>
          <a:lstStyle/>
          <a:p>
            <a:pPr marL="0" indent="0" algn="ctr">
              <a:buNone/>
            </a:pPr>
            <a:r>
              <a:rPr lang="en-US" sz="1000" b="1">
                <a:solidFill>
                  <a:srgbClr val="C0392B"/>
                </a:solidFill>
                <a:latin typeface="Calibri" pitchFamily="34" charset="0"/>
                <a:ea typeface="Calibri" pitchFamily="34" charset="-122"/>
                <a:cs typeface="Calibri" pitchFamily="34" charset="-120"/>
              </a:rPr>
              <a:t>✗</a:t>
            </a:r>
            <a:endParaRPr lang="en-US" sz="1000"/>
          </a:p>
        </p:txBody>
      </p:sp>
      <p:sp>
        <p:nvSpPr>
          <p:cNvPr id="105" name="Shape 103"/>
          <p:cNvSpPr/>
          <p:nvPr/>
        </p:nvSpPr>
        <p:spPr>
          <a:xfrm>
            <a:off x="320040" y="4315968"/>
            <a:ext cx="2697480" cy="658368"/>
          </a:xfrm>
          <a:prstGeom prst="rect">
            <a:avLst/>
          </a:prstGeom>
          <a:solidFill>
            <a:srgbClr val="EBF5FB"/>
          </a:solidFill>
          <a:ln w="12700">
            <a:solidFill>
              <a:srgbClr val="4472C4"/>
            </a:solidFill>
            <a:prstDash val="solid"/>
          </a:ln>
          <a:effectLst>
            <a:outerShdw blurRad="101600" dist="38100" dir="8100000" algn="bl" rotWithShape="0">
              <a:srgbClr val="000000">
                <a:alpha val="12000"/>
              </a:srgbClr>
            </a:outerShdw>
          </a:effectLst>
        </p:spPr>
        <p:txBody>
          <a:bodyPr/>
          <a:lstStyle/>
          <a:p>
            <a:endParaRPr lang="en-US"/>
          </a:p>
        </p:txBody>
      </p:sp>
      <p:sp>
        <p:nvSpPr>
          <p:cNvPr id="106" name="Text 104"/>
          <p:cNvSpPr/>
          <p:nvPr/>
        </p:nvSpPr>
        <p:spPr>
          <a:xfrm>
            <a:off x="411480" y="4370832"/>
            <a:ext cx="2514600" cy="256032"/>
          </a:xfrm>
          <a:prstGeom prst="rect">
            <a:avLst/>
          </a:prstGeom>
          <a:noFill/>
          <a:ln/>
        </p:spPr>
        <p:txBody>
          <a:bodyPr wrap="square" lIns="0" tIns="0" rIns="0" bIns="0" rtlCol="0" anchor="ctr"/>
          <a:lstStyle/>
          <a:p>
            <a:pPr marL="0" indent="0">
              <a:buNone/>
            </a:pPr>
            <a:r>
              <a:rPr lang="en-US" sz="1100" b="1">
                <a:solidFill>
                  <a:srgbClr val="4472C4"/>
                </a:solidFill>
                <a:latin typeface="Calibri" pitchFamily="34" charset="0"/>
                <a:ea typeface="Calibri" pitchFamily="34" charset="-122"/>
                <a:cs typeface="Calibri" pitchFamily="34" charset="-120"/>
              </a:rPr>
              <a:t>All 6 behavioral features</a:t>
            </a:r>
            <a:endParaRPr lang="en-US" sz="1100"/>
          </a:p>
        </p:txBody>
      </p:sp>
      <p:sp>
        <p:nvSpPr>
          <p:cNvPr id="107" name="Text 105"/>
          <p:cNvSpPr/>
          <p:nvPr/>
        </p:nvSpPr>
        <p:spPr>
          <a:xfrm>
            <a:off x="411480" y="4626864"/>
            <a:ext cx="2514600" cy="274320"/>
          </a:xfrm>
          <a:prstGeom prst="rect">
            <a:avLst/>
          </a:prstGeom>
          <a:noFill/>
          <a:ln/>
        </p:spPr>
        <p:txBody>
          <a:bodyPr wrap="square" lIns="0" tIns="0" rIns="0" bIns="0" rtlCol="0" anchor="ctr"/>
          <a:lstStyle/>
          <a:p>
            <a:pPr marL="0" indent="0">
              <a:buNone/>
            </a:pPr>
            <a:r>
              <a:rPr lang="en-US" sz="950">
                <a:solidFill>
                  <a:srgbClr val="334155"/>
                </a:solidFill>
                <a:latin typeface="Calibri" pitchFamily="34" charset="0"/>
                <a:ea typeface="Calibri" pitchFamily="34" charset="-122"/>
                <a:cs typeface="Calibri" pitchFamily="34" charset="-120"/>
              </a:rPr>
              <a:t>Highly significant (p &lt; 0.0001) — differences are not due to chance</a:t>
            </a:r>
            <a:endParaRPr lang="en-US" sz="950"/>
          </a:p>
        </p:txBody>
      </p:sp>
      <p:sp>
        <p:nvSpPr>
          <p:cNvPr id="108" name="Shape 106"/>
          <p:cNvSpPr/>
          <p:nvPr/>
        </p:nvSpPr>
        <p:spPr>
          <a:xfrm>
            <a:off x="3200400" y="4315968"/>
            <a:ext cx="2697480" cy="658368"/>
          </a:xfrm>
          <a:prstGeom prst="rect">
            <a:avLst/>
          </a:prstGeom>
          <a:solidFill>
            <a:srgbClr val="FEF9E7"/>
          </a:solidFill>
          <a:ln w="12700">
            <a:solidFill>
              <a:srgbClr val="F39C12"/>
            </a:solidFill>
            <a:prstDash val="solid"/>
          </a:ln>
          <a:effectLst>
            <a:outerShdw blurRad="101600" dist="38100" dir="8100000" algn="bl" rotWithShape="0">
              <a:srgbClr val="000000">
                <a:alpha val="12000"/>
              </a:srgbClr>
            </a:outerShdw>
          </a:effectLst>
        </p:spPr>
        <p:txBody>
          <a:bodyPr/>
          <a:lstStyle/>
          <a:p>
            <a:endParaRPr lang="en-US"/>
          </a:p>
        </p:txBody>
      </p:sp>
      <p:sp>
        <p:nvSpPr>
          <p:cNvPr id="109" name="Text 107"/>
          <p:cNvSpPr/>
          <p:nvPr/>
        </p:nvSpPr>
        <p:spPr>
          <a:xfrm>
            <a:off x="3291840" y="4370832"/>
            <a:ext cx="2514600" cy="256032"/>
          </a:xfrm>
          <a:prstGeom prst="rect">
            <a:avLst/>
          </a:prstGeom>
          <a:noFill/>
          <a:ln/>
        </p:spPr>
        <p:txBody>
          <a:bodyPr wrap="square" lIns="0" tIns="0" rIns="0" bIns="0" rtlCol="0" anchor="ctr"/>
          <a:lstStyle/>
          <a:p>
            <a:pPr marL="0" indent="0">
              <a:buNone/>
            </a:pPr>
            <a:r>
              <a:rPr lang="en-US" sz="1100" b="1">
                <a:solidFill>
                  <a:srgbClr val="F39C12"/>
                </a:solidFill>
                <a:latin typeface="Calibri" pitchFamily="34" charset="0"/>
                <a:ea typeface="Calibri" pitchFamily="34" charset="-122"/>
                <a:cs typeface="Calibri" pitchFamily="34" charset="-120"/>
              </a:rPr>
              <a:t>3 demographic features</a:t>
            </a:r>
            <a:endParaRPr lang="en-US" sz="1100"/>
          </a:p>
        </p:txBody>
      </p:sp>
      <p:sp>
        <p:nvSpPr>
          <p:cNvPr id="110" name="Text 108"/>
          <p:cNvSpPr/>
          <p:nvPr/>
        </p:nvSpPr>
        <p:spPr>
          <a:xfrm>
            <a:off x="3291840" y="4626864"/>
            <a:ext cx="2514600" cy="274320"/>
          </a:xfrm>
          <a:prstGeom prst="rect">
            <a:avLst/>
          </a:prstGeom>
          <a:noFill/>
          <a:ln/>
        </p:spPr>
        <p:txBody>
          <a:bodyPr wrap="square" lIns="0" tIns="0" rIns="0" bIns="0" rtlCol="0" anchor="ctr"/>
          <a:lstStyle/>
          <a:p>
            <a:pPr marL="0" indent="0">
              <a:buNone/>
            </a:pPr>
            <a:r>
              <a:rPr lang="en-US" sz="950">
                <a:solidFill>
                  <a:srgbClr val="334155"/>
                </a:solidFill>
                <a:latin typeface="Calibri" pitchFamily="34" charset="0"/>
                <a:ea typeface="Calibri" pitchFamily="34" charset="-122"/>
                <a:cs typeface="Calibri" pitchFamily="34" charset="-120"/>
              </a:rPr>
              <a:t>NOT significant — age, tenure, dependents are poor churn predictors</a:t>
            </a:r>
            <a:endParaRPr lang="en-US" sz="950"/>
          </a:p>
        </p:txBody>
      </p:sp>
      <p:sp>
        <p:nvSpPr>
          <p:cNvPr id="111" name="Shape 109"/>
          <p:cNvSpPr/>
          <p:nvPr/>
        </p:nvSpPr>
        <p:spPr>
          <a:xfrm>
            <a:off x="6080760" y="4315968"/>
            <a:ext cx="2697480" cy="658368"/>
          </a:xfrm>
          <a:prstGeom prst="rect">
            <a:avLst/>
          </a:prstGeom>
          <a:solidFill>
            <a:srgbClr val="EBF5FB"/>
          </a:solidFill>
          <a:ln w="12700">
            <a:solidFill>
              <a:srgbClr val="4472C4"/>
            </a:solidFill>
            <a:prstDash val="solid"/>
          </a:ln>
          <a:effectLst>
            <a:outerShdw blurRad="101600" dist="38100" dir="8100000" algn="bl" rotWithShape="0">
              <a:srgbClr val="000000">
                <a:alpha val="12000"/>
              </a:srgbClr>
            </a:outerShdw>
          </a:effectLst>
        </p:spPr>
        <p:txBody>
          <a:bodyPr/>
          <a:lstStyle/>
          <a:p>
            <a:endParaRPr lang="en-US"/>
          </a:p>
        </p:txBody>
      </p:sp>
      <p:sp>
        <p:nvSpPr>
          <p:cNvPr id="112" name="Text 110"/>
          <p:cNvSpPr/>
          <p:nvPr/>
        </p:nvSpPr>
        <p:spPr>
          <a:xfrm>
            <a:off x="6172200" y="4370832"/>
            <a:ext cx="2514600" cy="256032"/>
          </a:xfrm>
          <a:prstGeom prst="rect">
            <a:avLst/>
          </a:prstGeom>
          <a:noFill/>
          <a:ln/>
        </p:spPr>
        <p:txBody>
          <a:bodyPr wrap="square" lIns="0" tIns="0" rIns="0" bIns="0" rtlCol="0" anchor="ctr"/>
          <a:lstStyle/>
          <a:p>
            <a:pPr marL="0" indent="0">
              <a:buNone/>
            </a:pPr>
            <a:r>
              <a:rPr lang="en-US" sz="1100" b="1">
                <a:solidFill>
                  <a:srgbClr val="4472C4"/>
                </a:solidFill>
                <a:latin typeface="Calibri" pitchFamily="34" charset="0"/>
                <a:ea typeface="Calibri" pitchFamily="34" charset="-122"/>
                <a:cs typeface="Calibri" pitchFamily="34" charset="-120"/>
              </a:rPr>
              <a:t>How &gt; Who</a:t>
            </a:r>
            <a:endParaRPr lang="en-US" sz="1100"/>
          </a:p>
        </p:txBody>
      </p:sp>
      <p:sp>
        <p:nvSpPr>
          <p:cNvPr id="113" name="Text 111"/>
          <p:cNvSpPr/>
          <p:nvPr/>
        </p:nvSpPr>
        <p:spPr>
          <a:xfrm>
            <a:off x="6172200" y="4626864"/>
            <a:ext cx="2514600" cy="274320"/>
          </a:xfrm>
          <a:prstGeom prst="rect">
            <a:avLst/>
          </a:prstGeom>
          <a:noFill/>
          <a:ln/>
        </p:spPr>
        <p:txBody>
          <a:bodyPr wrap="square" lIns="0" tIns="0" rIns="0" bIns="0" rtlCol="0" anchor="ctr"/>
          <a:lstStyle/>
          <a:p>
            <a:pPr marL="0" indent="0">
              <a:buNone/>
            </a:pPr>
            <a:r>
              <a:rPr lang="en-US" sz="950">
                <a:solidFill>
                  <a:srgbClr val="334155"/>
                </a:solidFill>
                <a:latin typeface="Calibri" pitchFamily="34" charset="0"/>
                <a:ea typeface="Calibri" pitchFamily="34" charset="-122"/>
                <a:cs typeface="Calibri" pitchFamily="34" charset="-120"/>
              </a:rPr>
              <a:t>How customers use their card matters far more than who they are</a:t>
            </a:r>
            <a:endParaRPr lang="en-US" sz="9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F1F3D"/>
          </a:solidFill>
          <a:ln w="12700">
            <a:solidFill>
              <a:srgbClr val="0F1F3D"/>
            </a:solidFill>
            <a:prstDash val="solid"/>
          </a:ln>
        </p:spPr>
        <p:txBody>
          <a:bodyPr/>
          <a:lstStyle/>
          <a:p>
            <a:endParaRPr lang="en-US"/>
          </a:p>
        </p:txBody>
      </p:sp>
      <p:sp>
        <p:nvSpPr>
          <p:cNvPr id="3" name="Text 1"/>
          <p:cNvSpPr/>
          <p:nvPr/>
        </p:nvSpPr>
        <p:spPr>
          <a:xfrm>
            <a:off x="411480" y="91440"/>
            <a:ext cx="8229600" cy="54864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Predictive Modeling</a:t>
            </a:r>
            <a:endParaRPr lang="en-US" sz="2200"/>
          </a:p>
        </p:txBody>
      </p:sp>
      <p:sp>
        <p:nvSpPr>
          <p:cNvPr id="4" name="Shape 2"/>
          <p:cNvSpPr/>
          <p:nvPr/>
        </p:nvSpPr>
        <p:spPr>
          <a:xfrm>
            <a:off x="320040" y="822960"/>
            <a:ext cx="4114800" cy="4023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320040" y="822960"/>
            <a:ext cx="4114800" cy="566928"/>
          </a:xfrm>
          <a:prstGeom prst="rect">
            <a:avLst/>
          </a:prstGeom>
          <a:solidFill>
            <a:srgbClr val="4472C4"/>
          </a:solidFill>
          <a:ln w="12700">
            <a:solidFill>
              <a:srgbClr val="4472C4"/>
            </a:solidFill>
            <a:prstDash val="solid"/>
          </a:ln>
        </p:spPr>
        <p:txBody>
          <a:bodyPr/>
          <a:lstStyle/>
          <a:p>
            <a:endParaRPr lang="en-US"/>
          </a:p>
        </p:txBody>
      </p:sp>
      <p:sp>
        <p:nvSpPr>
          <p:cNvPr id="6" name="Text 4"/>
          <p:cNvSpPr/>
          <p:nvPr/>
        </p:nvSpPr>
        <p:spPr>
          <a:xfrm>
            <a:off x="457200" y="822960"/>
            <a:ext cx="3840480" cy="347472"/>
          </a:xfrm>
          <a:prstGeom prst="rect">
            <a:avLst/>
          </a:prstGeom>
          <a:noFill/>
          <a:ln/>
        </p:spPr>
        <p:txBody>
          <a:bodyPr wrap="square" lIns="0" tIns="0" rIns="0" bIns="0" rtlCol="0" anchor="ctr"/>
          <a:lstStyle/>
          <a:p>
            <a:pPr marL="0" indent="0">
              <a:buNone/>
            </a:pPr>
            <a:r>
              <a:rPr lang="en-US" sz="1500" b="1">
                <a:solidFill>
                  <a:srgbClr val="FFFFFF"/>
                </a:solidFill>
                <a:latin typeface="Calibri" pitchFamily="34" charset="0"/>
                <a:ea typeface="Calibri" pitchFamily="34" charset="-122"/>
                <a:cs typeface="Calibri" pitchFamily="34" charset="-120"/>
              </a:rPr>
              <a:t>Logistic Regression</a:t>
            </a:r>
            <a:endParaRPr lang="en-US" sz="1500"/>
          </a:p>
        </p:txBody>
      </p:sp>
      <p:sp>
        <p:nvSpPr>
          <p:cNvPr id="7" name="Text 5"/>
          <p:cNvSpPr/>
          <p:nvPr/>
        </p:nvSpPr>
        <p:spPr>
          <a:xfrm>
            <a:off x="457200" y="1143000"/>
            <a:ext cx="3840480" cy="228600"/>
          </a:xfrm>
          <a:prstGeom prst="rect">
            <a:avLst/>
          </a:prstGeom>
          <a:noFill/>
          <a:ln/>
        </p:spPr>
        <p:txBody>
          <a:bodyPr wrap="square" lIns="0" tIns="0" rIns="0" bIns="0" rtlCol="0" anchor="ctr"/>
          <a:lstStyle/>
          <a:p>
            <a:pPr marL="0" indent="0">
              <a:buNone/>
            </a:pPr>
            <a:r>
              <a:rPr lang="en-US" sz="1000" i="1">
                <a:solidFill>
                  <a:srgbClr val="7BA7D4"/>
                </a:solidFill>
                <a:latin typeface="Calibri" pitchFamily="34" charset="0"/>
                <a:ea typeface="Calibri" pitchFamily="34" charset="-122"/>
                <a:cs typeface="Calibri" pitchFamily="34" charset="-120"/>
              </a:rPr>
              <a:t>Interpretable baseline</a:t>
            </a:r>
            <a:endParaRPr lang="en-US" sz="1000"/>
          </a:p>
        </p:txBody>
      </p:sp>
      <p:sp>
        <p:nvSpPr>
          <p:cNvPr id="8" name="Text 6"/>
          <p:cNvSpPr/>
          <p:nvPr/>
        </p:nvSpPr>
        <p:spPr>
          <a:xfrm>
            <a:off x="457200" y="1481328"/>
            <a:ext cx="3840480" cy="256032"/>
          </a:xfrm>
          <a:prstGeom prst="rect">
            <a:avLst/>
          </a:prstGeom>
          <a:noFill/>
          <a:ln/>
        </p:spPr>
        <p:txBody>
          <a:bodyPr wrap="square" lIns="0" tIns="0" rIns="0" bIns="0" rtlCol="0" anchor="ctr"/>
          <a:lstStyle/>
          <a:p>
            <a:pPr marL="0" indent="0">
              <a:buNone/>
            </a:pPr>
            <a:r>
              <a:rPr lang="en-US" sz="1100" b="1">
                <a:solidFill>
                  <a:srgbClr val="4472C4"/>
                </a:solidFill>
                <a:latin typeface="Calibri" pitchFamily="34" charset="0"/>
                <a:ea typeface="Calibri" pitchFamily="34" charset="-122"/>
                <a:cs typeface="Calibri" pitchFamily="34" charset="-120"/>
              </a:rPr>
              <a:t>Why this model:</a:t>
            </a:r>
            <a:endParaRPr lang="en-US" sz="1100"/>
          </a:p>
        </p:txBody>
      </p:sp>
      <p:sp>
        <p:nvSpPr>
          <p:cNvPr id="9" name="Text 7"/>
          <p:cNvSpPr/>
          <p:nvPr/>
        </p:nvSpPr>
        <p:spPr>
          <a:xfrm>
            <a:off x="457200" y="1737360"/>
            <a:ext cx="3840480" cy="868680"/>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Directly maps feature weights to churn probability. Coefficients are interpretable — each feature has a clear directional impact. Fast to train and useful for understanding which features matter most.</a:t>
            </a:r>
            <a:endParaRPr lang="en-US" sz="1000"/>
          </a:p>
        </p:txBody>
      </p:sp>
      <p:sp>
        <p:nvSpPr>
          <p:cNvPr id="10" name="Text 8"/>
          <p:cNvSpPr/>
          <p:nvPr/>
        </p:nvSpPr>
        <p:spPr>
          <a:xfrm>
            <a:off x="457200" y="2697480"/>
            <a:ext cx="3840480" cy="256032"/>
          </a:xfrm>
          <a:prstGeom prst="rect">
            <a:avLst/>
          </a:prstGeom>
          <a:noFill/>
          <a:ln/>
        </p:spPr>
        <p:txBody>
          <a:bodyPr wrap="square" lIns="0" tIns="0" rIns="0" bIns="0" rtlCol="0" anchor="ctr"/>
          <a:lstStyle/>
          <a:p>
            <a:pPr marL="0" indent="0">
              <a:buNone/>
            </a:pPr>
            <a:r>
              <a:rPr lang="en-US" sz="1100" b="1">
                <a:solidFill>
                  <a:srgbClr val="27AE60"/>
                </a:solidFill>
                <a:latin typeface="Calibri" pitchFamily="34" charset="0"/>
                <a:ea typeface="Calibri" pitchFamily="34" charset="-122"/>
                <a:cs typeface="Calibri" pitchFamily="34" charset="-120"/>
              </a:rPr>
              <a:t>Strengths:</a:t>
            </a:r>
            <a:endParaRPr lang="en-US" sz="1100"/>
          </a:p>
        </p:txBody>
      </p:sp>
      <p:sp>
        <p:nvSpPr>
          <p:cNvPr id="11" name="Shape 9"/>
          <p:cNvSpPr/>
          <p:nvPr/>
        </p:nvSpPr>
        <p:spPr>
          <a:xfrm>
            <a:off x="484632" y="3017520"/>
            <a:ext cx="91440" cy="91440"/>
          </a:xfrm>
          <a:prstGeom prst="ellipse">
            <a:avLst/>
          </a:prstGeom>
          <a:solidFill>
            <a:srgbClr val="27AE60"/>
          </a:solidFill>
          <a:ln w="12700">
            <a:solidFill>
              <a:srgbClr val="27AE60"/>
            </a:solidFill>
            <a:prstDash val="solid"/>
          </a:ln>
        </p:spPr>
        <p:txBody>
          <a:bodyPr/>
          <a:lstStyle/>
          <a:p>
            <a:endParaRPr lang="en-US"/>
          </a:p>
        </p:txBody>
      </p:sp>
      <p:sp>
        <p:nvSpPr>
          <p:cNvPr id="12" name="Text 10"/>
          <p:cNvSpPr/>
          <p:nvPr/>
        </p:nvSpPr>
        <p:spPr>
          <a:xfrm>
            <a:off x="649224" y="2971800"/>
            <a:ext cx="3657600" cy="274320"/>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Highly interpretable</a:t>
            </a:r>
            <a:endParaRPr lang="en-US" sz="1050"/>
          </a:p>
        </p:txBody>
      </p:sp>
      <p:sp>
        <p:nvSpPr>
          <p:cNvPr id="13" name="Shape 11"/>
          <p:cNvSpPr/>
          <p:nvPr/>
        </p:nvSpPr>
        <p:spPr>
          <a:xfrm>
            <a:off x="484632" y="3337560"/>
            <a:ext cx="91440" cy="91440"/>
          </a:xfrm>
          <a:prstGeom prst="ellipse">
            <a:avLst/>
          </a:prstGeom>
          <a:solidFill>
            <a:srgbClr val="27AE60"/>
          </a:solidFill>
          <a:ln w="12700">
            <a:solidFill>
              <a:srgbClr val="27AE60"/>
            </a:solidFill>
            <a:prstDash val="solid"/>
          </a:ln>
        </p:spPr>
        <p:txBody>
          <a:bodyPr/>
          <a:lstStyle/>
          <a:p>
            <a:endParaRPr lang="en-US"/>
          </a:p>
        </p:txBody>
      </p:sp>
      <p:sp>
        <p:nvSpPr>
          <p:cNvPr id="14" name="Text 12"/>
          <p:cNvSpPr/>
          <p:nvPr/>
        </p:nvSpPr>
        <p:spPr>
          <a:xfrm>
            <a:off x="649224" y="3291840"/>
            <a:ext cx="3657600" cy="274320"/>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Fast to train</a:t>
            </a:r>
            <a:endParaRPr lang="en-US" sz="1050"/>
          </a:p>
        </p:txBody>
      </p:sp>
      <p:sp>
        <p:nvSpPr>
          <p:cNvPr id="15" name="Shape 13"/>
          <p:cNvSpPr/>
          <p:nvPr/>
        </p:nvSpPr>
        <p:spPr>
          <a:xfrm>
            <a:off x="484632" y="3657600"/>
            <a:ext cx="91440" cy="91440"/>
          </a:xfrm>
          <a:prstGeom prst="ellipse">
            <a:avLst/>
          </a:prstGeom>
          <a:solidFill>
            <a:srgbClr val="27AE60"/>
          </a:solidFill>
          <a:ln w="12700">
            <a:solidFill>
              <a:srgbClr val="27AE60"/>
            </a:solidFill>
            <a:prstDash val="solid"/>
          </a:ln>
        </p:spPr>
        <p:txBody>
          <a:bodyPr/>
          <a:lstStyle/>
          <a:p>
            <a:endParaRPr lang="en-US"/>
          </a:p>
        </p:txBody>
      </p:sp>
      <p:sp>
        <p:nvSpPr>
          <p:cNvPr id="16" name="Text 14"/>
          <p:cNvSpPr/>
          <p:nvPr/>
        </p:nvSpPr>
        <p:spPr>
          <a:xfrm>
            <a:off x="649224" y="3611880"/>
            <a:ext cx="3657600" cy="274320"/>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Good recall on attrited class</a:t>
            </a:r>
            <a:endParaRPr lang="en-US" sz="1050"/>
          </a:p>
        </p:txBody>
      </p:sp>
      <p:sp>
        <p:nvSpPr>
          <p:cNvPr id="17" name="Text 15"/>
          <p:cNvSpPr/>
          <p:nvPr/>
        </p:nvSpPr>
        <p:spPr>
          <a:xfrm>
            <a:off x="457200" y="4023360"/>
            <a:ext cx="3840480" cy="658368"/>
          </a:xfrm>
          <a:prstGeom prst="rect">
            <a:avLst/>
          </a:prstGeom>
          <a:noFill/>
          <a:ln/>
        </p:spPr>
        <p:txBody>
          <a:bodyPr wrap="square" lIns="0" tIns="0" rIns="0" bIns="0" rtlCol="0" anchor="ctr"/>
          <a:lstStyle/>
          <a:p>
            <a:pPr marL="0" indent="0">
              <a:buNone/>
            </a:pPr>
            <a:r>
              <a:rPr lang="en-US" sz="1000">
                <a:solidFill>
                  <a:srgbClr val="C0392B"/>
                </a:solidFill>
                <a:latin typeface="Calibri" pitchFamily="34" charset="0"/>
                <a:ea typeface="Calibri" pitchFamily="34" charset="-122"/>
                <a:cs typeface="Calibri" pitchFamily="34" charset="-120"/>
              </a:rPr>
              <a:t>Weaknesses: Lower precision (52%) · Misses complex interactions · 63% F1 on attrited class</a:t>
            </a:r>
            <a:endParaRPr lang="en-US" sz="1000"/>
          </a:p>
        </p:txBody>
      </p:sp>
      <p:sp>
        <p:nvSpPr>
          <p:cNvPr id="18" name="Shape 16"/>
          <p:cNvSpPr/>
          <p:nvPr/>
        </p:nvSpPr>
        <p:spPr>
          <a:xfrm>
            <a:off x="4754880" y="822960"/>
            <a:ext cx="4114800" cy="402336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9" name="Shape 17"/>
          <p:cNvSpPr/>
          <p:nvPr/>
        </p:nvSpPr>
        <p:spPr>
          <a:xfrm>
            <a:off x="4754880" y="822960"/>
            <a:ext cx="4114800" cy="566928"/>
          </a:xfrm>
          <a:prstGeom prst="rect">
            <a:avLst/>
          </a:prstGeom>
          <a:solidFill>
            <a:srgbClr val="0F1F3D"/>
          </a:solidFill>
          <a:ln w="12700">
            <a:solidFill>
              <a:srgbClr val="0F1F3D"/>
            </a:solidFill>
            <a:prstDash val="solid"/>
          </a:ln>
        </p:spPr>
        <p:txBody>
          <a:bodyPr/>
          <a:lstStyle/>
          <a:p>
            <a:endParaRPr lang="en-US"/>
          </a:p>
        </p:txBody>
      </p:sp>
      <p:sp>
        <p:nvSpPr>
          <p:cNvPr id="20" name="Text 18"/>
          <p:cNvSpPr/>
          <p:nvPr/>
        </p:nvSpPr>
        <p:spPr>
          <a:xfrm>
            <a:off x="4892040" y="822960"/>
            <a:ext cx="3840480" cy="347472"/>
          </a:xfrm>
          <a:prstGeom prst="rect">
            <a:avLst/>
          </a:prstGeom>
          <a:noFill/>
          <a:ln/>
        </p:spPr>
        <p:txBody>
          <a:bodyPr wrap="square" lIns="0" tIns="0" rIns="0" bIns="0" rtlCol="0" anchor="ctr"/>
          <a:lstStyle/>
          <a:p>
            <a:pPr marL="0" indent="0">
              <a:buNone/>
            </a:pPr>
            <a:r>
              <a:rPr lang="en-US" sz="1500" b="1">
                <a:solidFill>
                  <a:srgbClr val="FFFFFF"/>
                </a:solidFill>
                <a:latin typeface="Calibri" pitchFamily="34" charset="0"/>
                <a:ea typeface="Calibri" pitchFamily="34" charset="-122"/>
                <a:cs typeface="Calibri" pitchFamily="34" charset="-120"/>
              </a:rPr>
              <a:t>Random Forest</a:t>
            </a:r>
            <a:endParaRPr lang="en-US" sz="1500"/>
          </a:p>
        </p:txBody>
      </p:sp>
      <p:sp>
        <p:nvSpPr>
          <p:cNvPr id="21" name="Text 19"/>
          <p:cNvSpPr/>
          <p:nvPr/>
        </p:nvSpPr>
        <p:spPr>
          <a:xfrm>
            <a:off x="4892040" y="1143000"/>
            <a:ext cx="3840480" cy="228600"/>
          </a:xfrm>
          <a:prstGeom prst="rect">
            <a:avLst/>
          </a:prstGeom>
          <a:noFill/>
          <a:ln/>
        </p:spPr>
        <p:txBody>
          <a:bodyPr wrap="square" lIns="0" tIns="0" rIns="0" bIns="0" rtlCol="0" anchor="ctr"/>
          <a:lstStyle/>
          <a:p>
            <a:pPr marL="0" indent="0">
              <a:buNone/>
            </a:pPr>
            <a:r>
              <a:rPr lang="en-US" sz="1000" i="1">
                <a:solidFill>
                  <a:srgbClr val="7BA7D4"/>
                </a:solidFill>
                <a:latin typeface="Calibri" pitchFamily="34" charset="0"/>
                <a:ea typeface="Calibri" pitchFamily="34" charset="-122"/>
                <a:cs typeface="Calibri" pitchFamily="34" charset="-120"/>
              </a:rPr>
              <a:t>Primary model</a:t>
            </a:r>
            <a:endParaRPr lang="en-US" sz="1000"/>
          </a:p>
        </p:txBody>
      </p:sp>
      <p:sp>
        <p:nvSpPr>
          <p:cNvPr id="22" name="Text 20"/>
          <p:cNvSpPr/>
          <p:nvPr/>
        </p:nvSpPr>
        <p:spPr>
          <a:xfrm>
            <a:off x="4892040" y="1481328"/>
            <a:ext cx="3840480" cy="256032"/>
          </a:xfrm>
          <a:prstGeom prst="rect">
            <a:avLst/>
          </a:prstGeom>
          <a:noFill/>
          <a:ln/>
        </p:spPr>
        <p:txBody>
          <a:bodyPr wrap="square" lIns="0" tIns="0" rIns="0" bIns="0" rtlCol="0" anchor="ctr"/>
          <a:lstStyle/>
          <a:p>
            <a:pPr marL="0" indent="0">
              <a:buNone/>
            </a:pPr>
            <a:r>
              <a:rPr lang="en-US" sz="1100" b="1">
                <a:solidFill>
                  <a:srgbClr val="4472C4"/>
                </a:solidFill>
                <a:latin typeface="Calibri" pitchFamily="34" charset="0"/>
                <a:ea typeface="Calibri" pitchFamily="34" charset="-122"/>
                <a:cs typeface="Calibri" pitchFamily="34" charset="-120"/>
              </a:rPr>
              <a:t>Why this model:</a:t>
            </a:r>
            <a:endParaRPr lang="en-US" sz="1100"/>
          </a:p>
        </p:txBody>
      </p:sp>
      <p:sp>
        <p:nvSpPr>
          <p:cNvPr id="23" name="Text 21"/>
          <p:cNvSpPr/>
          <p:nvPr/>
        </p:nvSpPr>
        <p:spPr>
          <a:xfrm>
            <a:off x="4892040" y="1737360"/>
            <a:ext cx="3840480" cy="868680"/>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Ensemble of decision trees captures non-linear relationships and feature interactions that Logistic Regression misses. Robust to outliers and feature scale. Uses class_weight='balanced' to handle imbalance.</a:t>
            </a:r>
            <a:endParaRPr lang="en-US" sz="1000"/>
          </a:p>
        </p:txBody>
      </p:sp>
      <p:sp>
        <p:nvSpPr>
          <p:cNvPr id="24" name="Text 22"/>
          <p:cNvSpPr/>
          <p:nvPr/>
        </p:nvSpPr>
        <p:spPr>
          <a:xfrm>
            <a:off x="4892040" y="2697480"/>
            <a:ext cx="3840480" cy="256032"/>
          </a:xfrm>
          <a:prstGeom prst="rect">
            <a:avLst/>
          </a:prstGeom>
          <a:noFill/>
          <a:ln/>
        </p:spPr>
        <p:txBody>
          <a:bodyPr wrap="square" lIns="0" tIns="0" rIns="0" bIns="0" rtlCol="0" anchor="ctr"/>
          <a:lstStyle/>
          <a:p>
            <a:pPr marL="0" indent="0">
              <a:buNone/>
            </a:pPr>
            <a:r>
              <a:rPr lang="en-US" sz="1100" b="1">
                <a:solidFill>
                  <a:srgbClr val="27AE60"/>
                </a:solidFill>
                <a:latin typeface="Calibri" pitchFamily="34" charset="0"/>
                <a:ea typeface="Calibri" pitchFamily="34" charset="-122"/>
                <a:cs typeface="Calibri" pitchFamily="34" charset="-120"/>
              </a:rPr>
              <a:t>Strengths:</a:t>
            </a:r>
            <a:endParaRPr lang="en-US" sz="1100"/>
          </a:p>
        </p:txBody>
      </p:sp>
      <p:sp>
        <p:nvSpPr>
          <p:cNvPr id="25" name="Shape 23"/>
          <p:cNvSpPr/>
          <p:nvPr/>
        </p:nvSpPr>
        <p:spPr>
          <a:xfrm>
            <a:off x="4919472" y="3017520"/>
            <a:ext cx="91440" cy="91440"/>
          </a:xfrm>
          <a:prstGeom prst="ellipse">
            <a:avLst/>
          </a:prstGeom>
          <a:solidFill>
            <a:srgbClr val="27AE60"/>
          </a:solidFill>
          <a:ln w="12700">
            <a:solidFill>
              <a:srgbClr val="27AE60"/>
            </a:solidFill>
            <a:prstDash val="solid"/>
          </a:ln>
        </p:spPr>
        <p:txBody>
          <a:bodyPr/>
          <a:lstStyle/>
          <a:p>
            <a:endParaRPr lang="en-US"/>
          </a:p>
        </p:txBody>
      </p:sp>
      <p:sp>
        <p:nvSpPr>
          <p:cNvPr id="26" name="Text 24"/>
          <p:cNvSpPr/>
          <p:nvPr/>
        </p:nvSpPr>
        <p:spPr>
          <a:xfrm>
            <a:off x="5084064" y="2971800"/>
            <a:ext cx="3657600" cy="274320"/>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95% accuracy</a:t>
            </a:r>
            <a:endParaRPr lang="en-US" sz="1050"/>
          </a:p>
        </p:txBody>
      </p:sp>
      <p:sp>
        <p:nvSpPr>
          <p:cNvPr id="27" name="Shape 25"/>
          <p:cNvSpPr/>
          <p:nvPr/>
        </p:nvSpPr>
        <p:spPr>
          <a:xfrm>
            <a:off x="4919472" y="3337560"/>
            <a:ext cx="91440" cy="91440"/>
          </a:xfrm>
          <a:prstGeom prst="ellipse">
            <a:avLst/>
          </a:prstGeom>
          <a:solidFill>
            <a:srgbClr val="27AE60"/>
          </a:solidFill>
          <a:ln w="12700">
            <a:solidFill>
              <a:srgbClr val="27AE60"/>
            </a:solidFill>
            <a:prstDash val="solid"/>
          </a:ln>
        </p:spPr>
        <p:txBody>
          <a:bodyPr/>
          <a:lstStyle/>
          <a:p>
            <a:endParaRPr lang="en-US"/>
          </a:p>
        </p:txBody>
      </p:sp>
      <p:sp>
        <p:nvSpPr>
          <p:cNvPr id="28" name="Text 26"/>
          <p:cNvSpPr/>
          <p:nvPr/>
        </p:nvSpPr>
        <p:spPr>
          <a:xfrm>
            <a:off x="5084064" y="3291840"/>
            <a:ext cx="3657600" cy="274320"/>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93% attrited precision</a:t>
            </a:r>
            <a:endParaRPr lang="en-US" sz="1050"/>
          </a:p>
        </p:txBody>
      </p:sp>
      <p:sp>
        <p:nvSpPr>
          <p:cNvPr id="29" name="Shape 27"/>
          <p:cNvSpPr/>
          <p:nvPr/>
        </p:nvSpPr>
        <p:spPr>
          <a:xfrm>
            <a:off x="4919472" y="3657600"/>
            <a:ext cx="91440" cy="91440"/>
          </a:xfrm>
          <a:prstGeom prst="ellipse">
            <a:avLst/>
          </a:prstGeom>
          <a:solidFill>
            <a:srgbClr val="27AE60"/>
          </a:solidFill>
          <a:ln w="12700">
            <a:solidFill>
              <a:srgbClr val="27AE60"/>
            </a:solidFill>
            <a:prstDash val="solid"/>
          </a:ln>
        </p:spPr>
        <p:txBody>
          <a:bodyPr/>
          <a:lstStyle/>
          <a:p>
            <a:endParaRPr lang="en-US"/>
          </a:p>
        </p:txBody>
      </p:sp>
      <p:sp>
        <p:nvSpPr>
          <p:cNvPr id="30" name="Text 28"/>
          <p:cNvSpPr/>
          <p:nvPr/>
        </p:nvSpPr>
        <p:spPr>
          <a:xfrm>
            <a:off x="5084064" y="3611880"/>
            <a:ext cx="3657600" cy="274320"/>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84% F1 — best overall</a:t>
            </a:r>
            <a:endParaRPr lang="en-US" sz="1050"/>
          </a:p>
        </p:txBody>
      </p:sp>
      <p:sp>
        <p:nvSpPr>
          <p:cNvPr id="31" name="Text 29"/>
          <p:cNvSpPr/>
          <p:nvPr/>
        </p:nvSpPr>
        <p:spPr>
          <a:xfrm>
            <a:off x="4892040" y="4023360"/>
            <a:ext cx="3840480" cy="658368"/>
          </a:xfrm>
          <a:prstGeom prst="rect">
            <a:avLst/>
          </a:prstGeom>
          <a:noFill/>
          <a:ln/>
        </p:spPr>
        <p:txBody>
          <a:bodyPr wrap="square" lIns="0" tIns="0" rIns="0" bIns="0" rtlCol="0" anchor="ctr"/>
          <a:lstStyle/>
          <a:p>
            <a:pPr marL="0" indent="0">
              <a:buNone/>
            </a:pPr>
            <a:r>
              <a:rPr lang="en-US" sz="1000">
                <a:solidFill>
                  <a:srgbClr val="C0392B"/>
                </a:solidFill>
                <a:latin typeface="Calibri" pitchFamily="34" charset="0"/>
                <a:ea typeface="Calibri" pitchFamily="34" charset="-122"/>
                <a:cs typeface="Calibri" pitchFamily="34" charset="-120"/>
              </a:rPr>
              <a:t>Weaknesses: Less interpretable (black box) · Slightly lower recall (77%) · Slower to train</a:t>
            </a:r>
            <a:endParaRPr lang="en-US"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F1F3D"/>
          </a:solidFill>
          <a:ln w="12700">
            <a:solidFill>
              <a:srgbClr val="0F1F3D"/>
            </a:solidFill>
            <a:prstDash val="solid"/>
          </a:ln>
        </p:spPr>
        <p:txBody>
          <a:bodyPr/>
          <a:lstStyle/>
          <a:p>
            <a:endParaRPr lang="en-US"/>
          </a:p>
        </p:txBody>
      </p:sp>
      <p:sp>
        <p:nvSpPr>
          <p:cNvPr id="3" name="Text 1"/>
          <p:cNvSpPr/>
          <p:nvPr/>
        </p:nvSpPr>
        <p:spPr>
          <a:xfrm>
            <a:off x="411480" y="91440"/>
            <a:ext cx="8229600" cy="54864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Model Performance Results</a:t>
            </a:r>
            <a:endParaRPr lang="en-US" sz="2200"/>
          </a:p>
        </p:txBody>
      </p:sp>
      <p:sp>
        <p:nvSpPr>
          <p:cNvPr id="4" name="Shape 2"/>
          <p:cNvSpPr/>
          <p:nvPr/>
        </p:nvSpPr>
        <p:spPr>
          <a:xfrm>
            <a:off x="320040" y="841248"/>
            <a:ext cx="2103120" cy="438912"/>
          </a:xfrm>
          <a:prstGeom prst="rect">
            <a:avLst/>
          </a:prstGeom>
          <a:solidFill>
            <a:srgbClr val="0F1F3D"/>
          </a:solidFill>
          <a:ln w="12700">
            <a:solidFill>
              <a:srgbClr val="FFFFFF"/>
            </a:solidFill>
            <a:prstDash val="solid"/>
          </a:ln>
        </p:spPr>
        <p:txBody>
          <a:bodyPr/>
          <a:lstStyle/>
          <a:p>
            <a:endParaRPr lang="en-US"/>
          </a:p>
        </p:txBody>
      </p:sp>
      <p:sp>
        <p:nvSpPr>
          <p:cNvPr id="5" name="Text 3"/>
          <p:cNvSpPr/>
          <p:nvPr/>
        </p:nvSpPr>
        <p:spPr>
          <a:xfrm>
            <a:off x="320040" y="841248"/>
            <a:ext cx="2103120" cy="438912"/>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Metric</a:t>
            </a:r>
            <a:endParaRPr lang="en-US" sz="1100"/>
          </a:p>
        </p:txBody>
      </p:sp>
      <p:sp>
        <p:nvSpPr>
          <p:cNvPr id="6" name="Shape 4"/>
          <p:cNvSpPr/>
          <p:nvPr/>
        </p:nvSpPr>
        <p:spPr>
          <a:xfrm>
            <a:off x="2468880" y="841248"/>
            <a:ext cx="2011680" cy="438912"/>
          </a:xfrm>
          <a:prstGeom prst="rect">
            <a:avLst/>
          </a:prstGeom>
          <a:solidFill>
            <a:srgbClr val="0F1F3D"/>
          </a:solidFill>
          <a:ln w="12700">
            <a:solidFill>
              <a:srgbClr val="FFFFFF"/>
            </a:solidFill>
            <a:prstDash val="solid"/>
          </a:ln>
        </p:spPr>
        <p:txBody>
          <a:bodyPr/>
          <a:lstStyle/>
          <a:p>
            <a:endParaRPr lang="en-US"/>
          </a:p>
        </p:txBody>
      </p:sp>
      <p:sp>
        <p:nvSpPr>
          <p:cNvPr id="7" name="Text 5"/>
          <p:cNvSpPr/>
          <p:nvPr/>
        </p:nvSpPr>
        <p:spPr>
          <a:xfrm>
            <a:off x="2468880" y="841248"/>
            <a:ext cx="2011680" cy="438912"/>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Logistic Regression</a:t>
            </a:r>
            <a:endParaRPr lang="en-US" sz="1100"/>
          </a:p>
        </p:txBody>
      </p:sp>
      <p:sp>
        <p:nvSpPr>
          <p:cNvPr id="8" name="Shape 6"/>
          <p:cNvSpPr/>
          <p:nvPr/>
        </p:nvSpPr>
        <p:spPr>
          <a:xfrm>
            <a:off x="4526280" y="841248"/>
            <a:ext cx="2011680" cy="438912"/>
          </a:xfrm>
          <a:prstGeom prst="rect">
            <a:avLst/>
          </a:prstGeom>
          <a:solidFill>
            <a:srgbClr val="0F1F3D"/>
          </a:solidFill>
          <a:ln w="12700">
            <a:solidFill>
              <a:srgbClr val="FFFFFF"/>
            </a:solidFill>
            <a:prstDash val="solid"/>
          </a:ln>
        </p:spPr>
        <p:txBody>
          <a:bodyPr/>
          <a:lstStyle/>
          <a:p>
            <a:endParaRPr lang="en-US"/>
          </a:p>
        </p:txBody>
      </p:sp>
      <p:sp>
        <p:nvSpPr>
          <p:cNvPr id="9" name="Text 7"/>
          <p:cNvSpPr/>
          <p:nvPr/>
        </p:nvSpPr>
        <p:spPr>
          <a:xfrm>
            <a:off x="4526280" y="841248"/>
            <a:ext cx="2011680" cy="438912"/>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Random Forest</a:t>
            </a:r>
            <a:endParaRPr lang="en-US" sz="1100"/>
          </a:p>
        </p:txBody>
      </p:sp>
      <p:sp>
        <p:nvSpPr>
          <p:cNvPr id="10" name="Shape 8"/>
          <p:cNvSpPr/>
          <p:nvPr/>
        </p:nvSpPr>
        <p:spPr>
          <a:xfrm>
            <a:off x="6583680" y="841248"/>
            <a:ext cx="1645920" cy="438912"/>
          </a:xfrm>
          <a:prstGeom prst="rect">
            <a:avLst/>
          </a:prstGeom>
          <a:solidFill>
            <a:srgbClr val="0F1F3D"/>
          </a:solidFill>
          <a:ln w="12700">
            <a:solidFill>
              <a:srgbClr val="FFFFFF"/>
            </a:solidFill>
            <a:prstDash val="solid"/>
          </a:ln>
        </p:spPr>
        <p:txBody>
          <a:bodyPr/>
          <a:lstStyle/>
          <a:p>
            <a:endParaRPr lang="en-US"/>
          </a:p>
        </p:txBody>
      </p:sp>
      <p:sp>
        <p:nvSpPr>
          <p:cNvPr id="11" name="Text 9"/>
          <p:cNvSpPr/>
          <p:nvPr/>
        </p:nvSpPr>
        <p:spPr>
          <a:xfrm>
            <a:off x="6583680" y="841248"/>
            <a:ext cx="1645920" cy="438912"/>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Winner</a:t>
            </a:r>
            <a:endParaRPr lang="en-US" sz="1100"/>
          </a:p>
        </p:txBody>
      </p:sp>
      <p:sp>
        <p:nvSpPr>
          <p:cNvPr id="12" name="Shape 10"/>
          <p:cNvSpPr/>
          <p:nvPr/>
        </p:nvSpPr>
        <p:spPr>
          <a:xfrm>
            <a:off x="320040" y="1280160"/>
            <a:ext cx="2103120" cy="475488"/>
          </a:xfrm>
          <a:prstGeom prst="rect">
            <a:avLst/>
          </a:prstGeom>
          <a:solidFill>
            <a:srgbClr val="FFFFFF"/>
          </a:solidFill>
          <a:ln w="12700">
            <a:solidFill>
              <a:srgbClr val="E2E8F0"/>
            </a:solidFill>
            <a:prstDash val="solid"/>
          </a:ln>
        </p:spPr>
        <p:txBody>
          <a:bodyPr/>
          <a:lstStyle/>
          <a:p>
            <a:endParaRPr lang="en-US"/>
          </a:p>
        </p:txBody>
      </p:sp>
      <p:sp>
        <p:nvSpPr>
          <p:cNvPr id="13" name="Text 11"/>
          <p:cNvSpPr/>
          <p:nvPr/>
        </p:nvSpPr>
        <p:spPr>
          <a:xfrm>
            <a:off x="320040" y="1280160"/>
            <a:ext cx="2103120" cy="475488"/>
          </a:xfrm>
          <a:prstGeom prst="rect">
            <a:avLst/>
          </a:prstGeom>
          <a:noFill/>
          <a:ln/>
        </p:spPr>
        <p:txBody>
          <a:bodyPr wrap="square" lIns="0" tIns="0" rIns="0" bIns="0" rtlCol="0" anchor="ctr"/>
          <a:lstStyle/>
          <a:p>
            <a:pPr marL="0" indent="0" algn="ctr">
              <a:buNone/>
            </a:pPr>
            <a:r>
              <a:rPr lang="en-US" sz="1300" b="1">
                <a:solidFill>
                  <a:srgbClr val="1E293B"/>
                </a:solidFill>
                <a:latin typeface="Calibri" pitchFamily="34" charset="0"/>
                <a:ea typeface="Calibri" pitchFamily="34" charset="-122"/>
                <a:cs typeface="Calibri" pitchFamily="34" charset="-120"/>
              </a:rPr>
              <a:t>Accuracy</a:t>
            </a:r>
            <a:endParaRPr lang="en-US" sz="1300"/>
          </a:p>
        </p:txBody>
      </p:sp>
      <p:sp>
        <p:nvSpPr>
          <p:cNvPr id="14" name="Shape 12"/>
          <p:cNvSpPr/>
          <p:nvPr/>
        </p:nvSpPr>
        <p:spPr>
          <a:xfrm>
            <a:off x="2468880" y="1280160"/>
            <a:ext cx="2011680" cy="475488"/>
          </a:xfrm>
          <a:prstGeom prst="rect">
            <a:avLst/>
          </a:prstGeom>
          <a:solidFill>
            <a:srgbClr val="FFFFFF"/>
          </a:solidFill>
          <a:ln w="12700">
            <a:solidFill>
              <a:srgbClr val="E2E8F0"/>
            </a:solidFill>
            <a:prstDash val="solid"/>
          </a:ln>
        </p:spPr>
        <p:txBody>
          <a:bodyPr/>
          <a:lstStyle/>
          <a:p>
            <a:endParaRPr lang="en-US"/>
          </a:p>
        </p:txBody>
      </p:sp>
      <p:sp>
        <p:nvSpPr>
          <p:cNvPr id="15" name="Text 13"/>
          <p:cNvSpPr/>
          <p:nvPr/>
        </p:nvSpPr>
        <p:spPr>
          <a:xfrm>
            <a:off x="2468880" y="1280160"/>
            <a:ext cx="2011680" cy="475488"/>
          </a:xfrm>
          <a:prstGeom prst="rect">
            <a:avLst/>
          </a:prstGeom>
          <a:noFill/>
          <a:ln/>
        </p:spPr>
        <p:txBody>
          <a:bodyPr wrap="square" lIns="0" tIns="0" rIns="0" bIns="0" rtlCol="0" anchor="ctr"/>
          <a:lstStyle/>
          <a:p>
            <a:pPr marL="0" indent="0" algn="ctr">
              <a:buNone/>
            </a:pPr>
            <a:r>
              <a:rPr lang="en-US" sz="1300">
                <a:solidFill>
                  <a:srgbClr val="334155"/>
                </a:solidFill>
                <a:latin typeface="Calibri" pitchFamily="34" charset="0"/>
                <a:ea typeface="Calibri" pitchFamily="34" charset="-122"/>
                <a:cs typeface="Calibri" pitchFamily="34" charset="-120"/>
              </a:rPr>
              <a:t>85%</a:t>
            </a:r>
            <a:endParaRPr lang="en-US" sz="1300"/>
          </a:p>
        </p:txBody>
      </p:sp>
      <p:sp>
        <p:nvSpPr>
          <p:cNvPr id="16" name="Shape 14"/>
          <p:cNvSpPr/>
          <p:nvPr/>
        </p:nvSpPr>
        <p:spPr>
          <a:xfrm>
            <a:off x="4526280" y="1280160"/>
            <a:ext cx="2011680" cy="475488"/>
          </a:xfrm>
          <a:prstGeom prst="rect">
            <a:avLst/>
          </a:prstGeom>
          <a:solidFill>
            <a:srgbClr val="FFFFFF"/>
          </a:solidFill>
          <a:ln w="12700">
            <a:solidFill>
              <a:srgbClr val="E2E8F0"/>
            </a:solidFill>
            <a:prstDash val="solid"/>
          </a:ln>
        </p:spPr>
        <p:txBody>
          <a:bodyPr/>
          <a:lstStyle/>
          <a:p>
            <a:endParaRPr lang="en-US"/>
          </a:p>
        </p:txBody>
      </p:sp>
      <p:sp>
        <p:nvSpPr>
          <p:cNvPr id="17" name="Text 15"/>
          <p:cNvSpPr/>
          <p:nvPr/>
        </p:nvSpPr>
        <p:spPr>
          <a:xfrm>
            <a:off x="4526280" y="1280160"/>
            <a:ext cx="2011680" cy="475488"/>
          </a:xfrm>
          <a:prstGeom prst="rect">
            <a:avLst/>
          </a:prstGeom>
          <a:noFill/>
          <a:ln/>
        </p:spPr>
        <p:txBody>
          <a:bodyPr wrap="square" lIns="0" tIns="0" rIns="0" bIns="0" rtlCol="0" anchor="ctr"/>
          <a:lstStyle/>
          <a:p>
            <a:pPr marL="0" indent="0" algn="ctr">
              <a:buNone/>
            </a:pPr>
            <a:r>
              <a:rPr lang="en-US" sz="1300">
                <a:solidFill>
                  <a:srgbClr val="334155"/>
                </a:solidFill>
                <a:latin typeface="Calibri" pitchFamily="34" charset="0"/>
                <a:ea typeface="Calibri" pitchFamily="34" charset="-122"/>
                <a:cs typeface="Calibri" pitchFamily="34" charset="-120"/>
              </a:rPr>
              <a:t>95%</a:t>
            </a:r>
            <a:endParaRPr lang="en-US" sz="1300"/>
          </a:p>
        </p:txBody>
      </p:sp>
      <p:sp>
        <p:nvSpPr>
          <p:cNvPr id="18" name="Shape 16"/>
          <p:cNvSpPr/>
          <p:nvPr/>
        </p:nvSpPr>
        <p:spPr>
          <a:xfrm>
            <a:off x="6583680" y="1280160"/>
            <a:ext cx="1645920" cy="475488"/>
          </a:xfrm>
          <a:prstGeom prst="rect">
            <a:avLst/>
          </a:prstGeom>
          <a:solidFill>
            <a:srgbClr val="EBF5FB"/>
          </a:solidFill>
          <a:ln w="12700">
            <a:solidFill>
              <a:srgbClr val="E2E8F0"/>
            </a:solidFill>
            <a:prstDash val="solid"/>
          </a:ln>
        </p:spPr>
        <p:txBody>
          <a:bodyPr/>
          <a:lstStyle/>
          <a:p>
            <a:endParaRPr lang="en-US"/>
          </a:p>
        </p:txBody>
      </p:sp>
      <p:sp>
        <p:nvSpPr>
          <p:cNvPr id="19" name="Text 17"/>
          <p:cNvSpPr/>
          <p:nvPr/>
        </p:nvSpPr>
        <p:spPr>
          <a:xfrm>
            <a:off x="6583680" y="1280160"/>
            <a:ext cx="1645920" cy="475488"/>
          </a:xfrm>
          <a:prstGeom prst="rect">
            <a:avLst/>
          </a:prstGeom>
          <a:noFill/>
          <a:ln/>
        </p:spPr>
        <p:txBody>
          <a:bodyPr wrap="square" lIns="0" tIns="0" rIns="0" bIns="0" rtlCol="0" anchor="ctr"/>
          <a:lstStyle/>
          <a:p>
            <a:pPr marL="0" indent="0" algn="ctr">
              <a:buNone/>
            </a:pPr>
            <a:r>
              <a:rPr lang="en-US" sz="1300" b="1">
                <a:solidFill>
                  <a:srgbClr val="4472C4"/>
                </a:solidFill>
                <a:latin typeface="Calibri" pitchFamily="34" charset="0"/>
                <a:ea typeface="Calibri" pitchFamily="34" charset="-122"/>
                <a:cs typeface="Calibri" pitchFamily="34" charset="-120"/>
              </a:rPr>
              <a:t>RF ✓</a:t>
            </a:r>
            <a:endParaRPr lang="en-US" sz="1300"/>
          </a:p>
        </p:txBody>
      </p:sp>
      <p:sp>
        <p:nvSpPr>
          <p:cNvPr id="20" name="Shape 18"/>
          <p:cNvSpPr/>
          <p:nvPr/>
        </p:nvSpPr>
        <p:spPr>
          <a:xfrm>
            <a:off x="320040" y="1783080"/>
            <a:ext cx="2103120" cy="475488"/>
          </a:xfrm>
          <a:prstGeom prst="rect">
            <a:avLst/>
          </a:prstGeom>
          <a:solidFill>
            <a:srgbClr val="F0F4F8"/>
          </a:solidFill>
          <a:ln w="12700">
            <a:solidFill>
              <a:srgbClr val="E2E8F0"/>
            </a:solidFill>
            <a:prstDash val="solid"/>
          </a:ln>
        </p:spPr>
        <p:txBody>
          <a:bodyPr/>
          <a:lstStyle/>
          <a:p>
            <a:endParaRPr lang="en-US"/>
          </a:p>
        </p:txBody>
      </p:sp>
      <p:sp>
        <p:nvSpPr>
          <p:cNvPr id="21" name="Text 19"/>
          <p:cNvSpPr/>
          <p:nvPr/>
        </p:nvSpPr>
        <p:spPr>
          <a:xfrm>
            <a:off x="320040" y="1783080"/>
            <a:ext cx="2103120" cy="475488"/>
          </a:xfrm>
          <a:prstGeom prst="rect">
            <a:avLst/>
          </a:prstGeom>
          <a:noFill/>
          <a:ln/>
        </p:spPr>
        <p:txBody>
          <a:bodyPr wrap="square" lIns="0" tIns="0" rIns="0" bIns="0" rtlCol="0" anchor="ctr"/>
          <a:lstStyle/>
          <a:p>
            <a:pPr marL="0" indent="0" algn="ctr">
              <a:buNone/>
            </a:pPr>
            <a:r>
              <a:rPr lang="en-US" sz="1300" b="1">
                <a:solidFill>
                  <a:srgbClr val="1E293B"/>
                </a:solidFill>
                <a:latin typeface="Calibri" pitchFamily="34" charset="0"/>
                <a:ea typeface="Calibri" pitchFamily="34" charset="-122"/>
                <a:cs typeface="Calibri" pitchFamily="34" charset="-120"/>
              </a:rPr>
              <a:t>Attrited Precision</a:t>
            </a:r>
            <a:endParaRPr lang="en-US" sz="1300"/>
          </a:p>
        </p:txBody>
      </p:sp>
      <p:sp>
        <p:nvSpPr>
          <p:cNvPr id="22" name="Shape 20"/>
          <p:cNvSpPr/>
          <p:nvPr/>
        </p:nvSpPr>
        <p:spPr>
          <a:xfrm>
            <a:off x="2468880" y="1783080"/>
            <a:ext cx="2011680" cy="475488"/>
          </a:xfrm>
          <a:prstGeom prst="rect">
            <a:avLst/>
          </a:prstGeom>
          <a:solidFill>
            <a:srgbClr val="F0F4F8"/>
          </a:solidFill>
          <a:ln w="12700">
            <a:solidFill>
              <a:srgbClr val="E2E8F0"/>
            </a:solidFill>
            <a:prstDash val="solid"/>
          </a:ln>
        </p:spPr>
        <p:txBody>
          <a:bodyPr/>
          <a:lstStyle/>
          <a:p>
            <a:endParaRPr lang="en-US"/>
          </a:p>
        </p:txBody>
      </p:sp>
      <p:sp>
        <p:nvSpPr>
          <p:cNvPr id="23" name="Text 21"/>
          <p:cNvSpPr/>
          <p:nvPr/>
        </p:nvSpPr>
        <p:spPr>
          <a:xfrm>
            <a:off x="2468880" y="1783080"/>
            <a:ext cx="2011680" cy="475488"/>
          </a:xfrm>
          <a:prstGeom prst="rect">
            <a:avLst/>
          </a:prstGeom>
          <a:noFill/>
          <a:ln/>
        </p:spPr>
        <p:txBody>
          <a:bodyPr wrap="square" lIns="0" tIns="0" rIns="0" bIns="0" rtlCol="0" anchor="ctr"/>
          <a:lstStyle/>
          <a:p>
            <a:pPr marL="0" indent="0" algn="ctr">
              <a:buNone/>
            </a:pPr>
            <a:r>
              <a:rPr lang="en-US" sz="1300">
                <a:solidFill>
                  <a:srgbClr val="334155"/>
                </a:solidFill>
                <a:latin typeface="Calibri" pitchFamily="34" charset="0"/>
                <a:ea typeface="Calibri" pitchFamily="34" charset="-122"/>
                <a:cs typeface="Calibri" pitchFamily="34" charset="-120"/>
              </a:rPr>
              <a:t>52%</a:t>
            </a:r>
            <a:endParaRPr lang="en-US" sz="1300"/>
          </a:p>
        </p:txBody>
      </p:sp>
      <p:sp>
        <p:nvSpPr>
          <p:cNvPr id="24" name="Shape 22"/>
          <p:cNvSpPr/>
          <p:nvPr/>
        </p:nvSpPr>
        <p:spPr>
          <a:xfrm>
            <a:off x="4526280" y="1783080"/>
            <a:ext cx="2011680" cy="475488"/>
          </a:xfrm>
          <a:prstGeom prst="rect">
            <a:avLst/>
          </a:prstGeom>
          <a:solidFill>
            <a:srgbClr val="F0F4F8"/>
          </a:solidFill>
          <a:ln w="12700">
            <a:solidFill>
              <a:srgbClr val="E2E8F0"/>
            </a:solidFill>
            <a:prstDash val="solid"/>
          </a:ln>
        </p:spPr>
        <p:txBody>
          <a:bodyPr/>
          <a:lstStyle/>
          <a:p>
            <a:endParaRPr lang="en-US"/>
          </a:p>
        </p:txBody>
      </p:sp>
      <p:sp>
        <p:nvSpPr>
          <p:cNvPr id="25" name="Text 23"/>
          <p:cNvSpPr/>
          <p:nvPr/>
        </p:nvSpPr>
        <p:spPr>
          <a:xfrm>
            <a:off x="4526280" y="1783080"/>
            <a:ext cx="2011680" cy="475488"/>
          </a:xfrm>
          <a:prstGeom prst="rect">
            <a:avLst/>
          </a:prstGeom>
          <a:noFill/>
          <a:ln/>
        </p:spPr>
        <p:txBody>
          <a:bodyPr wrap="square" lIns="0" tIns="0" rIns="0" bIns="0" rtlCol="0" anchor="ctr"/>
          <a:lstStyle/>
          <a:p>
            <a:pPr marL="0" indent="0" algn="ctr">
              <a:buNone/>
            </a:pPr>
            <a:r>
              <a:rPr lang="en-US" sz="1300">
                <a:solidFill>
                  <a:srgbClr val="334155"/>
                </a:solidFill>
                <a:latin typeface="Calibri" pitchFamily="34" charset="0"/>
                <a:ea typeface="Calibri" pitchFamily="34" charset="-122"/>
                <a:cs typeface="Calibri" pitchFamily="34" charset="-120"/>
              </a:rPr>
              <a:t>93%</a:t>
            </a:r>
            <a:endParaRPr lang="en-US" sz="1300"/>
          </a:p>
        </p:txBody>
      </p:sp>
      <p:sp>
        <p:nvSpPr>
          <p:cNvPr id="26" name="Shape 24"/>
          <p:cNvSpPr/>
          <p:nvPr/>
        </p:nvSpPr>
        <p:spPr>
          <a:xfrm>
            <a:off x="6583680" y="1783080"/>
            <a:ext cx="1645920" cy="475488"/>
          </a:xfrm>
          <a:prstGeom prst="rect">
            <a:avLst/>
          </a:prstGeom>
          <a:solidFill>
            <a:srgbClr val="EBF5FB"/>
          </a:solidFill>
          <a:ln w="12700">
            <a:solidFill>
              <a:srgbClr val="E2E8F0"/>
            </a:solidFill>
            <a:prstDash val="solid"/>
          </a:ln>
        </p:spPr>
        <p:txBody>
          <a:bodyPr/>
          <a:lstStyle/>
          <a:p>
            <a:endParaRPr lang="en-US"/>
          </a:p>
        </p:txBody>
      </p:sp>
      <p:sp>
        <p:nvSpPr>
          <p:cNvPr id="27" name="Text 25"/>
          <p:cNvSpPr/>
          <p:nvPr/>
        </p:nvSpPr>
        <p:spPr>
          <a:xfrm>
            <a:off x="6583680" y="1783080"/>
            <a:ext cx="1645920" cy="475488"/>
          </a:xfrm>
          <a:prstGeom prst="rect">
            <a:avLst/>
          </a:prstGeom>
          <a:noFill/>
          <a:ln/>
        </p:spPr>
        <p:txBody>
          <a:bodyPr wrap="square" lIns="0" tIns="0" rIns="0" bIns="0" rtlCol="0" anchor="ctr"/>
          <a:lstStyle/>
          <a:p>
            <a:pPr marL="0" indent="0" algn="ctr">
              <a:buNone/>
            </a:pPr>
            <a:r>
              <a:rPr lang="en-US" sz="1300" b="1">
                <a:solidFill>
                  <a:srgbClr val="4472C4"/>
                </a:solidFill>
                <a:latin typeface="Calibri" pitchFamily="34" charset="0"/>
                <a:ea typeface="Calibri" pitchFamily="34" charset="-122"/>
                <a:cs typeface="Calibri" pitchFamily="34" charset="-120"/>
              </a:rPr>
              <a:t>RF ✓</a:t>
            </a:r>
            <a:endParaRPr lang="en-US" sz="1300"/>
          </a:p>
        </p:txBody>
      </p:sp>
      <p:sp>
        <p:nvSpPr>
          <p:cNvPr id="28" name="Shape 26"/>
          <p:cNvSpPr/>
          <p:nvPr/>
        </p:nvSpPr>
        <p:spPr>
          <a:xfrm>
            <a:off x="320040" y="2286000"/>
            <a:ext cx="2103120" cy="475488"/>
          </a:xfrm>
          <a:prstGeom prst="rect">
            <a:avLst/>
          </a:prstGeom>
          <a:solidFill>
            <a:srgbClr val="FFFFFF"/>
          </a:solidFill>
          <a:ln w="12700">
            <a:solidFill>
              <a:srgbClr val="E2E8F0"/>
            </a:solidFill>
            <a:prstDash val="solid"/>
          </a:ln>
        </p:spPr>
        <p:txBody>
          <a:bodyPr/>
          <a:lstStyle/>
          <a:p>
            <a:endParaRPr lang="en-US"/>
          </a:p>
        </p:txBody>
      </p:sp>
      <p:sp>
        <p:nvSpPr>
          <p:cNvPr id="29" name="Text 27"/>
          <p:cNvSpPr/>
          <p:nvPr/>
        </p:nvSpPr>
        <p:spPr>
          <a:xfrm>
            <a:off x="320040" y="2286000"/>
            <a:ext cx="2103120" cy="475488"/>
          </a:xfrm>
          <a:prstGeom prst="rect">
            <a:avLst/>
          </a:prstGeom>
          <a:noFill/>
          <a:ln/>
        </p:spPr>
        <p:txBody>
          <a:bodyPr wrap="square" lIns="0" tIns="0" rIns="0" bIns="0" rtlCol="0" anchor="ctr"/>
          <a:lstStyle/>
          <a:p>
            <a:pPr marL="0" indent="0" algn="ctr">
              <a:buNone/>
            </a:pPr>
            <a:r>
              <a:rPr lang="en-US" sz="1300" b="1">
                <a:solidFill>
                  <a:srgbClr val="1E293B"/>
                </a:solidFill>
                <a:latin typeface="Calibri" pitchFamily="34" charset="0"/>
                <a:ea typeface="Calibri" pitchFamily="34" charset="-122"/>
                <a:cs typeface="Calibri" pitchFamily="34" charset="-120"/>
              </a:rPr>
              <a:t>Attrited Recall</a:t>
            </a:r>
            <a:endParaRPr lang="en-US" sz="1300"/>
          </a:p>
        </p:txBody>
      </p:sp>
      <p:sp>
        <p:nvSpPr>
          <p:cNvPr id="30" name="Shape 28"/>
          <p:cNvSpPr/>
          <p:nvPr/>
        </p:nvSpPr>
        <p:spPr>
          <a:xfrm>
            <a:off x="2468880" y="2286000"/>
            <a:ext cx="2011680" cy="475488"/>
          </a:xfrm>
          <a:prstGeom prst="rect">
            <a:avLst/>
          </a:prstGeom>
          <a:solidFill>
            <a:srgbClr val="FFFFFF"/>
          </a:solidFill>
          <a:ln w="12700">
            <a:solidFill>
              <a:srgbClr val="E2E8F0"/>
            </a:solidFill>
            <a:prstDash val="solid"/>
          </a:ln>
        </p:spPr>
        <p:txBody>
          <a:bodyPr/>
          <a:lstStyle/>
          <a:p>
            <a:endParaRPr lang="en-US"/>
          </a:p>
        </p:txBody>
      </p:sp>
      <p:sp>
        <p:nvSpPr>
          <p:cNvPr id="31" name="Text 29"/>
          <p:cNvSpPr/>
          <p:nvPr/>
        </p:nvSpPr>
        <p:spPr>
          <a:xfrm>
            <a:off x="2468880" y="2286000"/>
            <a:ext cx="2011680" cy="475488"/>
          </a:xfrm>
          <a:prstGeom prst="rect">
            <a:avLst/>
          </a:prstGeom>
          <a:noFill/>
          <a:ln/>
        </p:spPr>
        <p:txBody>
          <a:bodyPr wrap="square" lIns="0" tIns="0" rIns="0" bIns="0" rtlCol="0" anchor="ctr"/>
          <a:lstStyle/>
          <a:p>
            <a:pPr marL="0" indent="0" algn="ctr">
              <a:buNone/>
            </a:pPr>
            <a:r>
              <a:rPr lang="en-US" sz="1300">
                <a:solidFill>
                  <a:srgbClr val="334155"/>
                </a:solidFill>
                <a:latin typeface="Calibri" pitchFamily="34" charset="0"/>
                <a:ea typeface="Calibri" pitchFamily="34" charset="-122"/>
                <a:cs typeface="Calibri" pitchFamily="34" charset="-120"/>
              </a:rPr>
              <a:t>81%</a:t>
            </a:r>
            <a:endParaRPr lang="en-US" sz="1300"/>
          </a:p>
        </p:txBody>
      </p:sp>
      <p:sp>
        <p:nvSpPr>
          <p:cNvPr id="32" name="Shape 30"/>
          <p:cNvSpPr/>
          <p:nvPr/>
        </p:nvSpPr>
        <p:spPr>
          <a:xfrm>
            <a:off x="4526280" y="2286000"/>
            <a:ext cx="2011680" cy="475488"/>
          </a:xfrm>
          <a:prstGeom prst="rect">
            <a:avLst/>
          </a:prstGeom>
          <a:solidFill>
            <a:srgbClr val="FFFFFF"/>
          </a:solidFill>
          <a:ln w="12700">
            <a:solidFill>
              <a:srgbClr val="E2E8F0"/>
            </a:solidFill>
            <a:prstDash val="solid"/>
          </a:ln>
        </p:spPr>
        <p:txBody>
          <a:bodyPr/>
          <a:lstStyle/>
          <a:p>
            <a:endParaRPr lang="en-US"/>
          </a:p>
        </p:txBody>
      </p:sp>
      <p:sp>
        <p:nvSpPr>
          <p:cNvPr id="33" name="Text 31"/>
          <p:cNvSpPr/>
          <p:nvPr/>
        </p:nvSpPr>
        <p:spPr>
          <a:xfrm>
            <a:off x="4526280" y="2286000"/>
            <a:ext cx="2011680" cy="475488"/>
          </a:xfrm>
          <a:prstGeom prst="rect">
            <a:avLst/>
          </a:prstGeom>
          <a:noFill/>
          <a:ln/>
        </p:spPr>
        <p:txBody>
          <a:bodyPr wrap="square" lIns="0" tIns="0" rIns="0" bIns="0" rtlCol="0" anchor="ctr"/>
          <a:lstStyle/>
          <a:p>
            <a:pPr marL="0" indent="0" algn="ctr">
              <a:buNone/>
            </a:pPr>
            <a:r>
              <a:rPr lang="en-US" sz="1300">
                <a:solidFill>
                  <a:srgbClr val="334155"/>
                </a:solidFill>
                <a:latin typeface="Calibri" pitchFamily="34" charset="0"/>
                <a:ea typeface="Calibri" pitchFamily="34" charset="-122"/>
                <a:cs typeface="Calibri" pitchFamily="34" charset="-120"/>
              </a:rPr>
              <a:t>77%</a:t>
            </a:r>
            <a:endParaRPr lang="en-US" sz="1300"/>
          </a:p>
        </p:txBody>
      </p:sp>
      <p:sp>
        <p:nvSpPr>
          <p:cNvPr id="34" name="Shape 32"/>
          <p:cNvSpPr/>
          <p:nvPr/>
        </p:nvSpPr>
        <p:spPr>
          <a:xfrm>
            <a:off x="6583680" y="2286000"/>
            <a:ext cx="1645920" cy="475488"/>
          </a:xfrm>
          <a:prstGeom prst="rect">
            <a:avLst/>
          </a:prstGeom>
          <a:solidFill>
            <a:srgbClr val="EBF5FB"/>
          </a:solidFill>
          <a:ln w="12700">
            <a:solidFill>
              <a:srgbClr val="E2E8F0"/>
            </a:solidFill>
            <a:prstDash val="solid"/>
          </a:ln>
        </p:spPr>
        <p:txBody>
          <a:bodyPr/>
          <a:lstStyle/>
          <a:p>
            <a:endParaRPr lang="en-US"/>
          </a:p>
        </p:txBody>
      </p:sp>
      <p:sp>
        <p:nvSpPr>
          <p:cNvPr id="35" name="Text 33"/>
          <p:cNvSpPr/>
          <p:nvPr/>
        </p:nvSpPr>
        <p:spPr>
          <a:xfrm>
            <a:off x="6583680" y="2286000"/>
            <a:ext cx="1645920" cy="475488"/>
          </a:xfrm>
          <a:prstGeom prst="rect">
            <a:avLst/>
          </a:prstGeom>
          <a:noFill/>
          <a:ln/>
        </p:spPr>
        <p:txBody>
          <a:bodyPr wrap="square" lIns="0" tIns="0" rIns="0" bIns="0" rtlCol="0" anchor="ctr"/>
          <a:lstStyle/>
          <a:p>
            <a:pPr marL="0" indent="0" algn="ctr">
              <a:buNone/>
            </a:pPr>
            <a:r>
              <a:rPr lang="en-US" sz="1300" b="1">
                <a:solidFill>
                  <a:srgbClr val="4472C4"/>
                </a:solidFill>
                <a:latin typeface="Calibri" pitchFamily="34" charset="0"/>
                <a:ea typeface="Calibri" pitchFamily="34" charset="-122"/>
                <a:cs typeface="Calibri" pitchFamily="34" charset="-120"/>
              </a:rPr>
              <a:t>LR ✓</a:t>
            </a:r>
            <a:endParaRPr lang="en-US" sz="1300"/>
          </a:p>
        </p:txBody>
      </p:sp>
      <p:sp>
        <p:nvSpPr>
          <p:cNvPr id="36" name="Shape 34"/>
          <p:cNvSpPr/>
          <p:nvPr/>
        </p:nvSpPr>
        <p:spPr>
          <a:xfrm>
            <a:off x="320040" y="2788920"/>
            <a:ext cx="2103120" cy="475488"/>
          </a:xfrm>
          <a:prstGeom prst="rect">
            <a:avLst/>
          </a:prstGeom>
          <a:solidFill>
            <a:srgbClr val="F0F4F8"/>
          </a:solidFill>
          <a:ln w="12700">
            <a:solidFill>
              <a:srgbClr val="E2E8F0"/>
            </a:solidFill>
            <a:prstDash val="solid"/>
          </a:ln>
        </p:spPr>
        <p:txBody>
          <a:bodyPr/>
          <a:lstStyle/>
          <a:p>
            <a:endParaRPr lang="en-US"/>
          </a:p>
        </p:txBody>
      </p:sp>
      <p:sp>
        <p:nvSpPr>
          <p:cNvPr id="37" name="Text 35"/>
          <p:cNvSpPr/>
          <p:nvPr/>
        </p:nvSpPr>
        <p:spPr>
          <a:xfrm>
            <a:off x="320040" y="2788920"/>
            <a:ext cx="2103120" cy="475488"/>
          </a:xfrm>
          <a:prstGeom prst="rect">
            <a:avLst/>
          </a:prstGeom>
          <a:noFill/>
          <a:ln/>
        </p:spPr>
        <p:txBody>
          <a:bodyPr wrap="square" lIns="0" tIns="0" rIns="0" bIns="0" rtlCol="0" anchor="ctr"/>
          <a:lstStyle/>
          <a:p>
            <a:pPr marL="0" indent="0" algn="ctr">
              <a:buNone/>
            </a:pPr>
            <a:r>
              <a:rPr lang="en-US" sz="1300" b="1">
                <a:solidFill>
                  <a:srgbClr val="1E293B"/>
                </a:solidFill>
                <a:latin typeface="Calibri" pitchFamily="34" charset="0"/>
                <a:ea typeface="Calibri" pitchFamily="34" charset="-122"/>
                <a:cs typeface="Calibri" pitchFamily="34" charset="-120"/>
              </a:rPr>
              <a:t>Attrited F1-Score</a:t>
            </a:r>
            <a:endParaRPr lang="en-US" sz="1300"/>
          </a:p>
        </p:txBody>
      </p:sp>
      <p:sp>
        <p:nvSpPr>
          <p:cNvPr id="38" name="Shape 36"/>
          <p:cNvSpPr/>
          <p:nvPr/>
        </p:nvSpPr>
        <p:spPr>
          <a:xfrm>
            <a:off x="2468880" y="2788920"/>
            <a:ext cx="2011680" cy="475488"/>
          </a:xfrm>
          <a:prstGeom prst="rect">
            <a:avLst/>
          </a:prstGeom>
          <a:solidFill>
            <a:srgbClr val="F0F4F8"/>
          </a:solidFill>
          <a:ln w="12700">
            <a:solidFill>
              <a:srgbClr val="E2E8F0"/>
            </a:solidFill>
            <a:prstDash val="solid"/>
          </a:ln>
        </p:spPr>
        <p:txBody>
          <a:bodyPr/>
          <a:lstStyle/>
          <a:p>
            <a:endParaRPr lang="en-US"/>
          </a:p>
        </p:txBody>
      </p:sp>
      <p:sp>
        <p:nvSpPr>
          <p:cNvPr id="39" name="Text 37"/>
          <p:cNvSpPr/>
          <p:nvPr/>
        </p:nvSpPr>
        <p:spPr>
          <a:xfrm>
            <a:off x="2468880" y="2788920"/>
            <a:ext cx="2011680" cy="475488"/>
          </a:xfrm>
          <a:prstGeom prst="rect">
            <a:avLst/>
          </a:prstGeom>
          <a:noFill/>
          <a:ln/>
        </p:spPr>
        <p:txBody>
          <a:bodyPr wrap="square" lIns="0" tIns="0" rIns="0" bIns="0" rtlCol="0" anchor="ctr"/>
          <a:lstStyle/>
          <a:p>
            <a:pPr marL="0" indent="0" algn="ctr">
              <a:buNone/>
            </a:pPr>
            <a:r>
              <a:rPr lang="en-US" sz="1300">
                <a:solidFill>
                  <a:srgbClr val="334155"/>
                </a:solidFill>
                <a:latin typeface="Calibri" pitchFamily="34" charset="0"/>
                <a:ea typeface="Calibri" pitchFamily="34" charset="-122"/>
                <a:cs typeface="Calibri" pitchFamily="34" charset="-120"/>
              </a:rPr>
              <a:t>63%</a:t>
            </a:r>
            <a:endParaRPr lang="en-US" sz="1300"/>
          </a:p>
        </p:txBody>
      </p:sp>
      <p:sp>
        <p:nvSpPr>
          <p:cNvPr id="40" name="Shape 38"/>
          <p:cNvSpPr/>
          <p:nvPr/>
        </p:nvSpPr>
        <p:spPr>
          <a:xfrm>
            <a:off x="4526280" y="2788920"/>
            <a:ext cx="2011680" cy="475488"/>
          </a:xfrm>
          <a:prstGeom prst="rect">
            <a:avLst/>
          </a:prstGeom>
          <a:solidFill>
            <a:srgbClr val="F0F4F8"/>
          </a:solidFill>
          <a:ln w="12700">
            <a:solidFill>
              <a:srgbClr val="E2E8F0"/>
            </a:solidFill>
            <a:prstDash val="solid"/>
          </a:ln>
        </p:spPr>
        <p:txBody>
          <a:bodyPr/>
          <a:lstStyle/>
          <a:p>
            <a:endParaRPr lang="en-US"/>
          </a:p>
        </p:txBody>
      </p:sp>
      <p:sp>
        <p:nvSpPr>
          <p:cNvPr id="41" name="Text 39"/>
          <p:cNvSpPr/>
          <p:nvPr/>
        </p:nvSpPr>
        <p:spPr>
          <a:xfrm>
            <a:off x="4526280" y="2788920"/>
            <a:ext cx="2011680" cy="475488"/>
          </a:xfrm>
          <a:prstGeom prst="rect">
            <a:avLst/>
          </a:prstGeom>
          <a:noFill/>
          <a:ln/>
        </p:spPr>
        <p:txBody>
          <a:bodyPr wrap="square" lIns="0" tIns="0" rIns="0" bIns="0" rtlCol="0" anchor="ctr"/>
          <a:lstStyle/>
          <a:p>
            <a:pPr marL="0" indent="0" algn="ctr">
              <a:buNone/>
            </a:pPr>
            <a:r>
              <a:rPr lang="en-US" sz="1300">
                <a:solidFill>
                  <a:srgbClr val="334155"/>
                </a:solidFill>
                <a:latin typeface="Calibri" pitchFamily="34" charset="0"/>
                <a:ea typeface="Calibri" pitchFamily="34" charset="-122"/>
                <a:cs typeface="Calibri" pitchFamily="34" charset="-120"/>
              </a:rPr>
              <a:t>84%</a:t>
            </a:r>
            <a:endParaRPr lang="en-US" sz="1300"/>
          </a:p>
        </p:txBody>
      </p:sp>
      <p:sp>
        <p:nvSpPr>
          <p:cNvPr id="42" name="Shape 40"/>
          <p:cNvSpPr/>
          <p:nvPr/>
        </p:nvSpPr>
        <p:spPr>
          <a:xfrm>
            <a:off x="6583680" y="2788920"/>
            <a:ext cx="1645920" cy="475488"/>
          </a:xfrm>
          <a:prstGeom prst="rect">
            <a:avLst/>
          </a:prstGeom>
          <a:solidFill>
            <a:srgbClr val="EBF5FB"/>
          </a:solidFill>
          <a:ln w="12700">
            <a:solidFill>
              <a:srgbClr val="E2E8F0"/>
            </a:solidFill>
            <a:prstDash val="solid"/>
          </a:ln>
        </p:spPr>
        <p:txBody>
          <a:bodyPr/>
          <a:lstStyle/>
          <a:p>
            <a:endParaRPr lang="en-US"/>
          </a:p>
        </p:txBody>
      </p:sp>
      <p:sp>
        <p:nvSpPr>
          <p:cNvPr id="43" name="Text 41"/>
          <p:cNvSpPr/>
          <p:nvPr/>
        </p:nvSpPr>
        <p:spPr>
          <a:xfrm>
            <a:off x="6583680" y="2788920"/>
            <a:ext cx="1645920" cy="475488"/>
          </a:xfrm>
          <a:prstGeom prst="rect">
            <a:avLst/>
          </a:prstGeom>
          <a:noFill/>
          <a:ln/>
        </p:spPr>
        <p:txBody>
          <a:bodyPr wrap="square" lIns="0" tIns="0" rIns="0" bIns="0" rtlCol="0" anchor="ctr"/>
          <a:lstStyle/>
          <a:p>
            <a:pPr marL="0" indent="0" algn="ctr">
              <a:buNone/>
            </a:pPr>
            <a:r>
              <a:rPr lang="en-US" sz="1300" b="1">
                <a:solidFill>
                  <a:srgbClr val="4472C4"/>
                </a:solidFill>
                <a:latin typeface="Calibri" pitchFamily="34" charset="0"/>
                <a:ea typeface="Calibri" pitchFamily="34" charset="-122"/>
                <a:cs typeface="Calibri" pitchFamily="34" charset="-120"/>
              </a:rPr>
              <a:t>RF ✓</a:t>
            </a:r>
            <a:endParaRPr lang="en-US" sz="1300"/>
          </a:p>
        </p:txBody>
      </p:sp>
      <p:sp>
        <p:nvSpPr>
          <p:cNvPr id="44" name="Shape 42"/>
          <p:cNvSpPr/>
          <p:nvPr/>
        </p:nvSpPr>
        <p:spPr>
          <a:xfrm>
            <a:off x="320040" y="3401568"/>
            <a:ext cx="2011680" cy="914400"/>
          </a:xfrm>
          <a:prstGeom prst="rect">
            <a:avLst/>
          </a:prstGeom>
          <a:solidFill>
            <a:srgbClr val="0F1F3D"/>
          </a:solidFill>
          <a:ln w="12700">
            <a:solidFill>
              <a:srgbClr val="0F1F3D"/>
            </a:solidFill>
            <a:prstDash val="solid"/>
          </a:ln>
          <a:effectLst>
            <a:outerShdw blurRad="101600" dist="38100" dir="8100000" algn="bl" rotWithShape="0">
              <a:srgbClr val="000000">
                <a:alpha val="12000"/>
              </a:srgbClr>
            </a:outerShdw>
          </a:effectLst>
        </p:spPr>
        <p:txBody>
          <a:bodyPr/>
          <a:lstStyle/>
          <a:p>
            <a:endParaRPr lang="en-US"/>
          </a:p>
        </p:txBody>
      </p:sp>
      <p:sp>
        <p:nvSpPr>
          <p:cNvPr id="45" name="Text 43"/>
          <p:cNvSpPr/>
          <p:nvPr/>
        </p:nvSpPr>
        <p:spPr>
          <a:xfrm>
            <a:off x="320040" y="3438144"/>
            <a:ext cx="2011680" cy="502920"/>
          </a:xfrm>
          <a:prstGeom prst="rect">
            <a:avLst/>
          </a:prstGeom>
          <a:noFill/>
          <a:ln/>
        </p:spPr>
        <p:txBody>
          <a:bodyPr wrap="square" lIns="0" tIns="0" rIns="0" bIns="0" rtlCol="0" anchor="ctr"/>
          <a:lstStyle/>
          <a:p>
            <a:pPr marL="0" indent="0" algn="ctr">
              <a:buNone/>
            </a:pPr>
            <a:r>
              <a:rPr lang="en-US" sz="2400" b="1">
                <a:solidFill>
                  <a:srgbClr val="7BA7D4"/>
                </a:solidFill>
                <a:latin typeface="Calibri" pitchFamily="34" charset="0"/>
                <a:ea typeface="Calibri" pitchFamily="34" charset="-122"/>
                <a:cs typeface="Calibri" pitchFamily="34" charset="-120"/>
              </a:rPr>
              <a:t>95%</a:t>
            </a:r>
            <a:endParaRPr lang="en-US" sz="2400"/>
          </a:p>
        </p:txBody>
      </p:sp>
      <p:sp>
        <p:nvSpPr>
          <p:cNvPr id="46" name="Text 44"/>
          <p:cNvSpPr/>
          <p:nvPr/>
        </p:nvSpPr>
        <p:spPr>
          <a:xfrm>
            <a:off x="320040" y="3886200"/>
            <a:ext cx="2011680" cy="365760"/>
          </a:xfrm>
          <a:prstGeom prst="rect">
            <a:avLst/>
          </a:prstGeom>
          <a:noFill/>
          <a:ln/>
        </p:spPr>
        <p:txBody>
          <a:bodyPr wrap="square" lIns="0" tIns="0" rIns="0" bIns="0" rtlCol="0" anchor="ctr"/>
          <a:lstStyle/>
          <a:p>
            <a:pPr marL="0" indent="0" algn="ctr">
              <a:buNone/>
            </a:pPr>
            <a:r>
              <a:rPr lang="en-US" sz="950">
                <a:solidFill>
                  <a:srgbClr val="E2E8F0"/>
                </a:solidFill>
                <a:latin typeface="Calibri" pitchFamily="34" charset="0"/>
                <a:ea typeface="Calibri" pitchFamily="34" charset="-122"/>
                <a:cs typeface="Calibri" pitchFamily="34" charset="-120"/>
              </a:rPr>
              <a:t>Random Forest</a:t>
            </a:r>
            <a:endParaRPr lang="en-US" sz="950"/>
          </a:p>
          <a:p>
            <a:pPr marL="0" indent="0" algn="ctr">
              <a:buNone/>
            </a:pPr>
            <a:r>
              <a:rPr lang="en-US" sz="950">
                <a:solidFill>
                  <a:srgbClr val="E2E8F0"/>
                </a:solidFill>
                <a:latin typeface="Calibri" pitchFamily="34" charset="0"/>
                <a:ea typeface="Calibri" pitchFamily="34" charset="-122"/>
                <a:cs typeface="Calibri" pitchFamily="34" charset="-120"/>
              </a:rPr>
              <a:t>Accuracy</a:t>
            </a:r>
            <a:endParaRPr lang="en-US" sz="950"/>
          </a:p>
        </p:txBody>
      </p:sp>
      <p:sp>
        <p:nvSpPr>
          <p:cNvPr id="47" name="Shape 45"/>
          <p:cNvSpPr/>
          <p:nvPr/>
        </p:nvSpPr>
        <p:spPr>
          <a:xfrm>
            <a:off x="2468880" y="3401568"/>
            <a:ext cx="2011680" cy="914400"/>
          </a:xfrm>
          <a:prstGeom prst="rect">
            <a:avLst/>
          </a:prstGeom>
          <a:solidFill>
            <a:srgbClr val="4472C4"/>
          </a:solidFill>
          <a:ln w="12700">
            <a:solidFill>
              <a:srgbClr val="4472C4"/>
            </a:solidFill>
            <a:prstDash val="solid"/>
          </a:ln>
          <a:effectLst>
            <a:outerShdw blurRad="101600" dist="38100" dir="8100000" algn="bl" rotWithShape="0">
              <a:srgbClr val="000000">
                <a:alpha val="12000"/>
              </a:srgbClr>
            </a:outerShdw>
          </a:effectLst>
        </p:spPr>
        <p:txBody>
          <a:bodyPr/>
          <a:lstStyle/>
          <a:p>
            <a:endParaRPr lang="en-US"/>
          </a:p>
        </p:txBody>
      </p:sp>
      <p:sp>
        <p:nvSpPr>
          <p:cNvPr id="48" name="Text 46"/>
          <p:cNvSpPr/>
          <p:nvPr/>
        </p:nvSpPr>
        <p:spPr>
          <a:xfrm>
            <a:off x="2468880" y="3438144"/>
            <a:ext cx="2011680" cy="502920"/>
          </a:xfrm>
          <a:prstGeom prst="rect">
            <a:avLst/>
          </a:prstGeom>
          <a:noFill/>
          <a:ln/>
        </p:spPr>
        <p:txBody>
          <a:bodyPr wrap="square" lIns="0" tIns="0" rIns="0" bIns="0" rtlCol="0" anchor="ctr"/>
          <a:lstStyle/>
          <a:p>
            <a:pPr marL="0" indent="0" algn="ctr">
              <a:buNone/>
            </a:pPr>
            <a:r>
              <a:rPr lang="en-US" sz="2400" b="1">
                <a:solidFill>
                  <a:srgbClr val="7BA7D4"/>
                </a:solidFill>
                <a:latin typeface="Calibri" pitchFamily="34" charset="0"/>
                <a:ea typeface="Calibri" pitchFamily="34" charset="-122"/>
                <a:cs typeface="Calibri" pitchFamily="34" charset="-120"/>
              </a:rPr>
              <a:t>93%</a:t>
            </a:r>
            <a:endParaRPr lang="en-US" sz="2400"/>
          </a:p>
        </p:txBody>
      </p:sp>
      <p:sp>
        <p:nvSpPr>
          <p:cNvPr id="49" name="Text 47"/>
          <p:cNvSpPr/>
          <p:nvPr/>
        </p:nvSpPr>
        <p:spPr>
          <a:xfrm>
            <a:off x="2468880" y="3886200"/>
            <a:ext cx="2011680" cy="365760"/>
          </a:xfrm>
          <a:prstGeom prst="rect">
            <a:avLst/>
          </a:prstGeom>
          <a:noFill/>
          <a:ln/>
        </p:spPr>
        <p:txBody>
          <a:bodyPr wrap="square" lIns="0" tIns="0" rIns="0" bIns="0" rtlCol="0" anchor="ctr"/>
          <a:lstStyle/>
          <a:p>
            <a:pPr marL="0" indent="0" algn="ctr">
              <a:buNone/>
            </a:pPr>
            <a:r>
              <a:rPr lang="en-US" sz="950">
                <a:solidFill>
                  <a:srgbClr val="E2E8F0"/>
                </a:solidFill>
                <a:latin typeface="Calibri" pitchFamily="34" charset="0"/>
                <a:ea typeface="Calibri" pitchFamily="34" charset="-122"/>
                <a:cs typeface="Calibri" pitchFamily="34" charset="-120"/>
              </a:rPr>
              <a:t>Attrited Precision</a:t>
            </a:r>
            <a:endParaRPr lang="en-US" sz="950"/>
          </a:p>
          <a:p>
            <a:pPr marL="0" indent="0" algn="ctr">
              <a:buNone/>
            </a:pPr>
            <a:r>
              <a:rPr lang="en-US" sz="950">
                <a:solidFill>
                  <a:srgbClr val="E2E8F0"/>
                </a:solidFill>
                <a:latin typeface="Calibri" pitchFamily="34" charset="0"/>
                <a:ea typeface="Calibri" pitchFamily="34" charset="-122"/>
                <a:cs typeface="Calibri" pitchFamily="34" charset="-120"/>
              </a:rPr>
              <a:t>(RF)</a:t>
            </a:r>
            <a:endParaRPr lang="en-US" sz="950"/>
          </a:p>
        </p:txBody>
      </p:sp>
      <p:sp>
        <p:nvSpPr>
          <p:cNvPr id="50" name="Shape 48"/>
          <p:cNvSpPr/>
          <p:nvPr/>
        </p:nvSpPr>
        <p:spPr>
          <a:xfrm>
            <a:off x="4617720" y="3406281"/>
            <a:ext cx="2011680" cy="914400"/>
          </a:xfrm>
          <a:prstGeom prst="rect">
            <a:avLst/>
          </a:prstGeom>
          <a:solidFill>
            <a:srgbClr val="7BA7D4"/>
          </a:solidFill>
          <a:ln w="12700">
            <a:solidFill>
              <a:srgbClr val="7BA7D4"/>
            </a:solidFill>
            <a:prstDash val="solid"/>
          </a:ln>
          <a:effectLst>
            <a:outerShdw blurRad="101600" dist="38100" dir="8100000" algn="bl" rotWithShape="0">
              <a:srgbClr val="000000">
                <a:alpha val="12000"/>
              </a:srgbClr>
            </a:outerShdw>
          </a:effectLst>
        </p:spPr>
        <p:txBody>
          <a:bodyPr/>
          <a:lstStyle/>
          <a:p>
            <a:endParaRPr lang="en-US"/>
          </a:p>
        </p:txBody>
      </p:sp>
      <p:sp>
        <p:nvSpPr>
          <p:cNvPr id="51" name="Text 49"/>
          <p:cNvSpPr/>
          <p:nvPr/>
        </p:nvSpPr>
        <p:spPr>
          <a:xfrm>
            <a:off x="4617720" y="3438144"/>
            <a:ext cx="2011680" cy="502920"/>
          </a:xfrm>
          <a:prstGeom prst="rect">
            <a:avLst/>
          </a:prstGeom>
          <a:noFill/>
          <a:ln/>
        </p:spPr>
        <p:txBody>
          <a:bodyPr wrap="square" lIns="0" tIns="0" rIns="0" bIns="0" rtlCol="0" anchor="ctr"/>
          <a:lstStyle/>
          <a:p>
            <a:pPr marL="0" indent="0" algn="ctr">
              <a:buNone/>
            </a:pPr>
            <a:r>
              <a:rPr lang="en-US" sz="2400" b="1">
                <a:solidFill>
                  <a:srgbClr val="0070C0"/>
                </a:solidFill>
                <a:latin typeface="Calibri" pitchFamily="34" charset="0"/>
                <a:ea typeface="Calibri" pitchFamily="34" charset="-122"/>
                <a:cs typeface="Calibri" pitchFamily="34" charset="-120"/>
              </a:rPr>
              <a:t>81%</a:t>
            </a:r>
            <a:endParaRPr lang="en-US" sz="2400">
              <a:solidFill>
                <a:srgbClr val="0070C0"/>
              </a:solidFill>
            </a:endParaRPr>
          </a:p>
        </p:txBody>
      </p:sp>
      <p:sp>
        <p:nvSpPr>
          <p:cNvPr id="52" name="Text 50"/>
          <p:cNvSpPr/>
          <p:nvPr/>
        </p:nvSpPr>
        <p:spPr>
          <a:xfrm>
            <a:off x="4617720" y="3886200"/>
            <a:ext cx="2011680" cy="365760"/>
          </a:xfrm>
          <a:prstGeom prst="rect">
            <a:avLst/>
          </a:prstGeom>
          <a:noFill/>
          <a:ln/>
        </p:spPr>
        <p:txBody>
          <a:bodyPr wrap="square" lIns="0" tIns="0" rIns="0" bIns="0" rtlCol="0" anchor="ctr"/>
          <a:lstStyle/>
          <a:p>
            <a:pPr marL="0" indent="0" algn="ctr">
              <a:buNone/>
            </a:pPr>
            <a:r>
              <a:rPr lang="en-US" sz="950">
                <a:solidFill>
                  <a:srgbClr val="E2E8F0"/>
                </a:solidFill>
                <a:latin typeface="Calibri" pitchFamily="34" charset="0"/>
                <a:ea typeface="Calibri" pitchFamily="34" charset="-122"/>
                <a:cs typeface="Calibri" pitchFamily="34" charset="-120"/>
              </a:rPr>
              <a:t>Attrited Recall</a:t>
            </a:r>
            <a:endParaRPr lang="en-US" sz="950"/>
          </a:p>
          <a:p>
            <a:pPr marL="0" indent="0" algn="ctr">
              <a:buNone/>
            </a:pPr>
            <a:r>
              <a:rPr lang="en-US" sz="950">
                <a:solidFill>
                  <a:srgbClr val="E2E8F0"/>
                </a:solidFill>
                <a:latin typeface="Calibri" pitchFamily="34" charset="0"/>
                <a:ea typeface="Calibri" pitchFamily="34" charset="-122"/>
                <a:cs typeface="Calibri" pitchFamily="34" charset="-120"/>
              </a:rPr>
              <a:t>(LR)</a:t>
            </a:r>
            <a:endParaRPr lang="en-US" sz="950"/>
          </a:p>
        </p:txBody>
      </p:sp>
      <p:sp>
        <p:nvSpPr>
          <p:cNvPr id="53" name="Shape 51"/>
          <p:cNvSpPr/>
          <p:nvPr/>
        </p:nvSpPr>
        <p:spPr>
          <a:xfrm>
            <a:off x="6766560" y="3401568"/>
            <a:ext cx="2011680" cy="914400"/>
          </a:xfrm>
          <a:prstGeom prst="rect">
            <a:avLst/>
          </a:prstGeom>
          <a:solidFill>
            <a:srgbClr val="0F1F3D"/>
          </a:solidFill>
          <a:ln w="12700">
            <a:solidFill>
              <a:srgbClr val="0F1F3D"/>
            </a:solidFill>
            <a:prstDash val="solid"/>
          </a:ln>
          <a:effectLst>
            <a:outerShdw blurRad="101600" dist="38100" dir="8100000" algn="bl" rotWithShape="0">
              <a:srgbClr val="000000">
                <a:alpha val="12000"/>
              </a:srgbClr>
            </a:outerShdw>
          </a:effectLst>
        </p:spPr>
        <p:txBody>
          <a:bodyPr/>
          <a:lstStyle/>
          <a:p>
            <a:endParaRPr lang="en-US"/>
          </a:p>
        </p:txBody>
      </p:sp>
      <p:sp>
        <p:nvSpPr>
          <p:cNvPr id="54" name="Text 52"/>
          <p:cNvSpPr/>
          <p:nvPr/>
        </p:nvSpPr>
        <p:spPr>
          <a:xfrm>
            <a:off x="6766560" y="3438144"/>
            <a:ext cx="2011680" cy="502920"/>
          </a:xfrm>
          <a:prstGeom prst="rect">
            <a:avLst/>
          </a:prstGeom>
          <a:noFill/>
          <a:ln/>
        </p:spPr>
        <p:txBody>
          <a:bodyPr wrap="square" lIns="0" tIns="0" rIns="0" bIns="0" rtlCol="0" anchor="ctr"/>
          <a:lstStyle/>
          <a:p>
            <a:pPr marL="0" indent="0" algn="ctr">
              <a:buNone/>
            </a:pPr>
            <a:r>
              <a:rPr lang="en-US" sz="1600" b="1">
                <a:solidFill>
                  <a:srgbClr val="7BA7D4"/>
                </a:solidFill>
                <a:latin typeface="Calibri" pitchFamily="34" charset="0"/>
                <a:ea typeface="Calibri" pitchFamily="34" charset="-122"/>
                <a:cs typeface="Calibri" pitchFamily="34" charset="-120"/>
              </a:rPr>
              <a:t>RF wins</a:t>
            </a:r>
            <a:endParaRPr lang="en-US" sz="1600"/>
          </a:p>
          <a:p>
            <a:pPr marL="0" indent="0" algn="ctr">
              <a:buNone/>
            </a:pPr>
            <a:r>
              <a:rPr lang="en-US" sz="1600" b="1">
                <a:solidFill>
                  <a:srgbClr val="7BA7D4"/>
                </a:solidFill>
                <a:latin typeface="Calibri" pitchFamily="34" charset="0"/>
                <a:ea typeface="Calibri" pitchFamily="34" charset="-122"/>
                <a:cs typeface="Calibri" pitchFamily="34" charset="-120"/>
              </a:rPr>
              <a:t>3 of 4</a:t>
            </a:r>
            <a:endParaRPr lang="en-US" sz="1600"/>
          </a:p>
        </p:txBody>
      </p:sp>
      <p:sp>
        <p:nvSpPr>
          <p:cNvPr id="55" name="Text 53"/>
          <p:cNvSpPr/>
          <p:nvPr/>
        </p:nvSpPr>
        <p:spPr>
          <a:xfrm>
            <a:off x="6766560" y="3886200"/>
            <a:ext cx="2011680" cy="365760"/>
          </a:xfrm>
          <a:prstGeom prst="rect">
            <a:avLst/>
          </a:prstGeom>
          <a:noFill/>
          <a:ln/>
        </p:spPr>
        <p:txBody>
          <a:bodyPr wrap="square" lIns="0" tIns="0" rIns="0" bIns="0" rtlCol="0" anchor="ctr"/>
          <a:lstStyle/>
          <a:p>
            <a:pPr marL="0" indent="0" algn="ctr">
              <a:buNone/>
            </a:pPr>
            <a:r>
              <a:rPr lang="en-US" sz="950">
                <a:solidFill>
                  <a:srgbClr val="E2E8F0"/>
                </a:solidFill>
                <a:latin typeface="Calibri" pitchFamily="34" charset="0"/>
                <a:ea typeface="Calibri" pitchFamily="34" charset="-122"/>
                <a:cs typeface="Calibri" pitchFamily="34" charset="-120"/>
              </a:rPr>
              <a:t>metrics overall</a:t>
            </a:r>
            <a:endParaRPr lang="en-US" sz="950"/>
          </a:p>
        </p:txBody>
      </p:sp>
      <p:sp>
        <p:nvSpPr>
          <p:cNvPr id="56" name="Shape 54"/>
          <p:cNvSpPr/>
          <p:nvPr/>
        </p:nvSpPr>
        <p:spPr>
          <a:xfrm>
            <a:off x="255069" y="4407408"/>
            <a:ext cx="8568891" cy="502920"/>
          </a:xfrm>
          <a:prstGeom prst="rect">
            <a:avLst/>
          </a:prstGeom>
          <a:solidFill>
            <a:srgbClr val="4472C4">
              <a:alpha val="12000"/>
            </a:srgbClr>
          </a:solidFill>
          <a:ln w="12700">
            <a:solidFill>
              <a:srgbClr val="4472C4"/>
            </a:solidFill>
            <a:prstDash val="solid"/>
          </a:ln>
        </p:spPr>
        <p:txBody>
          <a:bodyPr/>
          <a:lstStyle/>
          <a:p>
            <a:endParaRPr lang="en-US"/>
          </a:p>
        </p:txBody>
      </p:sp>
      <p:sp>
        <p:nvSpPr>
          <p:cNvPr id="57" name="Text 55"/>
          <p:cNvSpPr/>
          <p:nvPr/>
        </p:nvSpPr>
        <p:spPr>
          <a:xfrm>
            <a:off x="457200" y="4480560"/>
            <a:ext cx="8229600" cy="338328"/>
          </a:xfrm>
          <a:prstGeom prst="rect">
            <a:avLst/>
          </a:prstGeom>
          <a:noFill/>
          <a:ln/>
        </p:spPr>
        <p:txBody>
          <a:bodyPr wrap="square" lIns="0" tIns="0" rIns="0" bIns="0" rtlCol="0" anchor="ctr"/>
          <a:lstStyle/>
          <a:p>
            <a:r>
              <a:rPr lang="en-US" sz="1000" i="1">
                <a:solidFill>
                  <a:srgbClr val="1E293B"/>
                </a:solidFill>
                <a:latin typeface="Calibri" pitchFamily="34" charset="0"/>
                <a:ea typeface="Calibri" pitchFamily="34" charset="-122"/>
                <a:cs typeface="Calibri" pitchFamily="34" charset="-120"/>
              </a:rPr>
              <a:t>Note: LR achieves higher recall (81% vs 77%) — it catches more actual churners but at the cost of more false alarms. RF's precision advantage (93% vs 52%) makes it preferable for targeted retention campaigns. </a:t>
            </a:r>
            <a:r>
              <a:rPr lang="en-US" sz="1000"/>
              <a:t>5-fold cross-validation confirms model stability — RF achieves 95.5% accuracy (±0.6%) and 84.8% F1 (±2.1%)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F1F3D"/>
          </a:solidFill>
          <a:ln w="12700">
            <a:solidFill>
              <a:srgbClr val="0F1F3D"/>
            </a:solidFill>
            <a:prstDash val="solid"/>
          </a:ln>
        </p:spPr>
        <p:txBody>
          <a:bodyPr/>
          <a:lstStyle/>
          <a:p>
            <a:endParaRPr lang="en-US"/>
          </a:p>
        </p:txBody>
      </p:sp>
      <p:sp>
        <p:nvSpPr>
          <p:cNvPr id="3" name="Text 1"/>
          <p:cNvSpPr/>
          <p:nvPr/>
        </p:nvSpPr>
        <p:spPr>
          <a:xfrm>
            <a:off x="411480" y="91440"/>
            <a:ext cx="8229600" cy="54864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Potential Usage &amp; Applications</a:t>
            </a:r>
            <a:endParaRPr lang="en-US" sz="2200"/>
          </a:p>
        </p:txBody>
      </p:sp>
      <p:sp>
        <p:nvSpPr>
          <p:cNvPr id="4" name="Shape 2"/>
          <p:cNvSpPr/>
          <p:nvPr/>
        </p:nvSpPr>
        <p:spPr>
          <a:xfrm>
            <a:off x="320040" y="822960"/>
            <a:ext cx="8503920" cy="76809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438912" y="978408"/>
            <a:ext cx="502920" cy="502920"/>
          </a:xfrm>
          <a:prstGeom prst="ellipse">
            <a:avLst/>
          </a:prstGeom>
          <a:solidFill>
            <a:srgbClr val="0F1F3D"/>
          </a:solidFill>
          <a:ln w="12700">
            <a:solidFill>
              <a:srgbClr val="0F1F3D"/>
            </a:solidFill>
            <a:prstDash val="solid"/>
          </a:ln>
        </p:spPr>
        <p:txBody>
          <a:bodyPr/>
          <a:lstStyle/>
          <a:p>
            <a:endParaRPr lang="en-US"/>
          </a:p>
        </p:txBody>
      </p:sp>
      <p:sp>
        <p:nvSpPr>
          <p:cNvPr id="6" name="Text 4"/>
          <p:cNvSpPr/>
          <p:nvPr/>
        </p:nvSpPr>
        <p:spPr>
          <a:xfrm>
            <a:off x="438912" y="978408"/>
            <a:ext cx="502920" cy="502920"/>
          </a:xfrm>
          <a:prstGeom prst="rect">
            <a:avLst/>
          </a:prstGeom>
          <a:noFill/>
          <a:ln/>
        </p:spPr>
        <p:txBody>
          <a:bodyPr wrap="square" lIns="0" tIns="0" rIns="0" bIns="0" rtlCol="0" anchor="ctr"/>
          <a:lstStyle/>
          <a:p>
            <a:pPr marL="0" indent="0" algn="ctr">
              <a:buNone/>
            </a:pPr>
            <a:r>
              <a:rPr lang="en-US" sz="1600" b="1">
                <a:solidFill>
                  <a:srgbClr val="7BA7D4"/>
                </a:solidFill>
                <a:latin typeface="Calibri" pitchFamily="34" charset="0"/>
                <a:ea typeface="Calibri" pitchFamily="34" charset="-122"/>
                <a:cs typeface="Calibri" pitchFamily="34" charset="-120"/>
              </a:rPr>
              <a:t>1</a:t>
            </a:r>
            <a:endParaRPr lang="en-US" sz="1600"/>
          </a:p>
        </p:txBody>
      </p:sp>
      <p:sp>
        <p:nvSpPr>
          <p:cNvPr id="7" name="Text 5"/>
          <p:cNvSpPr/>
          <p:nvPr/>
        </p:nvSpPr>
        <p:spPr>
          <a:xfrm>
            <a:off x="1078992" y="914400"/>
            <a:ext cx="7589520" cy="27432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Early Warning System</a:t>
            </a:r>
            <a:endParaRPr lang="en-US" sz="1200"/>
          </a:p>
        </p:txBody>
      </p:sp>
      <p:sp>
        <p:nvSpPr>
          <p:cNvPr id="8" name="Text 6"/>
          <p:cNvSpPr/>
          <p:nvPr/>
        </p:nvSpPr>
        <p:spPr>
          <a:xfrm>
            <a:off x="1078992" y="1225296"/>
            <a:ext cx="7589520" cy="310896"/>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Deploy the Random Forest model as a real-time scoring engine. Score each customer monthly and flag anyone crossing a churn probability threshold for immediate retention outreach.</a:t>
            </a:r>
            <a:endParaRPr lang="en-US" sz="1050"/>
          </a:p>
        </p:txBody>
      </p:sp>
      <p:sp>
        <p:nvSpPr>
          <p:cNvPr id="9" name="Shape 7"/>
          <p:cNvSpPr/>
          <p:nvPr/>
        </p:nvSpPr>
        <p:spPr>
          <a:xfrm>
            <a:off x="320040" y="1664208"/>
            <a:ext cx="8503920" cy="76809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0" name="Shape 8"/>
          <p:cNvSpPr/>
          <p:nvPr/>
        </p:nvSpPr>
        <p:spPr>
          <a:xfrm>
            <a:off x="438912" y="1819656"/>
            <a:ext cx="502920" cy="502920"/>
          </a:xfrm>
          <a:prstGeom prst="ellipse">
            <a:avLst/>
          </a:prstGeom>
          <a:solidFill>
            <a:srgbClr val="0F1F3D"/>
          </a:solidFill>
          <a:ln w="12700">
            <a:solidFill>
              <a:srgbClr val="0F1F3D"/>
            </a:solidFill>
            <a:prstDash val="solid"/>
          </a:ln>
        </p:spPr>
        <p:txBody>
          <a:bodyPr/>
          <a:lstStyle/>
          <a:p>
            <a:endParaRPr lang="en-US"/>
          </a:p>
        </p:txBody>
      </p:sp>
      <p:sp>
        <p:nvSpPr>
          <p:cNvPr id="11" name="Text 9"/>
          <p:cNvSpPr/>
          <p:nvPr/>
        </p:nvSpPr>
        <p:spPr>
          <a:xfrm>
            <a:off x="438912" y="1819656"/>
            <a:ext cx="502920" cy="502920"/>
          </a:xfrm>
          <a:prstGeom prst="rect">
            <a:avLst/>
          </a:prstGeom>
          <a:noFill/>
          <a:ln/>
        </p:spPr>
        <p:txBody>
          <a:bodyPr wrap="square" lIns="0" tIns="0" rIns="0" bIns="0" rtlCol="0" anchor="ctr"/>
          <a:lstStyle/>
          <a:p>
            <a:pPr marL="0" indent="0" algn="ctr">
              <a:buNone/>
            </a:pPr>
            <a:r>
              <a:rPr lang="en-US" sz="1600" b="1">
                <a:solidFill>
                  <a:srgbClr val="7BA7D4"/>
                </a:solidFill>
                <a:latin typeface="Calibri" pitchFamily="34" charset="0"/>
                <a:ea typeface="Calibri" pitchFamily="34" charset="-122"/>
                <a:cs typeface="Calibri" pitchFamily="34" charset="-120"/>
              </a:rPr>
              <a:t>2</a:t>
            </a:r>
            <a:endParaRPr lang="en-US" sz="1600"/>
          </a:p>
        </p:txBody>
      </p:sp>
      <p:sp>
        <p:nvSpPr>
          <p:cNvPr id="12" name="Text 10"/>
          <p:cNvSpPr/>
          <p:nvPr/>
        </p:nvSpPr>
        <p:spPr>
          <a:xfrm>
            <a:off x="1078992" y="1755648"/>
            <a:ext cx="7589520" cy="27432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Targeted Retention Campaigns</a:t>
            </a:r>
            <a:endParaRPr lang="en-US" sz="1200"/>
          </a:p>
        </p:txBody>
      </p:sp>
      <p:sp>
        <p:nvSpPr>
          <p:cNvPr id="13" name="Text 11"/>
          <p:cNvSpPr/>
          <p:nvPr/>
        </p:nvSpPr>
        <p:spPr>
          <a:xfrm>
            <a:off x="1078992" y="2066544"/>
            <a:ext cx="7589520" cy="310896"/>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Marketing teams use the churn probability score to prioritize which customers receive retention offers — balance upgrades, fee waivers, reward bonuses — before they decide to leave.</a:t>
            </a:r>
            <a:endParaRPr lang="en-US" sz="1050"/>
          </a:p>
        </p:txBody>
      </p:sp>
      <p:sp>
        <p:nvSpPr>
          <p:cNvPr id="14" name="Shape 12"/>
          <p:cNvSpPr/>
          <p:nvPr/>
        </p:nvSpPr>
        <p:spPr>
          <a:xfrm>
            <a:off x="320040" y="2505456"/>
            <a:ext cx="8503920" cy="76809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5" name="Shape 13"/>
          <p:cNvSpPr/>
          <p:nvPr/>
        </p:nvSpPr>
        <p:spPr>
          <a:xfrm>
            <a:off x="438912" y="2660904"/>
            <a:ext cx="502920" cy="502920"/>
          </a:xfrm>
          <a:prstGeom prst="ellipse">
            <a:avLst/>
          </a:prstGeom>
          <a:solidFill>
            <a:srgbClr val="0F1F3D"/>
          </a:solidFill>
          <a:ln w="12700">
            <a:solidFill>
              <a:srgbClr val="0F1F3D"/>
            </a:solidFill>
            <a:prstDash val="solid"/>
          </a:ln>
        </p:spPr>
        <p:txBody>
          <a:bodyPr/>
          <a:lstStyle/>
          <a:p>
            <a:endParaRPr lang="en-US"/>
          </a:p>
        </p:txBody>
      </p:sp>
      <p:sp>
        <p:nvSpPr>
          <p:cNvPr id="16" name="Text 14"/>
          <p:cNvSpPr/>
          <p:nvPr/>
        </p:nvSpPr>
        <p:spPr>
          <a:xfrm>
            <a:off x="438912" y="2660904"/>
            <a:ext cx="502920" cy="502920"/>
          </a:xfrm>
          <a:prstGeom prst="rect">
            <a:avLst/>
          </a:prstGeom>
          <a:noFill/>
          <a:ln/>
        </p:spPr>
        <p:txBody>
          <a:bodyPr wrap="square" lIns="0" tIns="0" rIns="0" bIns="0" rtlCol="0" anchor="ctr"/>
          <a:lstStyle/>
          <a:p>
            <a:pPr marL="0" indent="0" algn="ctr">
              <a:buNone/>
            </a:pPr>
            <a:r>
              <a:rPr lang="en-US" sz="1600" b="1">
                <a:solidFill>
                  <a:srgbClr val="7BA7D4"/>
                </a:solidFill>
                <a:latin typeface="Calibri" pitchFamily="34" charset="0"/>
                <a:ea typeface="Calibri" pitchFamily="34" charset="-122"/>
                <a:cs typeface="Calibri" pitchFamily="34" charset="-120"/>
              </a:rPr>
              <a:t>3</a:t>
            </a:r>
            <a:endParaRPr lang="en-US" sz="1600"/>
          </a:p>
        </p:txBody>
      </p:sp>
      <p:sp>
        <p:nvSpPr>
          <p:cNvPr id="17" name="Text 15"/>
          <p:cNvSpPr/>
          <p:nvPr/>
        </p:nvSpPr>
        <p:spPr>
          <a:xfrm>
            <a:off x="1078992" y="2596896"/>
            <a:ext cx="7589520" cy="27432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Segment-Based Strategy</a:t>
            </a:r>
            <a:endParaRPr lang="en-US" sz="1200"/>
          </a:p>
        </p:txBody>
      </p:sp>
      <p:sp>
        <p:nvSpPr>
          <p:cNvPr id="18" name="Text 16"/>
          <p:cNvSpPr/>
          <p:nvPr/>
        </p:nvSpPr>
        <p:spPr>
          <a:xfrm>
            <a:off x="1078992" y="2907792"/>
            <a:ext cx="7589520" cy="310896"/>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The bimodal discovery enables a two-track strategy: keep High-Volume customers engaged with premium benefits, and re-engage Low-Volume customers with incentives to increase transaction frequency.</a:t>
            </a:r>
            <a:endParaRPr lang="en-US" sz="1050"/>
          </a:p>
        </p:txBody>
      </p:sp>
      <p:sp>
        <p:nvSpPr>
          <p:cNvPr id="19" name="Shape 17"/>
          <p:cNvSpPr/>
          <p:nvPr/>
        </p:nvSpPr>
        <p:spPr>
          <a:xfrm>
            <a:off x="320040" y="3346704"/>
            <a:ext cx="8503920" cy="76809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0" name="Shape 18"/>
          <p:cNvSpPr/>
          <p:nvPr/>
        </p:nvSpPr>
        <p:spPr>
          <a:xfrm>
            <a:off x="438912" y="3502152"/>
            <a:ext cx="502920" cy="502920"/>
          </a:xfrm>
          <a:prstGeom prst="ellipse">
            <a:avLst/>
          </a:prstGeom>
          <a:solidFill>
            <a:srgbClr val="0F1F3D"/>
          </a:solidFill>
          <a:ln w="12700">
            <a:solidFill>
              <a:srgbClr val="0F1F3D"/>
            </a:solidFill>
            <a:prstDash val="solid"/>
          </a:ln>
        </p:spPr>
        <p:txBody>
          <a:bodyPr/>
          <a:lstStyle/>
          <a:p>
            <a:endParaRPr lang="en-US"/>
          </a:p>
        </p:txBody>
      </p:sp>
      <p:sp>
        <p:nvSpPr>
          <p:cNvPr id="21" name="Text 19"/>
          <p:cNvSpPr/>
          <p:nvPr/>
        </p:nvSpPr>
        <p:spPr>
          <a:xfrm>
            <a:off x="438912" y="3502152"/>
            <a:ext cx="502920" cy="502920"/>
          </a:xfrm>
          <a:prstGeom prst="rect">
            <a:avLst/>
          </a:prstGeom>
          <a:noFill/>
          <a:ln/>
        </p:spPr>
        <p:txBody>
          <a:bodyPr wrap="square" lIns="0" tIns="0" rIns="0" bIns="0" rtlCol="0" anchor="ctr"/>
          <a:lstStyle/>
          <a:p>
            <a:pPr marL="0" indent="0" algn="ctr">
              <a:buNone/>
            </a:pPr>
            <a:r>
              <a:rPr lang="en-US" sz="1600" b="1">
                <a:solidFill>
                  <a:srgbClr val="7BA7D4"/>
                </a:solidFill>
                <a:latin typeface="Calibri" pitchFamily="34" charset="0"/>
                <a:ea typeface="Calibri" pitchFamily="34" charset="-122"/>
                <a:cs typeface="Calibri" pitchFamily="34" charset="-120"/>
              </a:rPr>
              <a:t>4</a:t>
            </a:r>
            <a:endParaRPr lang="en-US" sz="1600"/>
          </a:p>
        </p:txBody>
      </p:sp>
      <p:sp>
        <p:nvSpPr>
          <p:cNvPr id="22" name="Text 20"/>
          <p:cNvSpPr/>
          <p:nvPr/>
        </p:nvSpPr>
        <p:spPr>
          <a:xfrm>
            <a:off x="1078992" y="3438144"/>
            <a:ext cx="7589520" cy="27432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Customer Lifetime Value Modeling</a:t>
            </a:r>
            <a:endParaRPr lang="en-US" sz="1200"/>
          </a:p>
        </p:txBody>
      </p:sp>
      <p:sp>
        <p:nvSpPr>
          <p:cNvPr id="23" name="Text 21"/>
          <p:cNvSpPr/>
          <p:nvPr/>
        </p:nvSpPr>
        <p:spPr>
          <a:xfrm>
            <a:off x="1078992" y="3749040"/>
            <a:ext cx="7589520" cy="310896"/>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Combine churn probability with transaction amount data to calculate expected revenue loss per at-risk customer — enabling ROI-driven prioritization of retention spend.</a:t>
            </a:r>
            <a:endParaRPr lang="en-US" sz="1050"/>
          </a:p>
        </p:txBody>
      </p:sp>
      <p:sp>
        <p:nvSpPr>
          <p:cNvPr id="24" name="Shape 22"/>
          <p:cNvSpPr/>
          <p:nvPr/>
        </p:nvSpPr>
        <p:spPr>
          <a:xfrm>
            <a:off x="320040" y="4187952"/>
            <a:ext cx="8503920" cy="768096"/>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5" name="Shape 23"/>
          <p:cNvSpPr/>
          <p:nvPr/>
        </p:nvSpPr>
        <p:spPr>
          <a:xfrm>
            <a:off x="438912" y="4343400"/>
            <a:ext cx="502920" cy="502920"/>
          </a:xfrm>
          <a:prstGeom prst="ellipse">
            <a:avLst/>
          </a:prstGeom>
          <a:solidFill>
            <a:srgbClr val="0F1F3D"/>
          </a:solidFill>
          <a:ln w="12700">
            <a:solidFill>
              <a:srgbClr val="0F1F3D"/>
            </a:solidFill>
            <a:prstDash val="solid"/>
          </a:ln>
        </p:spPr>
        <p:txBody>
          <a:bodyPr/>
          <a:lstStyle/>
          <a:p>
            <a:endParaRPr lang="en-US"/>
          </a:p>
        </p:txBody>
      </p:sp>
      <p:sp>
        <p:nvSpPr>
          <p:cNvPr id="26" name="Text 24"/>
          <p:cNvSpPr/>
          <p:nvPr/>
        </p:nvSpPr>
        <p:spPr>
          <a:xfrm>
            <a:off x="438912" y="4343400"/>
            <a:ext cx="502920" cy="502920"/>
          </a:xfrm>
          <a:prstGeom prst="rect">
            <a:avLst/>
          </a:prstGeom>
          <a:noFill/>
          <a:ln/>
        </p:spPr>
        <p:txBody>
          <a:bodyPr wrap="square" lIns="0" tIns="0" rIns="0" bIns="0" rtlCol="0" anchor="ctr"/>
          <a:lstStyle/>
          <a:p>
            <a:pPr marL="0" indent="0" algn="ctr">
              <a:buNone/>
            </a:pPr>
            <a:r>
              <a:rPr lang="en-US" sz="1600" b="1">
                <a:solidFill>
                  <a:srgbClr val="7BA7D4"/>
                </a:solidFill>
                <a:latin typeface="Calibri" pitchFamily="34" charset="0"/>
                <a:ea typeface="Calibri" pitchFamily="34" charset="-122"/>
                <a:cs typeface="Calibri" pitchFamily="34" charset="-120"/>
              </a:rPr>
              <a:t>5</a:t>
            </a:r>
            <a:endParaRPr lang="en-US" sz="1600"/>
          </a:p>
        </p:txBody>
      </p:sp>
      <p:sp>
        <p:nvSpPr>
          <p:cNvPr id="27" name="Text 25"/>
          <p:cNvSpPr/>
          <p:nvPr/>
        </p:nvSpPr>
        <p:spPr>
          <a:xfrm>
            <a:off x="1078992" y="4279392"/>
            <a:ext cx="7589520" cy="27432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Portfolio Health Dashboard</a:t>
            </a:r>
            <a:endParaRPr lang="en-US" sz="1200"/>
          </a:p>
        </p:txBody>
      </p:sp>
      <p:sp>
        <p:nvSpPr>
          <p:cNvPr id="28" name="Text 26"/>
          <p:cNvSpPr/>
          <p:nvPr/>
        </p:nvSpPr>
        <p:spPr>
          <a:xfrm>
            <a:off x="1078992" y="4590288"/>
            <a:ext cx="7589520" cy="310896"/>
          </a:xfrm>
          <a:prstGeom prst="rect">
            <a:avLst/>
          </a:prstGeom>
          <a:noFill/>
          <a:ln/>
        </p:spPr>
        <p:txBody>
          <a:bodyPr wrap="square" lIns="0" tIns="0" rIns="0" bIns="0" rtlCol="0" anchor="ctr"/>
          <a:lstStyle/>
          <a:p>
            <a:pPr marL="0" indent="0">
              <a:buNone/>
            </a:pPr>
            <a:r>
              <a:rPr lang="en-US" sz="1050">
                <a:solidFill>
                  <a:srgbClr val="334155"/>
                </a:solidFill>
                <a:latin typeface="Calibri" pitchFamily="34" charset="0"/>
                <a:ea typeface="Calibri" pitchFamily="34" charset="-122"/>
                <a:cs typeface="Calibri" pitchFamily="34" charset="-120"/>
              </a:rPr>
              <a:t>Bank management can monitor real-time churn risk across the entire portfolio, tracking which segments are deteriorating and responding before revenue impact materializes.</a:t>
            </a:r>
            <a:endParaRPr lang="en-US" sz="10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F1F3D"/>
          </a:solidFill>
          <a:ln w="12700">
            <a:solidFill>
              <a:srgbClr val="0F1F3D"/>
            </a:solidFill>
            <a:prstDash val="solid"/>
          </a:ln>
        </p:spPr>
        <p:txBody>
          <a:bodyPr/>
          <a:lstStyle/>
          <a:p>
            <a:endParaRPr lang="en-US"/>
          </a:p>
        </p:txBody>
      </p:sp>
      <p:sp>
        <p:nvSpPr>
          <p:cNvPr id="3" name="Text 1"/>
          <p:cNvSpPr/>
          <p:nvPr/>
        </p:nvSpPr>
        <p:spPr>
          <a:xfrm>
            <a:off x="411480" y="91440"/>
            <a:ext cx="8229600" cy="54864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Limitations, Challenges &amp; Future Work</a:t>
            </a:r>
            <a:endParaRPr lang="en-US" sz="2200"/>
          </a:p>
        </p:txBody>
      </p:sp>
      <p:sp>
        <p:nvSpPr>
          <p:cNvPr id="4" name="Shape 2"/>
          <p:cNvSpPr/>
          <p:nvPr/>
        </p:nvSpPr>
        <p:spPr>
          <a:xfrm>
            <a:off x="320040" y="822960"/>
            <a:ext cx="8503920" cy="74980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320040" y="822960"/>
            <a:ext cx="109728" cy="749808"/>
          </a:xfrm>
          <a:prstGeom prst="rect">
            <a:avLst/>
          </a:prstGeom>
          <a:solidFill>
            <a:srgbClr val="C0392B"/>
          </a:solidFill>
          <a:ln w="12700">
            <a:solidFill>
              <a:srgbClr val="C0392B"/>
            </a:solidFill>
            <a:prstDash val="solid"/>
          </a:ln>
        </p:spPr>
        <p:txBody>
          <a:bodyPr/>
          <a:lstStyle/>
          <a:p>
            <a:endParaRPr lang="en-US"/>
          </a:p>
        </p:txBody>
      </p:sp>
      <p:sp>
        <p:nvSpPr>
          <p:cNvPr id="6" name="Text 4"/>
          <p:cNvSpPr/>
          <p:nvPr/>
        </p:nvSpPr>
        <p:spPr>
          <a:xfrm>
            <a:off x="530352" y="877824"/>
            <a:ext cx="2377440" cy="27432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No Temporal Dimension</a:t>
            </a:r>
            <a:endParaRPr lang="en-US" sz="1200"/>
          </a:p>
        </p:txBody>
      </p:sp>
      <p:sp>
        <p:nvSpPr>
          <p:cNvPr id="7" name="Text 5"/>
          <p:cNvSpPr/>
          <p:nvPr/>
        </p:nvSpPr>
        <p:spPr>
          <a:xfrm>
            <a:off x="530352" y="1188720"/>
            <a:ext cx="5303520" cy="320040"/>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Dataset is a static snapshot — no time-series transaction history. Churn is inherently temporal; sequential patterns over 6 months would be more predictive than any single point-in-time feature.</a:t>
            </a:r>
            <a:endParaRPr lang="en-US" sz="1000"/>
          </a:p>
        </p:txBody>
      </p:sp>
      <p:sp>
        <p:nvSpPr>
          <p:cNvPr id="8" name="Shape 6"/>
          <p:cNvSpPr/>
          <p:nvPr/>
        </p:nvSpPr>
        <p:spPr>
          <a:xfrm>
            <a:off x="6035040" y="1024128"/>
            <a:ext cx="2651760" cy="347472"/>
          </a:xfrm>
          <a:prstGeom prst="rect">
            <a:avLst/>
          </a:prstGeom>
          <a:solidFill>
            <a:srgbClr val="E8F8F5"/>
          </a:solidFill>
          <a:ln w="12700">
            <a:solidFill>
              <a:srgbClr val="27AE60"/>
            </a:solidFill>
            <a:prstDash val="solid"/>
          </a:ln>
        </p:spPr>
        <p:txBody>
          <a:bodyPr/>
          <a:lstStyle/>
          <a:p>
            <a:endParaRPr lang="en-US"/>
          </a:p>
        </p:txBody>
      </p:sp>
      <p:sp>
        <p:nvSpPr>
          <p:cNvPr id="9" name="Text 7"/>
          <p:cNvSpPr/>
          <p:nvPr/>
        </p:nvSpPr>
        <p:spPr>
          <a:xfrm>
            <a:off x="6126480" y="1042416"/>
            <a:ext cx="2514600" cy="310896"/>
          </a:xfrm>
          <a:prstGeom prst="rect">
            <a:avLst/>
          </a:prstGeom>
          <a:noFill/>
          <a:ln/>
        </p:spPr>
        <p:txBody>
          <a:bodyPr wrap="square" lIns="0" tIns="0" rIns="0" bIns="0" rtlCol="0" anchor="ctr"/>
          <a:lstStyle/>
          <a:p>
            <a:pPr marL="0" indent="0">
              <a:buNone/>
            </a:pPr>
            <a:r>
              <a:rPr lang="en-US" sz="1000" b="1">
                <a:solidFill>
                  <a:srgbClr val="27AE60"/>
                </a:solidFill>
                <a:latin typeface="Calibri" pitchFamily="34" charset="0"/>
                <a:ea typeface="Calibri" pitchFamily="34" charset="-122"/>
                <a:cs typeface="Calibri" pitchFamily="34" charset="-120"/>
              </a:rPr>
              <a:t>→ Add time-series features </a:t>
            </a:r>
            <a:endParaRPr lang="en-US" sz="1000"/>
          </a:p>
        </p:txBody>
      </p:sp>
      <p:sp>
        <p:nvSpPr>
          <p:cNvPr id="10" name="Shape 8"/>
          <p:cNvSpPr/>
          <p:nvPr/>
        </p:nvSpPr>
        <p:spPr>
          <a:xfrm>
            <a:off x="320040" y="1645920"/>
            <a:ext cx="8503920" cy="74980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320040" y="1645920"/>
            <a:ext cx="109728" cy="749808"/>
          </a:xfrm>
          <a:prstGeom prst="rect">
            <a:avLst/>
          </a:prstGeom>
          <a:solidFill>
            <a:srgbClr val="C0392B"/>
          </a:solidFill>
          <a:ln w="12700">
            <a:solidFill>
              <a:srgbClr val="C0392B"/>
            </a:solidFill>
            <a:prstDash val="solid"/>
          </a:ln>
        </p:spPr>
        <p:txBody>
          <a:bodyPr/>
          <a:lstStyle/>
          <a:p>
            <a:endParaRPr lang="en-US"/>
          </a:p>
        </p:txBody>
      </p:sp>
      <p:sp>
        <p:nvSpPr>
          <p:cNvPr id="12" name="Text 10"/>
          <p:cNvSpPr/>
          <p:nvPr/>
        </p:nvSpPr>
        <p:spPr>
          <a:xfrm>
            <a:off x="530352" y="1700784"/>
            <a:ext cx="2377440" cy="27432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Dataset Size</a:t>
            </a:r>
            <a:endParaRPr lang="en-US" sz="1200"/>
          </a:p>
        </p:txBody>
      </p:sp>
      <p:sp>
        <p:nvSpPr>
          <p:cNvPr id="13" name="Text 11"/>
          <p:cNvSpPr/>
          <p:nvPr/>
        </p:nvSpPr>
        <p:spPr>
          <a:xfrm>
            <a:off x="530352" y="2011680"/>
            <a:ext cx="5303520" cy="320040"/>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10,127 rows is sufficient for this scope but smaller than real banking deployments. May limit model generalizability to different customer segments or card products.</a:t>
            </a:r>
            <a:endParaRPr lang="en-US" sz="1000"/>
          </a:p>
        </p:txBody>
      </p:sp>
      <p:sp>
        <p:nvSpPr>
          <p:cNvPr id="14" name="Shape 12"/>
          <p:cNvSpPr/>
          <p:nvPr/>
        </p:nvSpPr>
        <p:spPr>
          <a:xfrm>
            <a:off x="6035040" y="1847088"/>
            <a:ext cx="2651760" cy="347472"/>
          </a:xfrm>
          <a:prstGeom prst="rect">
            <a:avLst/>
          </a:prstGeom>
          <a:solidFill>
            <a:srgbClr val="E8F8F5"/>
          </a:solidFill>
          <a:ln w="12700">
            <a:solidFill>
              <a:srgbClr val="27AE60"/>
            </a:solidFill>
            <a:prstDash val="solid"/>
          </a:ln>
        </p:spPr>
        <p:txBody>
          <a:bodyPr/>
          <a:lstStyle/>
          <a:p>
            <a:endParaRPr lang="en-US"/>
          </a:p>
        </p:txBody>
      </p:sp>
      <p:sp>
        <p:nvSpPr>
          <p:cNvPr id="15" name="Text 13"/>
          <p:cNvSpPr/>
          <p:nvPr/>
        </p:nvSpPr>
        <p:spPr>
          <a:xfrm>
            <a:off x="6126480" y="1865376"/>
            <a:ext cx="2514600" cy="310896"/>
          </a:xfrm>
          <a:prstGeom prst="rect">
            <a:avLst/>
          </a:prstGeom>
          <a:noFill/>
          <a:ln/>
        </p:spPr>
        <p:txBody>
          <a:bodyPr wrap="square" lIns="0" tIns="0" rIns="0" bIns="0" rtlCol="0" anchor="ctr"/>
          <a:lstStyle/>
          <a:p>
            <a:pPr marL="0" indent="0">
              <a:buNone/>
            </a:pPr>
            <a:r>
              <a:rPr lang="en-US" sz="1000" b="1">
                <a:solidFill>
                  <a:srgbClr val="27AE60"/>
                </a:solidFill>
                <a:latin typeface="Calibri" pitchFamily="34" charset="0"/>
                <a:ea typeface="Calibri" pitchFamily="34" charset="-122"/>
                <a:cs typeface="Calibri" pitchFamily="34" charset="-120"/>
              </a:rPr>
              <a:t>→ Supplement with SMOTE oversampling</a:t>
            </a:r>
            <a:endParaRPr lang="en-US" sz="1000"/>
          </a:p>
        </p:txBody>
      </p:sp>
      <p:sp>
        <p:nvSpPr>
          <p:cNvPr id="22" name="Shape 20"/>
          <p:cNvSpPr/>
          <p:nvPr/>
        </p:nvSpPr>
        <p:spPr>
          <a:xfrm>
            <a:off x="320040" y="2505456"/>
            <a:ext cx="8503920" cy="74980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3" name="Shape 21"/>
          <p:cNvSpPr/>
          <p:nvPr/>
        </p:nvSpPr>
        <p:spPr>
          <a:xfrm>
            <a:off x="320040" y="2505456"/>
            <a:ext cx="109728" cy="749808"/>
          </a:xfrm>
          <a:prstGeom prst="rect">
            <a:avLst/>
          </a:prstGeom>
          <a:solidFill>
            <a:srgbClr val="C0392B"/>
          </a:solidFill>
          <a:ln w="12700">
            <a:solidFill>
              <a:srgbClr val="C0392B"/>
            </a:solidFill>
            <a:prstDash val="solid"/>
          </a:ln>
        </p:spPr>
        <p:txBody>
          <a:bodyPr/>
          <a:lstStyle/>
          <a:p>
            <a:endParaRPr lang="en-US"/>
          </a:p>
        </p:txBody>
      </p:sp>
      <p:sp>
        <p:nvSpPr>
          <p:cNvPr id="24" name="Text 22"/>
          <p:cNvSpPr/>
          <p:nvPr/>
        </p:nvSpPr>
        <p:spPr>
          <a:xfrm>
            <a:off x="530352" y="2560320"/>
            <a:ext cx="2377440" cy="27432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No Hyperparameter Tuning</a:t>
            </a:r>
            <a:endParaRPr lang="en-US" sz="1200"/>
          </a:p>
        </p:txBody>
      </p:sp>
      <p:sp>
        <p:nvSpPr>
          <p:cNvPr id="25" name="Text 23"/>
          <p:cNvSpPr/>
          <p:nvPr/>
        </p:nvSpPr>
        <p:spPr>
          <a:xfrm>
            <a:off x="530352" y="2871216"/>
            <a:ext cx="5303520" cy="320040"/>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Both models use default parameters. GridSearchCV could meaningfully improve Random Forest F1 and recall on the attrited class.</a:t>
            </a:r>
            <a:endParaRPr lang="en-US" sz="1000"/>
          </a:p>
        </p:txBody>
      </p:sp>
      <p:sp>
        <p:nvSpPr>
          <p:cNvPr id="26" name="Shape 24"/>
          <p:cNvSpPr/>
          <p:nvPr/>
        </p:nvSpPr>
        <p:spPr>
          <a:xfrm>
            <a:off x="6035040" y="2706624"/>
            <a:ext cx="2651760" cy="347472"/>
          </a:xfrm>
          <a:prstGeom prst="rect">
            <a:avLst/>
          </a:prstGeom>
          <a:solidFill>
            <a:srgbClr val="E8F8F5"/>
          </a:solidFill>
          <a:ln w="12700">
            <a:solidFill>
              <a:srgbClr val="27AE60"/>
            </a:solidFill>
            <a:prstDash val="solid"/>
          </a:ln>
        </p:spPr>
        <p:txBody>
          <a:bodyPr/>
          <a:lstStyle/>
          <a:p>
            <a:endParaRPr lang="en-US"/>
          </a:p>
        </p:txBody>
      </p:sp>
      <p:sp>
        <p:nvSpPr>
          <p:cNvPr id="27" name="Text 25"/>
          <p:cNvSpPr/>
          <p:nvPr/>
        </p:nvSpPr>
        <p:spPr>
          <a:xfrm>
            <a:off x="6126480" y="2724912"/>
            <a:ext cx="2514600" cy="310896"/>
          </a:xfrm>
          <a:prstGeom prst="rect">
            <a:avLst/>
          </a:prstGeom>
          <a:noFill/>
          <a:ln/>
        </p:spPr>
        <p:txBody>
          <a:bodyPr wrap="square" lIns="0" tIns="0" rIns="0" bIns="0" rtlCol="0" anchor="ctr"/>
          <a:lstStyle/>
          <a:p>
            <a:pPr marL="0" indent="0">
              <a:buNone/>
            </a:pPr>
            <a:r>
              <a:rPr lang="en-US" sz="1000" b="1">
                <a:solidFill>
                  <a:srgbClr val="27AE60"/>
                </a:solidFill>
                <a:latin typeface="Calibri" pitchFamily="34" charset="0"/>
                <a:ea typeface="Calibri" pitchFamily="34" charset="-122"/>
                <a:cs typeface="Calibri" pitchFamily="34" charset="-120"/>
              </a:rPr>
              <a:t>→ Full hyperparameter search</a:t>
            </a:r>
            <a:endParaRPr lang="en-US" sz="1000"/>
          </a:p>
        </p:txBody>
      </p:sp>
      <p:sp>
        <p:nvSpPr>
          <p:cNvPr id="28" name="Shape 26"/>
          <p:cNvSpPr/>
          <p:nvPr/>
        </p:nvSpPr>
        <p:spPr>
          <a:xfrm>
            <a:off x="320040" y="3369564"/>
            <a:ext cx="8503920" cy="74980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US"/>
          </a:p>
        </p:txBody>
      </p:sp>
      <p:sp>
        <p:nvSpPr>
          <p:cNvPr id="29" name="Shape 27"/>
          <p:cNvSpPr/>
          <p:nvPr/>
        </p:nvSpPr>
        <p:spPr>
          <a:xfrm>
            <a:off x="320040" y="3369564"/>
            <a:ext cx="109728" cy="749808"/>
          </a:xfrm>
          <a:prstGeom prst="rect">
            <a:avLst/>
          </a:prstGeom>
          <a:solidFill>
            <a:srgbClr val="C0392B"/>
          </a:solidFill>
          <a:ln w="12700">
            <a:solidFill>
              <a:srgbClr val="C0392B"/>
            </a:solidFill>
            <a:prstDash val="solid"/>
          </a:ln>
        </p:spPr>
        <p:txBody>
          <a:bodyPr/>
          <a:lstStyle/>
          <a:p>
            <a:endParaRPr lang="en-US"/>
          </a:p>
        </p:txBody>
      </p:sp>
      <p:sp>
        <p:nvSpPr>
          <p:cNvPr id="30" name="Text 28"/>
          <p:cNvSpPr/>
          <p:nvPr/>
        </p:nvSpPr>
        <p:spPr>
          <a:xfrm>
            <a:off x="530352" y="3424428"/>
            <a:ext cx="2377440" cy="27432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Black Box Model</a:t>
            </a:r>
            <a:endParaRPr lang="en-US" sz="1200"/>
          </a:p>
        </p:txBody>
      </p:sp>
      <p:sp>
        <p:nvSpPr>
          <p:cNvPr id="31" name="Text 29"/>
          <p:cNvSpPr/>
          <p:nvPr/>
        </p:nvSpPr>
        <p:spPr>
          <a:xfrm>
            <a:off x="530352" y="3735324"/>
            <a:ext cx="5303520" cy="320040"/>
          </a:xfrm>
          <a:prstGeom prst="rect">
            <a:avLst/>
          </a:prstGeom>
          <a:noFill/>
          <a:ln/>
        </p:spPr>
        <p:txBody>
          <a:bodyPr wrap="square" lIns="0" tIns="0" rIns="0" bIns="0" rtlCol="0" anchor="ctr"/>
          <a:lstStyle/>
          <a:p>
            <a:pPr marL="0" indent="0">
              <a:buNone/>
            </a:pPr>
            <a:r>
              <a:rPr lang="en-US" sz="1000">
                <a:solidFill>
                  <a:srgbClr val="334155"/>
                </a:solidFill>
                <a:latin typeface="Calibri" pitchFamily="34" charset="0"/>
                <a:ea typeface="Calibri" pitchFamily="34" charset="-122"/>
                <a:cs typeface="Calibri" pitchFamily="34" charset="-120"/>
              </a:rPr>
              <a:t>Random Forest doesn't explain individual predictions — a retention team can't understand WHY a specific customer was flagged.</a:t>
            </a:r>
            <a:endParaRPr lang="en-US" sz="1000"/>
          </a:p>
        </p:txBody>
      </p:sp>
      <p:sp>
        <p:nvSpPr>
          <p:cNvPr id="32" name="Shape 30"/>
          <p:cNvSpPr/>
          <p:nvPr/>
        </p:nvSpPr>
        <p:spPr>
          <a:xfrm>
            <a:off x="6035040" y="3570732"/>
            <a:ext cx="2651760" cy="347472"/>
          </a:xfrm>
          <a:prstGeom prst="rect">
            <a:avLst/>
          </a:prstGeom>
          <a:solidFill>
            <a:srgbClr val="E8F8F5"/>
          </a:solidFill>
          <a:ln w="12700">
            <a:solidFill>
              <a:srgbClr val="27AE60"/>
            </a:solidFill>
            <a:prstDash val="solid"/>
          </a:ln>
        </p:spPr>
        <p:txBody>
          <a:bodyPr/>
          <a:lstStyle/>
          <a:p>
            <a:endParaRPr lang="en-US"/>
          </a:p>
        </p:txBody>
      </p:sp>
      <p:sp>
        <p:nvSpPr>
          <p:cNvPr id="33" name="Text 31"/>
          <p:cNvSpPr/>
          <p:nvPr/>
        </p:nvSpPr>
        <p:spPr>
          <a:xfrm>
            <a:off x="6126480" y="3589020"/>
            <a:ext cx="2514600" cy="310896"/>
          </a:xfrm>
          <a:prstGeom prst="rect">
            <a:avLst/>
          </a:prstGeom>
          <a:noFill/>
          <a:ln/>
        </p:spPr>
        <p:txBody>
          <a:bodyPr wrap="square" lIns="0" tIns="0" rIns="0" bIns="0" rtlCol="0" anchor="ctr"/>
          <a:lstStyle/>
          <a:p>
            <a:pPr marL="0" indent="0">
              <a:buNone/>
            </a:pPr>
            <a:r>
              <a:rPr lang="en-US" sz="1000" b="1">
                <a:solidFill>
                  <a:srgbClr val="27AE60"/>
                </a:solidFill>
                <a:latin typeface="Calibri" pitchFamily="34" charset="0"/>
                <a:ea typeface="Calibri" pitchFamily="34" charset="-122"/>
                <a:cs typeface="Calibri" pitchFamily="34" charset="-120"/>
              </a:rPr>
              <a:t>→ Add SHAP value explanations</a:t>
            </a:r>
            <a:endParaRPr lang="en-US"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F3D"/>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472C4"/>
          </a:solidFill>
          <a:ln w="12700">
            <a:solidFill>
              <a:srgbClr val="4472C4"/>
            </a:solidFill>
            <a:prstDash val="solid"/>
          </a:ln>
        </p:spPr>
        <p:txBody>
          <a:bodyPr/>
          <a:lstStyle/>
          <a:p>
            <a:endParaRPr lang="en-US"/>
          </a:p>
        </p:txBody>
      </p:sp>
      <p:sp>
        <p:nvSpPr>
          <p:cNvPr id="3" name="Shape 1"/>
          <p:cNvSpPr/>
          <p:nvPr/>
        </p:nvSpPr>
        <p:spPr>
          <a:xfrm>
            <a:off x="6858000" y="2286000"/>
            <a:ext cx="3474720" cy="3474720"/>
          </a:xfrm>
          <a:prstGeom prst="ellipse">
            <a:avLst/>
          </a:prstGeom>
          <a:solidFill>
            <a:srgbClr val="1A3356"/>
          </a:solidFill>
          <a:ln w="12700">
            <a:solidFill>
              <a:srgbClr val="1A3356"/>
            </a:solidFill>
            <a:prstDash val="solid"/>
          </a:ln>
        </p:spPr>
        <p:txBody>
          <a:bodyPr/>
          <a:lstStyle/>
          <a:p>
            <a:endParaRPr lang="en-US"/>
          </a:p>
        </p:txBody>
      </p:sp>
      <p:sp>
        <p:nvSpPr>
          <p:cNvPr id="4" name="Shape 2"/>
          <p:cNvSpPr/>
          <p:nvPr/>
        </p:nvSpPr>
        <p:spPr>
          <a:xfrm>
            <a:off x="7315200" y="2651760"/>
            <a:ext cx="2377440" cy="2377440"/>
          </a:xfrm>
          <a:prstGeom prst="ellipse">
            <a:avLst/>
          </a:prstGeom>
          <a:solidFill>
            <a:srgbClr val="4472C4">
              <a:alpha val="22000"/>
            </a:srgbClr>
          </a:solidFill>
          <a:ln w="12700">
            <a:solidFill>
              <a:srgbClr val="4472C4">
                <a:alpha val="22000"/>
              </a:srgbClr>
            </a:solidFill>
            <a:prstDash val="solid"/>
          </a:ln>
        </p:spPr>
        <p:txBody>
          <a:bodyPr/>
          <a:lstStyle/>
          <a:p>
            <a:endParaRPr lang="en-US"/>
          </a:p>
        </p:txBody>
      </p:sp>
      <p:sp>
        <p:nvSpPr>
          <p:cNvPr id="5" name="Text 3"/>
          <p:cNvSpPr/>
          <p:nvPr/>
        </p:nvSpPr>
        <p:spPr>
          <a:xfrm>
            <a:off x="411480" y="731520"/>
            <a:ext cx="7315200" cy="1097280"/>
          </a:xfrm>
          <a:prstGeom prst="rect">
            <a:avLst/>
          </a:prstGeom>
          <a:noFill/>
          <a:ln/>
        </p:spPr>
        <p:txBody>
          <a:bodyPr wrap="square" lIns="0" tIns="0" rIns="0" bIns="0" rtlCol="0" anchor="ctr"/>
          <a:lstStyle/>
          <a:p>
            <a:pPr marL="0" indent="0">
              <a:buNone/>
            </a:pPr>
            <a:r>
              <a:rPr lang="en-US" sz="5200" b="1">
                <a:solidFill>
                  <a:srgbClr val="FFFFFF"/>
                </a:solidFill>
                <a:latin typeface="Calibri" pitchFamily="34" charset="0"/>
                <a:ea typeface="Calibri" pitchFamily="34" charset="-122"/>
                <a:cs typeface="Calibri" pitchFamily="34" charset="-120"/>
              </a:rPr>
              <a:t>Thank You</a:t>
            </a:r>
            <a:endParaRPr lang="en-US" sz="5200"/>
          </a:p>
        </p:txBody>
      </p:sp>
      <p:sp>
        <p:nvSpPr>
          <p:cNvPr id="6" name="Text 4"/>
          <p:cNvSpPr/>
          <p:nvPr/>
        </p:nvSpPr>
        <p:spPr>
          <a:xfrm>
            <a:off x="411480" y="1920240"/>
            <a:ext cx="6858000" cy="502920"/>
          </a:xfrm>
          <a:prstGeom prst="rect">
            <a:avLst/>
          </a:prstGeom>
          <a:noFill/>
          <a:ln/>
        </p:spPr>
        <p:txBody>
          <a:bodyPr wrap="square" lIns="0" tIns="0" rIns="0" bIns="0" rtlCol="0" anchor="ctr"/>
          <a:lstStyle/>
          <a:p>
            <a:pPr marL="0" indent="0">
              <a:buNone/>
            </a:pPr>
            <a:r>
              <a:rPr lang="en-US" sz="1500" i="1">
                <a:solidFill>
                  <a:srgbClr val="7BA7D4"/>
                </a:solidFill>
                <a:latin typeface="Calibri" pitchFamily="34" charset="0"/>
                <a:ea typeface="Calibri" pitchFamily="34" charset="-122"/>
                <a:cs typeface="Calibri" pitchFamily="34" charset="-120"/>
              </a:rPr>
              <a:t>Credit Card Customer Churn Prediction — DSCI 521</a:t>
            </a:r>
            <a:endParaRPr lang="en-US" sz="1500"/>
          </a:p>
        </p:txBody>
      </p:sp>
      <p:sp>
        <p:nvSpPr>
          <p:cNvPr id="16" name="Text 14"/>
          <p:cNvSpPr/>
          <p:nvPr/>
        </p:nvSpPr>
        <p:spPr>
          <a:xfrm>
            <a:off x="320040" y="3429000"/>
            <a:ext cx="5486400" cy="457200"/>
          </a:xfrm>
          <a:prstGeom prst="rect">
            <a:avLst/>
          </a:prstGeom>
          <a:noFill/>
          <a:ln/>
        </p:spPr>
        <p:txBody>
          <a:bodyPr wrap="square" lIns="0" tIns="0" rIns="0" bIns="0" rtlCol="0" anchor="ctr"/>
          <a:lstStyle/>
          <a:p>
            <a:pPr marL="0" indent="0">
              <a:buNone/>
            </a:pPr>
            <a:endParaRPr lang="en-US" sz="2000"/>
          </a:p>
        </p:txBody>
      </p:sp>
      <p:sp>
        <p:nvSpPr>
          <p:cNvPr id="17" name="Shape 15"/>
          <p:cNvSpPr/>
          <p:nvPr/>
        </p:nvSpPr>
        <p:spPr>
          <a:xfrm>
            <a:off x="0" y="4480560"/>
            <a:ext cx="9144000" cy="662940"/>
          </a:xfrm>
          <a:prstGeom prst="rect">
            <a:avLst/>
          </a:prstGeom>
          <a:solidFill>
            <a:srgbClr val="1A3356"/>
          </a:solidFill>
          <a:ln w="12700">
            <a:solidFill>
              <a:srgbClr val="1A3356"/>
            </a:solidFill>
            <a:prstDash val="solid"/>
          </a:ln>
        </p:spPr>
        <p:txBody>
          <a:bodyPr/>
          <a:lstStyle/>
          <a:p>
            <a:endParaRPr lang="en-US"/>
          </a:p>
        </p:txBody>
      </p:sp>
      <p:sp>
        <p:nvSpPr>
          <p:cNvPr id="18" name="Text 16"/>
          <p:cNvSpPr/>
          <p:nvPr/>
        </p:nvSpPr>
        <p:spPr>
          <a:xfrm>
            <a:off x="411480" y="4526280"/>
            <a:ext cx="8321040" cy="457200"/>
          </a:xfrm>
          <a:prstGeom prst="rect">
            <a:avLst/>
          </a:prstGeom>
          <a:noFill/>
          <a:ln/>
        </p:spPr>
        <p:txBody>
          <a:bodyPr wrap="square" lIns="0" tIns="0" rIns="0" bIns="0" rtlCol="0" anchor="ctr"/>
          <a:lstStyle/>
          <a:p>
            <a:pPr marL="0" indent="0">
              <a:buNone/>
            </a:pPr>
            <a:r>
              <a:rPr lang="en-US" sz="1100">
                <a:solidFill>
                  <a:srgbClr val="94A3B8"/>
                </a:solidFill>
                <a:latin typeface="Calibri" pitchFamily="34" charset="0"/>
                <a:ea typeface="Calibri" pitchFamily="34" charset="-122"/>
                <a:cs typeface="Calibri" pitchFamily="34" charset="-120"/>
              </a:rPr>
              <a:t>Ahmed Syed  |  Aadesh Kalbhor  |  Sohan Miryalkar  |  Drexel University  |  DSCI 521 Winter 2026</a:t>
            </a:r>
            <a:endParaRPr lang="en-US"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13</Slides>
  <Notes>13</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Customer Churn Prediction</dc:title>
  <dc:subject>PptxGenJS Presentation</dc:subject>
  <dc:creator>Ahmed Syed, Aadesh Kalbhor, Sohan Miryalkar</dc:creator>
  <cp:revision>2</cp:revision>
  <dcterms:created xsi:type="dcterms:W3CDTF">2026-03-15T20:06:10Z</dcterms:created>
  <dcterms:modified xsi:type="dcterms:W3CDTF">2026-03-16T04:50:47Z</dcterms:modified>
</cp:coreProperties>
</file>